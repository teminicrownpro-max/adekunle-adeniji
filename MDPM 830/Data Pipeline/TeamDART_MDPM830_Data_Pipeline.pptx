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00e8be8-ed57-f627-ce3d-cfd5da568e43}">
          <p14:sldIdLst>
            <p14:sldId id="256"/>
          </p14:sldIdLst>
        </p14:section>
        <p14:section name="Product and data" id="{639d0519-cc3d-7020-390c-dde37f96f640}">
          <p14:sldIdLst>
            <p14:sldId id="257"/>
          </p14:sldIdLst>
        </p14:section>
        <p14:section name="Step One: Sources and scope" id="{0be59457-288e-c96a-dbc2-46dad222a9c0}">
          <p14:sldIdLst>
            <p14:sldId id="258"/>
            <p14:sldId id="259"/>
          </p14:sldIdLst>
        </p14:section>
        <p14:section name="Step Two: The pipeline" id="{05c87d1b-200b-abf2-eb98-b4d050be2115}">
          <p14:sldIdLst>
            <p14:sldId id="260"/>
            <p14:sldId id="261"/>
          </p14:sldIdLst>
        </p14:section>
        <p14:section name="Step Three: Sinks" id="{7670ffbb-0ab0-cc51-4fe4-9b2e62a73825}">
          <p14:sldIdLst>
            <p14:sldId id="262"/>
          </p14:sldIdLst>
        </p14:section>
        <p14:section name="Step Four: Generated data" id="{ed42749f-572c-162a-9330-427fc2183ca6}">
          <p14:sldIdLst>
            <p14:sldId id="263"/>
          </p14:sldIdLst>
        </p14:section>
        <p14:section name="Step Five: Gaps and leaks" id="{57e5dbb2-2855-a36d-2a0c-fa4c125c1b57}">
          <p14:sldIdLst>
            <p14:sldId id="264"/>
          </p14:sldIdLst>
        </p14:section>
        <p14:section name="Implications" id="{ea75c458-93f8-8852-5d29-e5908c9e0cb1}">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this deck is the data pipeline input to our Product Requirements Document (PRD) for PRISM Furniture Request, the Furniture Request service inside the wider PRISM platform.
Structure follows the six assignment steps: sources and scope (slides 3 and 4), the pipeline end to end with owners (slides 5 and 6), sinks and value (slide 7), data the pipeline generates (slide 8), gaps and leaks (slide 9), and implications for the PRD and Milestone 3 (slide 10).
Method: we designed from the sink, as Session Three recommends. We started from what the product must do and how we will know it works, then worked back to the data each sink needs and where it is born.
Evidence base: MDPM 883 Milestone 2 Requirements Document (functional and non-functional requirements, data dictionary, scenarios), our Working 1 source inventory and scope frame, the team data workflow brainstorm, the 7 October client walkthrough and the 15 October client call. Anything not confirmed by the client is labelled Proposed or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product relies on data: the Requirements Document (section 3.1) says the product's value is measured by whether a request can be prepared correctly the first time, followed without chasing, and understood later by someone who was not involved. Each outcome depends on data rather than on screens.
Right first time depends on request-type rules (request type decides mandatory attachments and minimum lead time, FR-01 to FR-03), the checklist, and reference data inherited from PRISM Core (NFR-09).
Followed without chasing depends on every status change, owner change and message being written to the request (FR-13 to FR-16). The problem statement names fragmentation across WORTS, email, Teams, spreadsheets and paper as the root cause.
Understood later depends on keeping the original, keeping history, and retention (FR-21, NFR-17), as in Scenario 6 (warranty claim two years later).
Session Three, "Start from the sink, not the source": a pipeline designed from the sink answers "what do we need?". That is why the measurement sink is defined first.
Check before submission: confirm these three outcomes match the wording of our DPO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One asks for the key sources, the data elements each provides, and where each is born. This is the Working 1 source inventory (Scope, Data Sources and Origin frame on the Miro board), grouped as Session Four suggests: people and workflow (human-generated), systems and channels, and reference data.
Data elements are named as entities and attributes, not as "request data" (Session Four, "Two vocabularies"). The full list, with where each element is mastered (PRISM Core, the service, or procurement), is in the MDPM 883 data dictionary: for example Work Order ID, Request Type, Requesting Ministry, Building Code, Required Date, Request Status, Request History, Interaction History, Attachments.
Where data is born matters most for the people sources. The original requester's need is born in the office and reaches the CMAC by email, Teams or phone. Coordinator decisions are born during review. Vendor and mover updates are born on the day of picking or delivery (team data workflow brainstorm).
SnapTracker and OneGX/SAP are marked "to validate". We list them because they hold inventory and purchasing data, but their elements are not confirmed (see scope, next slide).
Reference data: the client confirmed on 7 October that the existing system holds facility address, postal code, contacts, occupants, floors and area, and that he can obtain this data. The request checklist is completed outside the system today and attached as a file (data dictionary, Client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statement (Working 1): the pipeline covers the information needed for the Furniture Request lifecycle, from preparation and submission through review, coordination, fulfilment, closure and reporting. It describes the conceptual flow of information without prescribing system integrations or historical data migration.
Justification against requirements and constraints:
1. Mandated constraint (Requirements Document 3.3): scope is the Furniture Request service, not all Infrastructure service delivery. So other WORTS services and maintenance workflows are out.
2. Mandated constraint: the product fits inside PRISM Core, so building, people and organization data are inherited, not mastered. We use them; we do not maintain them (3.4).
3. Integrations: on the 15 October call the client told us to build the workflow "agnostic of what it's going to be plugged into" and to assume the buildings and other data exist. He will handle integration into PRISM Facilities. Our admin meeting agreed to acknowledge SnapTracker and OneGX/SAP without making an unconfirmed integration a product requirement.
4. Historical WORTS migration has not been confirmed by the client.
5. Suppliers and installers do not transact in the product; their progress is reflected in the request (3.4, FR-17). Vendor information may still be needed, but a vendor-facing application is not.
Session Four: "Boundaries are decisions, not omissions. A justified exclusion is worth more than an unjustified inclusion."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image is the pipeline model built in Miro with the Session Four conceptual template: the scope boundary on top, the five stages (Generate, Collect, Keep and Shape, Store, Use), each showing who enters the data and who is accountable for its accuracy, three kinds of sink on the right, and the loop underneath. The board link is on this slide and opens with view access.
On the board, read these frames together: "Working 2: Pipeline Stages and Data Ownership" (this picture plus the full stage table), "Data Pipeline: Sinks, Generated Data, Gaps and Leaks" (Steps Three to Five), and "Scope, Data Sources and Origin" (Step One).
Nodes do the work and connectors carry the controls (Session Four, adapted from Raj et al. 2020, Fig. 6):
A Authenticate, into Collect: only an authorized requester may submit for their ministry (FR-25, Roles and Authorization Rules).
V Validate, into Keep and Shape: required fields are checked against the request checklist, and an incomplete request goes back to the requester (FR-07, Scenario 7).
F Monitor, into Store: every stage change arrives with a time, so a request that stops moving is visible.
M Mitigate, into Use: a failed update or upload is held and retried, and the user is told.
S Alarm, into the sinks: an unanswered Action Required notifies the requester; a shared proposal notifies the coordinator. The client prefers email notification.
All five controls are Proposed until confirmed with the client.
Bronze, silver, gold: the audit trail is bronze (the request as submitted), the product reads silver (one clean, consistent record), and management reports read gold (aggregated).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traces the data itself, not just the stages. It follows one request's details from the person who needs the furniture to the three kinds of sink, and names two different roles at every hop: who enters the data, and who is accountable for its accuracy. Creating or entering data is not the same as being accountable for it. Creators answer for what they state, the stage owner answers for the rules that make the data trustworthy, and the data owner answers for the record end to end. Roles marked Open need the client's confirmation.
Trace 1, request details:
1. The need is born with the original requester: item, quantity, location, reason. It reaches the CMAC by email, Teams or phone. The requester answers for what they state.
Control A, authenticate: only an authorized requester may submit for their ministry (FR-25).
2. The CMAC enters it in the guided form, adds type, required date and attachments, and PRISM Core pre-fills requester and building data (NFR-09). We propose the CMAC is accountable for the details they submit. The owner of PRISM Core reference data is Open.
Control V, validate: required fields and the attachments the request type needs are checked (FR-03, FR-07). If they fail, the request goes back to the CMAC in the request thread and is checked again (Scenario 7).
3. The coordinator reviews it. The request as submitted is kept (bronze). One consistent version is built (silver) using six rules: one Work Order ID with every update linked; one status from a standard list; a named, valid owner at every stage; required fields complete before review; dates in one format and true order; duplicates checked on an agreed match key. Who owns these rules is Open; we propose the Furniture Request Coordinator.
Control F, monitor: every stage change carries a time.
4. The record is stored once and read by everyone. Its data owner is Open, to confirm with the client.
Control M, mitigate: a failed update or upload is retried and the user is told.
5. The product reads it, and control S, alarm, notifies the requester when Action Required is unanswered.
Sinks reached: the product sink (CMAC view, coordinator queue); the measurement sink (submission time, returns for information and stage times give right first time and time in stage); the business-value sinks (aggregates by location, status and period for Infrastructure reports; recycled preference for the recycle program; item, location and fulfilment date for asset and warranty history).
Trace 2 is on the Miro board: a coordinator update must be entered on the request, not only sent by email or Teams, or it never reaches the record (gap G1). The board also has an element-by-element lineage table: born, entered by, accountable for accuracy, path, and sinks reached.
Constraints: human-generated and intermittent; event-driven; files 10MB, replies 5MB; role-based access; retention per the Government of Alberta records schedule, to confirm; no historical migration; no direct SnapTracker or OneGX/SAP link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sink is a use case (Session Four). For each we name what it does, the value, and the storage and access it implies.
Product sinks:
1. Guided submission: checklist inside the form, attachments required by request type (FR-03), pre-filled requester and facility data (NFR-09). Value: the request is right the first time, which removes one of the two main sources of rework named in Milestone 1. Requirement: reference data must be current at entry. The client asked for an admin screen for lists such as ministries, because ministries change often.
2. Request tracking: status, stage, owner or group, next step, history and messages (FR-13 to FR-16, FR-19). Value: followed without chasing. The client confirmed a read-only status link for external requesters is useful, asked that requesters see a group rather than "not yet assigned", and prefers email notification.
3. Coordinator queue: incomplete and duplicate requests flagged (FR-07, FR-22), with a self-assign button (client request). Value: actionable the day it arrives (Scenario 7).
Measurement sink, tied to our outcomes: share of requests complete at first submission (no return for information); CMAC follow-up messages per request; time in each stage and to first assignment; late updates; duplicates found. The team brainstorm already named "time spent in each stage, late updates and CMAC follow-ups". Requirement: a complete, timestamped event history from release one, so we have a baseline.
Business-value sinks:
Infrastructure reporting by location, status and period (FR-24): workload, delays, bottlenecks. Standard report target 30 seconds (NFR-13, proposed).
Recycle program: recycled versus new decisions (FR-11, FR-12) inform inventory planning and cost avoidance. Blocked until the decision is captured (gap G2).
Asset and warranty history: completed requests found years later (FR-18, FR-21, Scenario 6). Retained per the Government of Alberta records schedule (NFR-17).
PRISM Facilities: on 15 October the client said he will take our flows and a write-up of how they work and build them into PRISM Facilities, possibly split into staff-facing and external-facing parts. Our data definitions, with where each is mastered, are a direct input.
State the requirements, not the technology: these four requirement cards are what we hand to Milestone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Four: what new data the product and pipeline create through use that did not exist before, who collects it, and where it can go.
New data created by use (full table on the Miro frame "Data Pipeline: Sinks, Generated Data, Gaps and Leaks"):
Stage-change timestamps, created on every status or owner change. Recorded by the product. The team brainstorm proposed "record the time whenever a request changes stage".
Validation results: missing fields caught before submission, and requests returned for information at review.
Clarification messages and answers, kept in the request thread rather than in a mailbox (Scenario 7).
Duplicate resolutions: which request continues, and why (FR-22).
Proposal shares and client decisions. The share is captured in the prototype; the client's decision is not yet (gap G2).
Upload results: success, failure and size.
Closure confirmations and issue reports at closure (data dictionary: Closure Confirmation, Issue Report).
Who collects it: the product records it automatically, but no role is yet named to review it. Session Four: "Ask who collects it. Often the answer is nobody, and that is your first leak." We propose that the Store data owner also owns the measurement report (to confirm).
How value compounds over time: better guidance means more requests are complete at first submission. That gives cleaner records and trustworthy measurement, which supports better workflow decisions, which are then measured again. The team's earlier loop was "identify delays, improve workflow, measure again".
Balancing loop (Session Three systems question): coordinator update effort pushes back. If updates are entered late or too briefly, which our brainstorm listed as a place where data goes missing, the loop weakens. That is why controls F and S are on the connectors.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Gaps (G) are data the product needs that is not generated, collected, accessible or trustworthy. Leaks (L) are data that already exists but is not used to its full value. Each is tied to a stage and framed as a headwind or tailwind across data, process, governance and organization, with an implication: scope it out, phase it, change the workflow, or budget for it (Session Four).
Evidence for each:
G1 Off-system updates: team brainstorm ("Email/Teams update never added back to the request", "Phone conversation is not captured") and the problem statement.
G2 Client decision: the prototype records "Proposal shared with client" and says "Client approval is still pending"; there is no decision record. The client noted that back-and-forth on outcomes is supportable but adds complexity.
G3 Duplicate match key: Scenario 2 and FR-22. Session Four: "The duplicate-request problem is a missing key before it is anything else."
G4 Unnamed owners: marked "BUSINESS RULES?" and "DATA OWNER?" on our board.
G5 Floor plans: the client said on 7 October that floor plans are not accessible to requesters, are stored in another service, and some are out of date. Routing plans through coordinators was a team proposal; the client said to double-check.
G6 External progress: suppliers and installers do not transact in the product (3.4); integrations are out of scope. So coordinators must record progress, which is staff time to budget.
G7 Retention and warranty: Requirements Document open issues (NFR-17, FR-18).
G8 Role handoff: the client did not know exactly when responsibility passes from the Furniture Request Coordinator to the Furniture Coordinator, and will connect us with staff who have done both roles.
L1 Checklist: completed outside the system and attached as a document (data dictionary). The client said the current system lacks validation and liked the in-form checklist.
L2 Facility data: exists in the current system and can be pre-filled (client, 7 October). This is a tailwind.
L3 WORTS: used mainly for tracking and reporting while the work happens elsewhere (problem statement), so its records reach one consumer.
L4 Time in stage: nobody measures it today. It becomes measurable once timestamps are collected.
L5 Recycle decisions: not reported back to the recycle program. Phase after G2.
Tailwinds overall: the client will plug our flows into PRISM Facilities and can supply building data; Government of Alberta roles and PRISM Core master data already exist; quote sharing is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to the PRD and Milestone 3. The sinks are our data use cases, and together they set storage and access requirements. We state requirements, not technology.
1. One request record keyed by Work Order ID, with append-only history. This keeps the original (bronze) and supports FR-15, FR-16, FR-21 and FR-22.
2. Reference data inherited from PRISM Core (mandated constraint), plus admin-editable lists for ministries (client request).
3. Role-based access on every view and report (FR-25, FR-26, NFR-14 to NFR-16), including a read-only external status link.
4. Every stage change time-stamped and attributed. This is the source of the measurement sink and the alarm. Email notification on Action Required (client preference).
5. Aggregated reporting by location, status and period (FR-24, NFR-13), with retention per the records schedule (NFR-17).
Open decisions: the owners for Keep and Shape and for Store; the duplicate match key; whether to capture the client decision or record it as a gap; the retention period and floor-plan access; and the measurement wording, checked against our DPO outcomes.
Milestone 3 architecture decisions will use the four requirement cards on slide 7: how fresh, how complete, what form, who may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355080"/>
            <a:ext cx="7315200" cy="274320"/>
          </a:xfrm>
          <a:prstGeom prst="rect">
            <a:avLst/>
          </a:prstGeom>
          <a:noFill/>
          <a:ln/>
        </p:spPr>
        <p:txBody>
          <a:bodyPr wrap="square" rtlCol="0" anchor="ctr"/>
          <a:lstStyle/>
          <a:p>
            <a:pPr indent="0" marL="0">
              <a:buNone/>
            </a:pPr>
            <a:r>
              <a:rPr lang="en-US" sz="1000" dirty="0">
                <a:solidFill>
                  <a:schemeClr val="bg2"/>
                </a:solidFill>
              </a:rPr>
              <a:t>Team DART  |  MDPM 830 Data Pipeline</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rtlCol="0" anchor="ctr"/>
          <a:lstStyle/>
          <a:p>
            <a:pPr indent="0" marL="0">
              <a:buNone/>
            </a:pPr>
            <a:r>
              <a:rPr lang="en-US" sz="1000" dirty="0">
                <a:solidFill>
                  <a:srgbClr val="6B7B7B"/>
                </a:solidFill>
              </a:rPr>
              <a:t>Team DART  |  MDPM 830 Data Pipeline</a:t>
            </a:r>
            <a:endParaRPr lang="en-US" sz="1000" dirty="0"/>
          </a:p>
        </p:txBody>
      </p:sp>
      <p:sp>
        <p:nvSpPr>
          <p:cNvPr id="3" name="Text 1"/>
          <p:cNvSpPr/>
          <p:nvPr>
            <p:ph idx="101" type="title" hasCustomPrompt="1"/>
          </p:nvPr>
        </p:nvSpPr>
        <p:spPr>
          <a:xfrm>
            <a:off x="548640" y="365760"/>
            <a:ext cx="11064240" cy="68580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4" name="Text 1"/>
          <p:cNvSpPr/>
          <p:nvPr>
            <p:ph idx="102" type="body" hasCustomPrompt="1"/>
          </p:nvPr>
        </p:nvSpPr>
        <p:spPr>
          <a:xfrm>
            <a:off x="548640" y="91440"/>
            <a:ext cx="11064240" cy="32004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miro.com/app/board/uXjVHidlV4o=/?share_link_id=453586022199" TargetMode="Externa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10058400" cy="365760"/>
          </a:xfrm>
          <a:prstGeom prst="rect">
            <a:avLst/>
          </a:prstGeom>
          <a:noFill/>
          <a:ln/>
        </p:spPr>
        <p:txBody>
          <a:bodyPr wrap="square" rtlCol="0" anchor="ctr"/>
          <a:lstStyle/>
          <a:p>
            <a:pPr indent="0" marL="0">
              <a:buNone/>
            </a:pPr>
            <a:r>
              <a:rPr lang="en-US" sz="1600" b="1" dirty="0">
                <a:solidFill>
                  <a:schemeClr val="accent2"/>
                </a:solidFill>
              </a:rPr>
              <a:t>MDPM 830  |  Team Assignment: Data Pipeline</a:t>
            </a:r>
            <a:endParaRPr lang="en-US" sz="1600" dirty="0"/>
          </a:p>
        </p:txBody>
      </p:sp>
      <p:sp>
        <p:nvSpPr>
          <p:cNvPr id="3" name="Text 1"/>
          <p:cNvSpPr txBox="1"/>
          <p:nvPr/>
        </p:nvSpPr>
        <p:spPr>
          <a:xfrm>
            <a:off x="731520" y="1645920"/>
            <a:ext cx="10515600" cy="1280160"/>
          </a:xfrm>
          <a:prstGeom prst="rect">
            <a:avLst/>
          </a:prstGeom>
          <a:noFill/>
          <a:ln/>
        </p:spPr>
        <p:txBody>
          <a:bodyPr wrap="square"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PRISM Furniture Request: Data Pipeline</a:t>
            </a:r>
            <a:endParaRPr lang="en-US" sz="4400" dirty="0"/>
          </a:p>
        </p:txBody>
      </p:sp>
      <p:sp>
        <p:nvSpPr>
          <p:cNvPr id="4" name="Text 2"/>
          <p:cNvSpPr txBox="1"/>
          <p:nvPr/>
        </p:nvSpPr>
        <p:spPr>
          <a:xfrm>
            <a:off x="731520" y="3017520"/>
            <a:ext cx="9601200" cy="822960"/>
          </a:xfrm>
          <a:prstGeom prst="rect">
            <a:avLst/>
          </a:prstGeom>
          <a:noFill/>
          <a:ln/>
        </p:spPr>
        <p:txBody>
          <a:bodyPr wrap="square" rtlCol="0" anchor="ctr"/>
          <a:lstStyle/>
          <a:p>
            <a:pPr indent="0" marL="0">
              <a:buNone/>
            </a:pPr>
            <a:r>
              <a:rPr lang="en-US" sz="2000" dirty="0">
                <a:solidFill>
                  <a:schemeClr val="bg2"/>
                </a:solidFill>
              </a:rPr>
              <a:t>Where request data is born, how it moves through five stages, and the value each sink creates</a:t>
            </a:r>
            <a:endParaRPr lang="en-US" sz="2000" dirty="0"/>
          </a:p>
        </p:txBody>
      </p:sp>
      <p:sp>
        <p:nvSpPr>
          <p:cNvPr id="5" name="Shape 3"/>
          <p:cNvSpPr/>
          <p:nvPr/>
        </p:nvSpPr>
        <p:spPr>
          <a:xfrm>
            <a:off x="731520" y="4297680"/>
            <a:ext cx="1828800" cy="548640"/>
          </a:xfrm>
          <a:prstGeom prst="roundRect">
            <a:avLst>
              <a:gd name="adj" fmla="val 13333"/>
            </a:avLst>
          </a:prstGeom>
          <a:solidFill>
            <a:schemeClr val="accent1"/>
          </a:solidFill>
          <a:ln/>
        </p:spPr>
      </p:sp>
      <p:sp>
        <p:nvSpPr>
          <p:cNvPr id="6" name="Text 4"/>
          <p:cNvSpPr txBox="1"/>
          <p:nvPr/>
        </p:nvSpPr>
        <p:spPr>
          <a:xfrm>
            <a:off x="73152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1  Generate</a:t>
            </a:r>
            <a:endParaRPr lang="en-US" sz="1400" dirty="0"/>
          </a:p>
        </p:txBody>
      </p:sp>
      <p:sp>
        <p:nvSpPr>
          <p:cNvPr id="7" name="Shape 5"/>
          <p:cNvSpPr/>
          <p:nvPr/>
        </p:nvSpPr>
        <p:spPr>
          <a:xfrm>
            <a:off x="2606040" y="4443984"/>
            <a:ext cx="237744" cy="256032"/>
          </a:xfrm>
          <a:prstGeom prst="rightArrow">
            <a:avLst/>
          </a:prstGeom>
          <a:solidFill>
            <a:schemeClr val="accent2"/>
          </a:solidFill>
          <a:ln/>
        </p:spPr>
      </p:sp>
      <p:sp>
        <p:nvSpPr>
          <p:cNvPr id="8" name="Shape 6"/>
          <p:cNvSpPr/>
          <p:nvPr/>
        </p:nvSpPr>
        <p:spPr>
          <a:xfrm>
            <a:off x="2880360" y="4297680"/>
            <a:ext cx="1828800" cy="548640"/>
          </a:xfrm>
          <a:prstGeom prst="roundRect">
            <a:avLst>
              <a:gd name="adj" fmla="val 13333"/>
            </a:avLst>
          </a:prstGeom>
          <a:solidFill>
            <a:schemeClr val="accent1"/>
          </a:solidFill>
          <a:ln/>
        </p:spPr>
      </p:sp>
      <p:sp>
        <p:nvSpPr>
          <p:cNvPr id="9" name="Text 7"/>
          <p:cNvSpPr txBox="1"/>
          <p:nvPr/>
        </p:nvSpPr>
        <p:spPr>
          <a:xfrm>
            <a:off x="288036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2  Collect</a:t>
            </a:r>
            <a:endParaRPr lang="en-US" sz="1400" dirty="0"/>
          </a:p>
        </p:txBody>
      </p:sp>
      <p:sp>
        <p:nvSpPr>
          <p:cNvPr id="10" name="Shape 8"/>
          <p:cNvSpPr/>
          <p:nvPr/>
        </p:nvSpPr>
        <p:spPr>
          <a:xfrm>
            <a:off x="4754880" y="4443984"/>
            <a:ext cx="237744" cy="256032"/>
          </a:xfrm>
          <a:prstGeom prst="rightArrow">
            <a:avLst/>
          </a:prstGeom>
          <a:solidFill>
            <a:schemeClr val="accent2"/>
          </a:solidFill>
          <a:ln/>
        </p:spPr>
      </p:sp>
      <p:sp>
        <p:nvSpPr>
          <p:cNvPr id="11" name="Shape 9"/>
          <p:cNvSpPr/>
          <p:nvPr/>
        </p:nvSpPr>
        <p:spPr>
          <a:xfrm>
            <a:off x="5029200" y="4297680"/>
            <a:ext cx="1828800" cy="548640"/>
          </a:xfrm>
          <a:prstGeom prst="roundRect">
            <a:avLst>
              <a:gd name="adj" fmla="val 13333"/>
            </a:avLst>
          </a:prstGeom>
          <a:solidFill>
            <a:schemeClr val="accent1"/>
          </a:solidFill>
          <a:ln/>
        </p:spPr>
      </p:sp>
      <p:sp>
        <p:nvSpPr>
          <p:cNvPr id="12" name="Text 10"/>
          <p:cNvSpPr txBox="1"/>
          <p:nvPr/>
        </p:nvSpPr>
        <p:spPr>
          <a:xfrm>
            <a:off x="502920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3  Keep and Shape</a:t>
            </a:r>
            <a:endParaRPr lang="en-US" sz="1400" dirty="0"/>
          </a:p>
        </p:txBody>
      </p:sp>
      <p:sp>
        <p:nvSpPr>
          <p:cNvPr id="13" name="Shape 11"/>
          <p:cNvSpPr/>
          <p:nvPr/>
        </p:nvSpPr>
        <p:spPr>
          <a:xfrm>
            <a:off x="6903720" y="4443984"/>
            <a:ext cx="237744" cy="256032"/>
          </a:xfrm>
          <a:prstGeom prst="rightArrow">
            <a:avLst/>
          </a:prstGeom>
          <a:solidFill>
            <a:schemeClr val="accent2"/>
          </a:solidFill>
          <a:ln/>
        </p:spPr>
      </p:sp>
      <p:sp>
        <p:nvSpPr>
          <p:cNvPr id="14" name="Shape 12"/>
          <p:cNvSpPr/>
          <p:nvPr/>
        </p:nvSpPr>
        <p:spPr>
          <a:xfrm>
            <a:off x="7178040" y="4297680"/>
            <a:ext cx="1828800" cy="548640"/>
          </a:xfrm>
          <a:prstGeom prst="roundRect">
            <a:avLst>
              <a:gd name="adj" fmla="val 13333"/>
            </a:avLst>
          </a:prstGeom>
          <a:solidFill>
            <a:schemeClr val="accent1"/>
          </a:solidFill>
          <a:ln/>
        </p:spPr>
      </p:sp>
      <p:sp>
        <p:nvSpPr>
          <p:cNvPr id="15" name="Text 13"/>
          <p:cNvSpPr txBox="1"/>
          <p:nvPr/>
        </p:nvSpPr>
        <p:spPr>
          <a:xfrm>
            <a:off x="717804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4  Store</a:t>
            </a:r>
            <a:endParaRPr lang="en-US" sz="1400" dirty="0"/>
          </a:p>
        </p:txBody>
      </p:sp>
      <p:sp>
        <p:nvSpPr>
          <p:cNvPr id="16" name="Shape 14"/>
          <p:cNvSpPr/>
          <p:nvPr/>
        </p:nvSpPr>
        <p:spPr>
          <a:xfrm>
            <a:off x="9052560" y="4443984"/>
            <a:ext cx="237744" cy="256032"/>
          </a:xfrm>
          <a:prstGeom prst="rightArrow">
            <a:avLst/>
          </a:prstGeom>
          <a:solidFill>
            <a:schemeClr val="accent2"/>
          </a:solidFill>
          <a:ln/>
        </p:spPr>
      </p:sp>
      <p:sp>
        <p:nvSpPr>
          <p:cNvPr id="17" name="Shape 15"/>
          <p:cNvSpPr/>
          <p:nvPr/>
        </p:nvSpPr>
        <p:spPr>
          <a:xfrm>
            <a:off x="9326880" y="4297680"/>
            <a:ext cx="1828800" cy="548640"/>
          </a:xfrm>
          <a:prstGeom prst="roundRect">
            <a:avLst>
              <a:gd name="adj" fmla="val 13333"/>
            </a:avLst>
          </a:prstGeom>
          <a:solidFill>
            <a:schemeClr val="accent1"/>
          </a:solidFill>
          <a:ln/>
        </p:spPr>
      </p:sp>
      <p:sp>
        <p:nvSpPr>
          <p:cNvPr id="18" name="Text 16"/>
          <p:cNvSpPr txBox="1"/>
          <p:nvPr/>
        </p:nvSpPr>
        <p:spPr>
          <a:xfrm>
            <a:off x="9326880" y="4297680"/>
            <a:ext cx="1828800" cy="548640"/>
          </a:xfrm>
          <a:prstGeom prst="rect">
            <a:avLst/>
          </a:prstGeom>
          <a:noFill/>
          <a:ln/>
        </p:spPr>
        <p:txBody>
          <a:bodyPr wrap="square" lIns="0" tIns="0" rIns="0" bIns="0" rtlCol="0" anchor="ctr"/>
          <a:lstStyle/>
          <a:p>
            <a:pPr algn="ctr" indent="0" marL="0">
              <a:buNone/>
            </a:pPr>
            <a:r>
              <a:rPr lang="en-US" sz="1400" b="1" dirty="0">
                <a:solidFill>
                  <a:schemeClr val="bg1"/>
                </a:solidFill>
              </a:rPr>
              <a:t>5  Use</a:t>
            </a:r>
            <a:endParaRPr lang="en-US" sz="1400" dirty="0"/>
          </a:p>
        </p:txBody>
      </p:sp>
      <p:sp>
        <p:nvSpPr>
          <p:cNvPr id="19" name="Text 17"/>
          <p:cNvSpPr txBox="1"/>
          <p:nvPr/>
        </p:nvSpPr>
        <p:spPr>
          <a:xfrm>
            <a:off x="731520" y="5394960"/>
            <a:ext cx="10515600" cy="365760"/>
          </a:xfrm>
          <a:prstGeom prst="rect">
            <a:avLst/>
          </a:prstGeom>
          <a:noFill/>
          <a:ln/>
        </p:spPr>
        <p:txBody>
          <a:bodyPr wrap="square" rtlCol="0" anchor="ctr"/>
          <a:lstStyle/>
          <a:p>
            <a:pPr indent="0" marL="0">
              <a:buNone/>
            </a:pPr>
            <a:r>
              <a:rPr lang="en-US" sz="1400" dirty="0">
                <a:solidFill>
                  <a:schemeClr val="bg2"/>
                </a:solidFill>
              </a:rPr>
              <a:t>Team DART  |  Government of Alberta, Ministry of Infrastructure (client)  |  Due 8 November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WHY A PIPELINE</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product runs on one request record</a:t>
            </a:r>
            <a:endParaRPr lang="en-US" sz="3000" dirty="0"/>
          </a:p>
        </p:txBody>
      </p:sp>
      <p:sp>
        <p:nvSpPr>
          <p:cNvPr id="4" name="Text 2"/>
          <p:cNvSpPr txBox="1"/>
          <p:nvPr/>
        </p:nvSpPr>
        <p:spPr>
          <a:xfrm>
            <a:off x="548640" y="1143000"/>
            <a:ext cx="11064240" cy="822960"/>
          </a:xfrm>
          <a:prstGeom prst="rect">
            <a:avLst/>
          </a:prstGeom>
          <a:noFill/>
          <a:ln/>
        </p:spPr>
        <p:txBody>
          <a:bodyPr wrap="square" lIns="1016" tIns="1016" rIns="1016" bIns="1016" rtlCol="0" anchor="t"/>
          <a:lstStyle/>
          <a:p>
            <a:pPr indent="0" marL="0">
              <a:buNone/>
            </a:pPr>
            <a:r>
              <a:rPr lang="en-US" sz="1600" dirty="0">
                <a:solidFill>
                  <a:schemeClr val="tx1"/>
                </a:solidFill>
                <a:latin typeface="Calibri" pitchFamily="34" charset="0"/>
                <a:ea typeface="Calibri" pitchFamily="34" charset="-122"/>
                <a:cs typeface="Calibri" pitchFamily="34" charset="-120"/>
              </a:rPr>
              <a:t>Today a request is scattered across WORTS, email, Teams, spreadsheets and paper, so nobody can answer "what is happening with my request?". PRISM Furniture Request makes the request a single record that can be followed.</a:t>
            </a:r>
            <a:endParaRPr lang="en-US" sz="1600" dirty="0"/>
          </a:p>
        </p:txBody>
      </p:sp>
      <p:sp>
        <p:nvSpPr>
          <p:cNvPr id="5" name="outcome0"/>
          <p:cNvSpPr/>
          <p:nvPr/>
        </p:nvSpPr>
        <p:spPr>
          <a:xfrm>
            <a:off x="548640" y="2194560"/>
            <a:ext cx="3520440" cy="2743200"/>
          </a:xfrm>
          <a:prstGeom prst="roundRect">
            <a:avLst>
              <a:gd name="adj" fmla="val 2667"/>
            </a:avLst>
          </a:prstGeom>
          <a:solidFill>
            <a:srgbClr val="EEF4F3"/>
          </a:solidFill>
          <a:ln/>
        </p:spPr>
      </p:sp>
      <p:sp>
        <p:nvSpPr>
          <p:cNvPr id="6" name="Shape 4"/>
          <p:cNvSpPr/>
          <p:nvPr/>
        </p:nvSpPr>
        <p:spPr>
          <a:xfrm>
            <a:off x="777240" y="2377440"/>
            <a:ext cx="384048" cy="384048"/>
          </a:xfrm>
          <a:prstGeom prst="ellipse">
            <a:avLst/>
          </a:prstGeom>
          <a:solidFill>
            <a:schemeClr val="accent1"/>
          </a:solidFill>
          <a:ln/>
        </p:spPr>
      </p:sp>
      <p:sp>
        <p:nvSpPr>
          <p:cNvPr id="7" name="Text 5"/>
          <p:cNvSpPr txBox="1"/>
          <p:nvPr/>
        </p:nvSpPr>
        <p:spPr>
          <a:xfrm>
            <a:off x="777240" y="2377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280160" y="2331720"/>
            <a:ext cx="2697480" cy="594360"/>
          </a:xfrm>
          <a:prstGeom prst="rect">
            <a:avLst/>
          </a:prstGeom>
          <a:noFill/>
          <a:ln/>
        </p:spPr>
        <p:txBody>
          <a:bodyPr wrap="square" lIns="1016" tIns="1016" rIns="1016" bIns="1016"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Right first time</a:t>
            </a:r>
            <a:endParaRPr lang="en-US" sz="1800" dirty="0"/>
          </a:p>
        </p:txBody>
      </p:sp>
      <p:sp>
        <p:nvSpPr>
          <p:cNvPr id="9" name="Text 7"/>
          <p:cNvSpPr txBox="1"/>
          <p:nvPr/>
        </p:nvSpPr>
        <p:spPr>
          <a:xfrm>
            <a:off x="777240" y="2971800"/>
            <a:ext cx="3108960" cy="822960"/>
          </a:xfrm>
          <a:prstGeom prst="rect">
            <a:avLst/>
          </a:prstGeom>
          <a:noFill/>
          <a:ln/>
        </p:spPr>
        <p:txBody>
          <a:bodyPr wrap="square" lIns="1016" tIns="1016" rIns="1016" bIns="1016" rtlCol="0" anchor="t"/>
          <a:lstStyle/>
          <a:p>
            <a:pPr indent="0" marL="0">
              <a:buNone/>
            </a:pPr>
            <a:r>
              <a:rPr lang="en-US" sz="1500" dirty="0">
                <a:solidFill>
                  <a:schemeClr val="tx1"/>
                </a:solidFill>
                <a:latin typeface="Calibri" pitchFamily="34" charset="0"/>
                <a:ea typeface="Calibri" pitchFamily="34" charset="-122"/>
                <a:cs typeface="Calibri" pitchFamily="34" charset="-120"/>
              </a:rPr>
              <a:t>A request is prepared correctly before it is submitted</a:t>
            </a:r>
            <a:endParaRPr lang="en-US" sz="1500" dirty="0"/>
          </a:p>
        </p:txBody>
      </p:sp>
      <p:sp>
        <p:nvSpPr>
          <p:cNvPr id="10" name="Text 8"/>
          <p:cNvSpPr txBox="1"/>
          <p:nvPr/>
        </p:nvSpPr>
        <p:spPr>
          <a:xfrm>
            <a:off x="777240" y="3931920"/>
            <a:ext cx="3108960" cy="822960"/>
          </a:xfrm>
          <a:prstGeom prst="rect">
            <a:avLst/>
          </a:prstGeom>
          <a:noFill/>
          <a:ln/>
        </p:spPr>
        <p:txBody>
          <a:bodyPr wrap="square" lIns="1016" tIns="1016" rIns="1016" bIns="1016"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Needs: checklist, request-type rules, pre-filled reference data</a:t>
            </a:r>
            <a:endParaRPr lang="en-US" sz="1400" dirty="0"/>
          </a:p>
        </p:txBody>
      </p:sp>
      <p:sp>
        <p:nvSpPr>
          <p:cNvPr id="11" name="outcome1"/>
          <p:cNvSpPr/>
          <p:nvPr/>
        </p:nvSpPr>
        <p:spPr>
          <a:xfrm>
            <a:off x="4297680" y="2194560"/>
            <a:ext cx="3520440" cy="2743200"/>
          </a:xfrm>
          <a:prstGeom prst="roundRect">
            <a:avLst>
              <a:gd name="adj" fmla="val 2667"/>
            </a:avLst>
          </a:prstGeom>
          <a:solidFill>
            <a:srgbClr val="EEF4F3"/>
          </a:solidFill>
          <a:ln/>
        </p:spPr>
      </p:sp>
      <p:sp>
        <p:nvSpPr>
          <p:cNvPr id="12" name="Shape 10"/>
          <p:cNvSpPr/>
          <p:nvPr/>
        </p:nvSpPr>
        <p:spPr>
          <a:xfrm>
            <a:off x="4526280" y="2377440"/>
            <a:ext cx="384048" cy="384048"/>
          </a:xfrm>
          <a:prstGeom prst="ellipse">
            <a:avLst/>
          </a:prstGeom>
          <a:solidFill>
            <a:schemeClr val="accent1"/>
          </a:solidFill>
          <a:ln/>
        </p:spPr>
      </p:sp>
      <p:sp>
        <p:nvSpPr>
          <p:cNvPr id="13" name="Text 11"/>
          <p:cNvSpPr txBox="1"/>
          <p:nvPr/>
        </p:nvSpPr>
        <p:spPr>
          <a:xfrm>
            <a:off x="4526280" y="2377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2"/>
          <p:cNvSpPr txBox="1"/>
          <p:nvPr/>
        </p:nvSpPr>
        <p:spPr>
          <a:xfrm>
            <a:off x="5029200" y="2331720"/>
            <a:ext cx="2697480" cy="594360"/>
          </a:xfrm>
          <a:prstGeom prst="rect">
            <a:avLst/>
          </a:prstGeom>
          <a:noFill/>
          <a:ln/>
        </p:spPr>
        <p:txBody>
          <a:bodyPr wrap="square" lIns="1016" tIns="1016" rIns="1016" bIns="1016"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Followed without chasing</a:t>
            </a:r>
            <a:endParaRPr lang="en-US" sz="1800" dirty="0"/>
          </a:p>
        </p:txBody>
      </p:sp>
      <p:sp>
        <p:nvSpPr>
          <p:cNvPr id="15" name="Text 13"/>
          <p:cNvSpPr txBox="1"/>
          <p:nvPr/>
        </p:nvSpPr>
        <p:spPr>
          <a:xfrm>
            <a:off x="4526280" y="2971800"/>
            <a:ext cx="3108960" cy="822960"/>
          </a:xfrm>
          <a:prstGeom prst="rect">
            <a:avLst/>
          </a:prstGeom>
          <a:noFill/>
          <a:ln/>
        </p:spPr>
        <p:txBody>
          <a:bodyPr wrap="square" lIns="1016" tIns="1016" rIns="1016" bIns="1016" rtlCol="0" anchor="t"/>
          <a:lstStyle/>
          <a:p>
            <a:pPr indent="0" marL="0">
              <a:buNone/>
            </a:pPr>
            <a:r>
              <a:rPr lang="en-US" sz="1500" dirty="0">
                <a:solidFill>
                  <a:schemeClr val="tx1"/>
                </a:solidFill>
                <a:latin typeface="Calibri" pitchFamily="34" charset="0"/>
                <a:ea typeface="Calibri" pitchFamily="34" charset="-122"/>
                <a:cs typeface="Calibri" pitchFamily="34" charset="-120"/>
              </a:rPr>
              <a:t>Status, owner and next step are visible to the requester</a:t>
            </a:r>
            <a:endParaRPr lang="en-US" sz="1500" dirty="0"/>
          </a:p>
        </p:txBody>
      </p:sp>
      <p:sp>
        <p:nvSpPr>
          <p:cNvPr id="16" name="Text 14"/>
          <p:cNvSpPr txBox="1"/>
          <p:nvPr/>
        </p:nvSpPr>
        <p:spPr>
          <a:xfrm>
            <a:off x="4526280" y="3931920"/>
            <a:ext cx="3108960" cy="822960"/>
          </a:xfrm>
          <a:prstGeom prst="rect">
            <a:avLst/>
          </a:prstGeom>
          <a:noFill/>
          <a:ln/>
        </p:spPr>
        <p:txBody>
          <a:bodyPr wrap="square" lIns="1016" tIns="1016" rIns="1016" bIns="1016"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Needs: every update and stage change on the record</a:t>
            </a:r>
            <a:endParaRPr lang="en-US" sz="1400" dirty="0"/>
          </a:p>
        </p:txBody>
      </p:sp>
      <p:sp>
        <p:nvSpPr>
          <p:cNvPr id="17" name="outcome2"/>
          <p:cNvSpPr/>
          <p:nvPr/>
        </p:nvSpPr>
        <p:spPr>
          <a:xfrm>
            <a:off x="8046720" y="2194560"/>
            <a:ext cx="3520440" cy="2743200"/>
          </a:xfrm>
          <a:prstGeom prst="roundRect">
            <a:avLst>
              <a:gd name="adj" fmla="val 2667"/>
            </a:avLst>
          </a:prstGeom>
          <a:solidFill>
            <a:srgbClr val="EEF4F3"/>
          </a:solidFill>
          <a:ln/>
        </p:spPr>
      </p:sp>
      <p:sp>
        <p:nvSpPr>
          <p:cNvPr id="18" name="Shape 16"/>
          <p:cNvSpPr/>
          <p:nvPr/>
        </p:nvSpPr>
        <p:spPr>
          <a:xfrm>
            <a:off x="8275320" y="2377440"/>
            <a:ext cx="384048" cy="384048"/>
          </a:xfrm>
          <a:prstGeom prst="ellipse">
            <a:avLst/>
          </a:prstGeom>
          <a:solidFill>
            <a:schemeClr val="accent1"/>
          </a:solidFill>
          <a:ln/>
        </p:spPr>
      </p:sp>
      <p:sp>
        <p:nvSpPr>
          <p:cNvPr id="19" name="Text 17"/>
          <p:cNvSpPr txBox="1"/>
          <p:nvPr/>
        </p:nvSpPr>
        <p:spPr>
          <a:xfrm>
            <a:off x="8275320" y="2377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0" name="Text 18"/>
          <p:cNvSpPr txBox="1"/>
          <p:nvPr/>
        </p:nvSpPr>
        <p:spPr>
          <a:xfrm>
            <a:off x="8778240" y="2331720"/>
            <a:ext cx="2697480" cy="594360"/>
          </a:xfrm>
          <a:prstGeom prst="rect">
            <a:avLst/>
          </a:prstGeom>
          <a:noFill/>
          <a:ln/>
        </p:spPr>
        <p:txBody>
          <a:bodyPr wrap="square" lIns="1016" tIns="1016" rIns="1016" bIns="1016"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Understood later</a:t>
            </a:r>
            <a:endParaRPr lang="en-US" sz="1800" dirty="0"/>
          </a:p>
        </p:txBody>
      </p:sp>
      <p:sp>
        <p:nvSpPr>
          <p:cNvPr id="21" name="Text 19"/>
          <p:cNvSpPr txBox="1"/>
          <p:nvPr/>
        </p:nvSpPr>
        <p:spPr>
          <a:xfrm>
            <a:off x="8275320" y="2971800"/>
            <a:ext cx="3108960" cy="822960"/>
          </a:xfrm>
          <a:prstGeom prst="rect">
            <a:avLst/>
          </a:prstGeom>
          <a:noFill/>
          <a:ln/>
        </p:spPr>
        <p:txBody>
          <a:bodyPr wrap="square" lIns="1016" tIns="1016" rIns="1016" bIns="1016" rtlCol="0" anchor="t"/>
          <a:lstStyle/>
          <a:p>
            <a:pPr indent="0" marL="0">
              <a:buNone/>
            </a:pPr>
            <a:r>
              <a:rPr lang="en-US" sz="1500" dirty="0">
                <a:solidFill>
                  <a:schemeClr val="tx1"/>
                </a:solidFill>
                <a:latin typeface="Calibri" pitchFamily="34" charset="0"/>
                <a:ea typeface="Calibri" pitchFamily="34" charset="-122"/>
                <a:cs typeface="Calibri" pitchFamily="34" charset="-120"/>
              </a:rPr>
              <a:t>Someone not involved can read the request's story years on</a:t>
            </a:r>
            <a:endParaRPr lang="en-US" sz="1500" dirty="0"/>
          </a:p>
        </p:txBody>
      </p:sp>
      <p:sp>
        <p:nvSpPr>
          <p:cNvPr id="22" name="Text 20"/>
          <p:cNvSpPr txBox="1"/>
          <p:nvPr/>
        </p:nvSpPr>
        <p:spPr>
          <a:xfrm>
            <a:off x="8275320" y="3931920"/>
            <a:ext cx="3108960" cy="822960"/>
          </a:xfrm>
          <a:prstGeom prst="rect">
            <a:avLst/>
          </a:prstGeom>
          <a:noFill/>
          <a:ln/>
        </p:spPr>
        <p:txBody>
          <a:bodyPr wrap="square" lIns="1016" tIns="1016" rIns="1016" bIns="1016"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Needs: the original kept, full history, retention</a:t>
            </a:r>
            <a:endParaRPr lang="en-US" sz="1400" dirty="0"/>
          </a:p>
        </p:txBody>
      </p:sp>
      <p:sp>
        <p:nvSpPr>
          <p:cNvPr id="23" name="sinkfirst"/>
          <p:cNvSpPr/>
          <p:nvPr/>
        </p:nvSpPr>
        <p:spPr>
          <a:xfrm>
            <a:off x="548640" y="5212080"/>
            <a:ext cx="11064240" cy="868680"/>
          </a:xfrm>
          <a:prstGeom prst="roundRect">
            <a:avLst>
              <a:gd name="adj" fmla="val 8421"/>
            </a:avLst>
          </a:prstGeom>
          <a:solidFill>
            <a:srgbClr val="FFF6B6"/>
          </a:solidFill>
          <a:ln/>
        </p:spPr>
      </p:sp>
      <p:sp>
        <p:nvSpPr>
          <p:cNvPr id="24" name="Text 22"/>
          <p:cNvSpPr txBox="1"/>
          <p:nvPr/>
        </p:nvSpPr>
        <p:spPr>
          <a:xfrm>
            <a:off x="731520" y="5257800"/>
            <a:ext cx="10698480" cy="777240"/>
          </a:xfrm>
          <a:prstGeom prst="rect">
            <a:avLst/>
          </a:prstGeom>
          <a:noFill/>
          <a:ln/>
        </p:spPr>
        <p:txBody>
          <a:bodyPr wrap="square" lIns="1016" tIns="1016" rIns="1016" bIns="1016" rtlCol="0" anchor="ctr"/>
          <a:lstStyle/>
          <a:p>
            <a:pPr indent="0" marL="0">
              <a:buNone/>
            </a:pPr>
            <a:r>
              <a:rPr lang="en-US" sz="1500" b="1" dirty="0">
                <a:solidFill>
                  <a:schemeClr val="tx1"/>
                </a:solidFill>
                <a:latin typeface="Calibri" pitchFamily="34" charset="0"/>
                <a:ea typeface="Calibri" pitchFamily="34" charset="-122"/>
                <a:cs typeface="Calibri" pitchFamily="34" charset="-120"/>
              </a:rPr>
              <a:t>Designed from the sink. </a:t>
            </a:r>
            <a:pPr indent="0" marL="0">
              <a:buNone/>
            </a:pPr>
            <a:r>
              <a:rPr lang="en-US" sz="1500" dirty="0">
                <a:solidFill>
                  <a:schemeClr val="tx1"/>
                </a:solidFill>
                <a:latin typeface="Calibri" pitchFamily="34" charset="0"/>
                <a:ea typeface="Calibri" pitchFamily="34" charset="-122"/>
                <a:cs typeface="Calibri" pitchFamily="34" charset="-120"/>
              </a:rPr>
              <a:t>These three outcomes, from the purpose in our Requirements Document, define the measurement sink. We worked back from them to the data each stage must carry.</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ONE  |  DATA SOURCES</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Twelve sources, and where each one is born</a:t>
            </a:r>
            <a:endParaRPr lang="en-US" sz="3000" dirty="0"/>
          </a:p>
        </p:txBody>
      </p:sp>
      <p:sp>
        <p:nvSpPr>
          <p:cNvPr id="4" name="cat0"/>
          <p:cNvSpPr/>
          <p:nvPr/>
        </p:nvSpPr>
        <p:spPr>
          <a:xfrm>
            <a:off x="548640" y="1188720"/>
            <a:ext cx="3520440" cy="457200"/>
          </a:xfrm>
          <a:prstGeom prst="roundRect">
            <a:avLst>
              <a:gd name="adj" fmla="val 16000"/>
            </a:avLst>
          </a:prstGeom>
          <a:solidFill>
            <a:srgbClr val="1B6F6A"/>
          </a:solidFill>
          <a:ln/>
        </p:spPr>
      </p:sp>
      <p:sp>
        <p:nvSpPr>
          <p:cNvPr id="5" name="Text 3"/>
          <p:cNvSpPr txBox="1"/>
          <p:nvPr/>
        </p:nvSpPr>
        <p:spPr>
          <a:xfrm>
            <a:off x="548640" y="1188720"/>
            <a:ext cx="3520440" cy="45720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People and workflow</a:t>
            </a:r>
            <a:endParaRPr lang="en-US" sz="1600" dirty="0"/>
          </a:p>
        </p:txBody>
      </p:sp>
      <p:sp>
        <p:nvSpPr>
          <p:cNvPr id="6" name="src00"/>
          <p:cNvSpPr/>
          <p:nvPr/>
        </p:nvSpPr>
        <p:spPr>
          <a:xfrm>
            <a:off x="548640" y="1783080"/>
            <a:ext cx="3520440" cy="1024128"/>
          </a:xfrm>
          <a:prstGeom prst="roundRect">
            <a:avLst>
              <a:gd name="adj" fmla="val 7143"/>
            </a:avLst>
          </a:prstGeom>
          <a:solidFill>
            <a:srgbClr val="C6DCFF"/>
          </a:solidFill>
          <a:ln/>
        </p:spPr>
      </p:sp>
      <p:sp>
        <p:nvSpPr>
          <p:cNvPr id="7" name="Text 5"/>
          <p:cNvSpPr txBox="1"/>
          <p:nvPr/>
        </p:nvSpPr>
        <p:spPr>
          <a:xfrm>
            <a:off x="640080" y="1819656"/>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Original requester</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Need, reason, intended location</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In the office, passed to the CMAC by email, Teams or phone</a:t>
            </a:r>
            <a:endParaRPr lang="en-US" sz="1250" dirty="0"/>
          </a:p>
        </p:txBody>
      </p:sp>
      <p:sp>
        <p:nvSpPr>
          <p:cNvPr id="8" name="src01"/>
          <p:cNvSpPr/>
          <p:nvPr/>
        </p:nvSpPr>
        <p:spPr>
          <a:xfrm>
            <a:off x="548640" y="2898648"/>
            <a:ext cx="3520440" cy="1024128"/>
          </a:xfrm>
          <a:prstGeom prst="roundRect">
            <a:avLst>
              <a:gd name="adj" fmla="val 7143"/>
            </a:avLst>
          </a:prstGeom>
          <a:solidFill>
            <a:srgbClr val="C6DCFF"/>
          </a:solidFill>
          <a:ln/>
        </p:spPr>
      </p:sp>
      <p:sp>
        <p:nvSpPr>
          <p:cNvPr id="9" name="Text 7"/>
          <p:cNvSpPr txBox="1"/>
          <p:nvPr/>
        </p:nvSpPr>
        <p:spPr>
          <a:xfrm>
            <a:off x="640080" y="2935224"/>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CMAC</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Request details, ministry, documents, submission</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Request form at submission</a:t>
            </a:r>
            <a:endParaRPr lang="en-US" sz="1250" dirty="0"/>
          </a:p>
        </p:txBody>
      </p:sp>
      <p:sp>
        <p:nvSpPr>
          <p:cNvPr id="10" name="src02"/>
          <p:cNvSpPr/>
          <p:nvPr/>
        </p:nvSpPr>
        <p:spPr>
          <a:xfrm>
            <a:off x="548640" y="4014216"/>
            <a:ext cx="3520440" cy="1024128"/>
          </a:xfrm>
          <a:prstGeom prst="roundRect">
            <a:avLst>
              <a:gd name="adj" fmla="val 7143"/>
            </a:avLst>
          </a:prstGeom>
          <a:solidFill>
            <a:srgbClr val="C6DCFF"/>
          </a:solidFill>
          <a:ln/>
        </p:spPr>
      </p:sp>
      <p:sp>
        <p:nvSpPr>
          <p:cNvPr id="11" name="Text 9"/>
          <p:cNvSpPr txBox="1"/>
          <p:nvPr/>
        </p:nvSpPr>
        <p:spPr>
          <a:xfrm>
            <a:off x="640080" y="4050792"/>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Infrastructure coordinators</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Review decision, assignment, clarifications, status, next action</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Review and coordination</a:t>
            </a:r>
            <a:endParaRPr lang="en-US" sz="1250" dirty="0"/>
          </a:p>
        </p:txBody>
      </p:sp>
      <p:sp>
        <p:nvSpPr>
          <p:cNvPr id="12" name="src03"/>
          <p:cNvSpPr/>
          <p:nvPr/>
        </p:nvSpPr>
        <p:spPr>
          <a:xfrm>
            <a:off x="548640" y="5129784"/>
            <a:ext cx="3520440" cy="1024128"/>
          </a:xfrm>
          <a:prstGeom prst="roundRect">
            <a:avLst>
              <a:gd name="adj" fmla="val 7143"/>
            </a:avLst>
          </a:prstGeom>
          <a:solidFill>
            <a:srgbClr val="C6DCFF"/>
          </a:solidFill>
          <a:ln/>
        </p:spPr>
      </p:sp>
      <p:sp>
        <p:nvSpPr>
          <p:cNvPr id="13" name="Text 11"/>
          <p:cNvSpPr txBox="1"/>
          <p:nvPr/>
        </p:nvSpPr>
        <p:spPr>
          <a:xfrm>
            <a:off x="640080" y="5166360"/>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Vendor, mover, warehouse</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Delivery arrangements, progress, confirmation, issues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On the day of picking or delivery</a:t>
            </a:r>
            <a:endParaRPr lang="en-US" sz="1250" dirty="0"/>
          </a:p>
        </p:txBody>
      </p:sp>
      <p:sp>
        <p:nvSpPr>
          <p:cNvPr id="14" name="cat1"/>
          <p:cNvSpPr/>
          <p:nvPr/>
        </p:nvSpPr>
        <p:spPr>
          <a:xfrm>
            <a:off x="4297680" y="1188720"/>
            <a:ext cx="3520440" cy="457200"/>
          </a:xfrm>
          <a:prstGeom prst="roundRect">
            <a:avLst>
              <a:gd name="adj" fmla="val 16000"/>
            </a:avLst>
          </a:prstGeom>
          <a:solidFill>
            <a:srgbClr val="0F3D3E"/>
          </a:solidFill>
          <a:ln/>
        </p:spPr>
      </p:sp>
      <p:sp>
        <p:nvSpPr>
          <p:cNvPr id="15" name="Text 13"/>
          <p:cNvSpPr txBox="1"/>
          <p:nvPr/>
        </p:nvSpPr>
        <p:spPr>
          <a:xfrm>
            <a:off x="4297680" y="1188720"/>
            <a:ext cx="3520440" cy="457200"/>
          </a:xfrm>
          <a:prstGeom prst="rect">
            <a:avLst/>
          </a:prstGeom>
          <a:noFill/>
          <a:ln/>
        </p:spPr>
        <p:txBody>
          <a:bodyPr wrap="square" lIns="1016" tIns="1016" rIns="1016" bIns="1016"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Systems and channels</a:t>
            </a:r>
            <a:endParaRPr lang="en-US" sz="1600" dirty="0"/>
          </a:p>
        </p:txBody>
      </p:sp>
      <p:sp>
        <p:nvSpPr>
          <p:cNvPr id="16" name="src10"/>
          <p:cNvSpPr/>
          <p:nvPr/>
        </p:nvSpPr>
        <p:spPr>
          <a:xfrm>
            <a:off x="4297680" y="1783080"/>
            <a:ext cx="3520440" cy="1024128"/>
          </a:xfrm>
          <a:prstGeom prst="roundRect">
            <a:avLst>
              <a:gd name="adj" fmla="val 7143"/>
            </a:avLst>
          </a:prstGeom>
          <a:solidFill>
            <a:srgbClr val="EEF4F3"/>
          </a:solidFill>
          <a:ln/>
        </p:spPr>
      </p:sp>
      <p:sp>
        <p:nvSpPr>
          <p:cNvPr id="17" name="Text 15"/>
          <p:cNvSpPr txBox="1"/>
          <p:nvPr/>
        </p:nvSpPr>
        <p:spPr>
          <a:xfrm>
            <a:off x="4389120" y="1819656"/>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WORTS</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Existing records, statuses, comments, attachments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Tracking and reporting today</a:t>
            </a:r>
            <a:endParaRPr lang="en-US" sz="1250" dirty="0"/>
          </a:p>
        </p:txBody>
      </p:sp>
      <p:sp>
        <p:nvSpPr>
          <p:cNvPr id="18" name="src11"/>
          <p:cNvSpPr/>
          <p:nvPr/>
        </p:nvSpPr>
        <p:spPr>
          <a:xfrm>
            <a:off x="4297680" y="2898648"/>
            <a:ext cx="3520440" cy="1024128"/>
          </a:xfrm>
          <a:prstGeom prst="roundRect">
            <a:avLst>
              <a:gd name="adj" fmla="val 7143"/>
            </a:avLst>
          </a:prstGeom>
          <a:solidFill>
            <a:srgbClr val="EEF4F3"/>
          </a:solidFill>
          <a:ln/>
        </p:spPr>
      </p:sp>
      <p:sp>
        <p:nvSpPr>
          <p:cNvPr id="19" name="Text 17"/>
          <p:cNvSpPr txBox="1"/>
          <p:nvPr/>
        </p:nvSpPr>
        <p:spPr>
          <a:xfrm>
            <a:off x="4389120" y="2935224"/>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Outlook shared inbox, Teams</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Original messages, clarifications, supporting files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Outside any request record</a:t>
            </a:r>
            <a:endParaRPr lang="en-US" sz="1250" dirty="0"/>
          </a:p>
        </p:txBody>
      </p:sp>
      <p:sp>
        <p:nvSpPr>
          <p:cNvPr id="20" name="src12"/>
          <p:cNvSpPr/>
          <p:nvPr/>
        </p:nvSpPr>
        <p:spPr>
          <a:xfrm>
            <a:off x="4297680" y="4014216"/>
            <a:ext cx="3520440" cy="1024128"/>
          </a:xfrm>
          <a:prstGeom prst="roundRect">
            <a:avLst>
              <a:gd name="adj" fmla="val 7143"/>
            </a:avLst>
          </a:prstGeom>
          <a:solidFill>
            <a:srgbClr val="EEF4F3"/>
          </a:solidFill>
          <a:ln/>
        </p:spPr>
      </p:sp>
      <p:sp>
        <p:nvSpPr>
          <p:cNvPr id="21" name="Text 19"/>
          <p:cNvSpPr txBox="1"/>
          <p:nvPr/>
        </p:nvSpPr>
        <p:spPr>
          <a:xfrm>
            <a:off x="4389120" y="4050792"/>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SnapTracker (to validate)</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Inventory availability, delivery estimates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Inventory system</a:t>
            </a:r>
            <a:endParaRPr lang="en-US" sz="1250" dirty="0"/>
          </a:p>
        </p:txBody>
      </p:sp>
      <p:sp>
        <p:nvSpPr>
          <p:cNvPr id="22" name="src13"/>
          <p:cNvSpPr/>
          <p:nvPr/>
        </p:nvSpPr>
        <p:spPr>
          <a:xfrm>
            <a:off x="4297680" y="5129784"/>
            <a:ext cx="3520440" cy="1024128"/>
          </a:xfrm>
          <a:prstGeom prst="roundRect">
            <a:avLst>
              <a:gd name="adj" fmla="val 7143"/>
            </a:avLst>
          </a:prstGeom>
          <a:solidFill>
            <a:srgbClr val="EEF4F3"/>
          </a:solidFill>
          <a:ln/>
        </p:spPr>
      </p:sp>
      <p:sp>
        <p:nvSpPr>
          <p:cNvPr id="23" name="Text 21"/>
          <p:cNvSpPr txBox="1"/>
          <p:nvPr/>
        </p:nvSpPr>
        <p:spPr>
          <a:xfrm>
            <a:off x="4389120" y="5166360"/>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OneGX / SAP (to validate)</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Purchasing references, procurement status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Procurement</a:t>
            </a:r>
            <a:endParaRPr lang="en-US" sz="1250" dirty="0"/>
          </a:p>
        </p:txBody>
      </p:sp>
      <p:sp>
        <p:nvSpPr>
          <p:cNvPr id="24" name="cat2"/>
          <p:cNvSpPr/>
          <p:nvPr/>
        </p:nvSpPr>
        <p:spPr>
          <a:xfrm>
            <a:off x="8046720" y="1188720"/>
            <a:ext cx="3520440" cy="457200"/>
          </a:xfrm>
          <a:prstGeom prst="roundRect">
            <a:avLst>
              <a:gd name="adj" fmla="val 16000"/>
            </a:avLst>
          </a:prstGeom>
          <a:solidFill>
            <a:srgbClr val="E8A33D"/>
          </a:solidFill>
          <a:ln/>
        </p:spPr>
      </p:sp>
      <p:sp>
        <p:nvSpPr>
          <p:cNvPr id="25" name="Text 23"/>
          <p:cNvSpPr txBox="1"/>
          <p:nvPr/>
        </p:nvSpPr>
        <p:spPr>
          <a:xfrm>
            <a:off x="8046720" y="1188720"/>
            <a:ext cx="3520440" cy="457200"/>
          </a:xfrm>
          <a:prstGeom prst="rect">
            <a:avLst/>
          </a:prstGeom>
          <a:noFill/>
          <a:ln/>
        </p:spPr>
        <p:txBody>
          <a:bodyPr wrap="square" lIns="1016" tIns="1016" rIns="1016" bIns="1016"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Reference data</a:t>
            </a:r>
            <a:endParaRPr lang="en-US" sz="1600" dirty="0"/>
          </a:p>
        </p:txBody>
      </p:sp>
      <p:sp>
        <p:nvSpPr>
          <p:cNvPr id="26" name="src20"/>
          <p:cNvSpPr/>
          <p:nvPr/>
        </p:nvSpPr>
        <p:spPr>
          <a:xfrm>
            <a:off x="8046720" y="1783080"/>
            <a:ext cx="3520440" cy="1024128"/>
          </a:xfrm>
          <a:prstGeom prst="roundRect">
            <a:avLst>
              <a:gd name="adj" fmla="val 7143"/>
            </a:avLst>
          </a:prstGeom>
          <a:solidFill>
            <a:srgbClr val="FFE2B8"/>
          </a:solidFill>
          <a:ln/>
        </p:spPr>
      </p:sp>
      <p:sp>
        <p:nvSpPr>
          <p:cNvPr id="27" name="Text 25"/>
          <p:cNvSpPr txBox="1"/>
          <p:nvPr/>
        </p:nvSpPr>
        <p:spPr>
          <a:xfrm>
            <a:off x="8138160" y="1819656"/>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Building and facility (PRISM Core)</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Building code, address, floors, contacts, occupants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Mastered in PRISM Core</a:t>
            </a:r>
            <a:endParaRPr lang="en-US" sz="1250" dirty="0"/>
          </a:p>
        </p:txBody>
      </p:sp>
      <p:sp>
        <p:nvSpPr>
          <p:cNvPr id="28" name="src21"/>
          <p:cNvSpPr/>
          <p:nvPr/>
        </p:nvSpPr>
        <p:spPr>
          <a:xfrm>
            <a:off x="8046720" y="2898648"/>
            <a:ext cx="3520440" cy="1024128"/>
          </a:xfrm>
          <a:prstGeom prst="roundRect">
            <a:avLst>
              <a:gd name="adj" fmla="val 7143"/>
            </a:avLst>
          </a:prstGeom>
          <a:solidFill>
            <a:srgbClr val="FFE2B8"/>
          </a:solidFill>
          <a:ln/>
        </p:spPr>
      </p:sp>
      <p:sp>
        <p:nvSpPr>
          <p:cNvPr id="29" name="Text 27"/>
          <p:cNvSpPr txBox="1"/>
          <p:nvPr/>
        </p:nvSpPr>
        <p:spPr>
          <a:xfrm>
            <a:off x="8138160" y="2935224"/>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Furniture and supply</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Categories, items, quantities, availability</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Inventory and catalogue</a:t>
            </a:r>
            <a:endParaRPr lang="en-US" sz="1250" dirty="0"/>
          </a:p>
        </p:txBody>
      </p:sp>
      <p:sp>
        <p:nvSpPr>
          <p:cNvPr id="30" name="src22"/>
          <p:cNvSpPr/>
          <p:nvPr/>
        </p:nvSpPr>
        <p:spPr>
          <a:xfrm>
            <a:off x="8046720" y="4014216"/>
            <a:ext cx="3520440" cy="1024128"/>
          </a:xfrm>
          <a:prstGeom prst="roundRect">
            <a:avLst>
              <a:gd name="adj" fmla="val 7143"/>
            </a:avLst>
          </a:prstGeom>
          <a:solidFill>
            <a:srgbClr val="FFE2B8"/>
          </a:solidFill>
          <a:ln/>
        </p:spPr>
      </p:sp>
      <p:sp>
        <p:nvSpPr>
          <p:cNvPr id="31" name="Text 29"/>
          <p:cNvSpPr txBox="1"/>
          <p:nvPr/>
        </p:nvSpPr>
        <p:spPr>
          <a:xfrm>
            <a:off x="8138160" y="4050792"/>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Request checklist</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Required documents and guidance by request type</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Completed outside the system today</a:t>
            </a:r>
            <a:endParaRPr lang="en-US" sz="1250" dirty="0"/>
          </a:p>
        </p:txBody>
      </p:sp>
      <p:sp>
        <p:nvSpPr>
          <p:cNvPr id="32" name="src23"/>
          <p:cNvSpPr/>
          <p:nvPr/>
        </p:nvSpPr>
        <p:spPr>
          <a:xfrm>
            <a:off x="8046720" y="5129784"/>
            <a:ext cx="3520440" cy="1024128"/>
          </a:xfrm>
          <a:prstGeom prst="roundRect">
            <a:avLst>
              <a:gd name="adj" fmla="val 7143"/>
            </a:avLst>
          </a:prstGeom>
          <a:solidFill>
            <a:srgbClr val="FFE2B8"/>
          </a:solidFill>
          <a:ln/>
        </p:spPr>
      </p:sp>
      <p:sp>
        <p:nvSpPr>
          <p:cNvPr id="33" name="Text 31"/>
          <p:cNvSpPr txBox="1"/>
          <p:nvPr/>
        </p:nvSpPr>
        <p:spPr>
          <a:xfrm>
            <a:off x="8138160" y="5166360"/>
            <a:ext cx="3337560" cy="950976"/>
          </a:xfrm>
          <a:prstGeom prst="rect">
            <a:avLst/>
          </a:prstGeom>
          <a:noFill/>
          <a:ln/>
        </p:spPr>
        <p:txBody>
          <a:bodyPr wrap="square" lIns="1016" tIns="1016" rIns="1016" bIns="1016" rtlCol="0" anchor="t"/>
          <a:lstStyle/>
          <a:p>
            <a:pPr indent="0" marL="0">
              <a:buNone/>
            </a:pPr>
            <a:r>
              <a:rPr lang="en-US" sz="1250" b="1" dirty="0">
                <a:solidFill>
                  <a:schemeClr val="tx1"/>
                </a:solidFill>
                <a:latin typeface="Calibri" pitchFamily="34" charset="0"/>
                <a:ea typeface="Calibri" pitchFamily="34" charset="-122"/>
                <a:cs typeface="Calibri" pitchFamily="34" charset="-120"/>
              </a:rPr>
              <a:t>Roles and authorization</a:t>
            </a:r>
            <a:endParaRPr lang="en-US" sz="1250" dirty="0"/>
          </a:p>
          <a:p>
            <a:pPr indent="0" marL="0">
              <a:buNone/>
            </a:pPr>
            <a:r>
              <a:rPr lang="en-US" sz="1250" dirty="0">
                <a:solidFill>
                  <a:schemeClr val="tx1"/>
                </a:solidFill>
                <a:latin typeface="Calibri" pitchFamily="34" charset="0"/>
                <a:ea typeface="Calibri" pitchFamily="34" charset="-122"/>
                <a:cs typeface="Calibri" pitchFamily="34" charset="-120"/>
              </a:rPr>
              <a:t>Eligible submitters, responsibilities, approvals</a:t>
            </a:r>
            <a:endParaRPr lang="en-US" sz="1250" dirty="0"/>
          </a:p>
          <a:p>
            <a:pPr indent="0" marL="0">
              <a:buNone/>
            </a:pPr>
            <a:r>
              <a:rPr lang="en-US" sz="1250" i="1" dirty="0">
                <a:solidFill>
                  <a:srgbClr val="3D5252"/>
                </a:solidFill>
                <a:latin typeface="Calibri" pitchFamily="34" charset="0"/>
                <a:ea typeface="Calibri" pitchFamily="34" charset="-122"/>
                <a:cs typeface="Calibri" pitchFamily="34" charset="-120"/>
              </a:rPr>
              <a:t>Born: Government of Alberta rules</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ONE  |  SCOPE</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Scope covers the request as a record, not the furniture work</a:t>
            </a:r>
            <a:endParaRPr lang="en-US" sz="3000" dirty="0"/>
          </a:p>
        </p:txBody>
      </p:sp>
      <p:sp>
        <p:nvSpPr>
          <p:cNvPr id="4" name="In scope"/>
          <p:cNvSpPr/>
          <p:nvPr/>
        </p:nvSpPr>
        <p:spPr>
          <a:xfrm>
            <a:off x="548640" y="1188720"/>
            <a:ext cx="5440680" cy="502920"/>
          </a:xfrm>
          <a:prstGeom prst="roundRect">
            <a:avLst>
              <a:gd name="adj" fmla="val 14545"/>
            </a:avLst>
          </a:prstGeom>
          <a:solidFill>
            <a:srgbClr val="1B6F6A"/>
          </a:solidFill>
          <a:ln/>
        </p:spPr>
      </p:sp>
      <p:sp>
        <p:nvSpPr>
          <p:cNvPr id="5" name="Text 3"/>
          <p:cNvSpPr txBox="1"/>
          <p:nvPr/>
        </p:nvSpPr>
        <p:spPr>
          <a:xfrm>
            <a:off x="548640" y="1188720"/>
            <a:ext cx="5440680" cy="502920"/>
          </a:xfrm>
          <a:prstGeom prst="rect">
            <a:avLst/>
          </a:prstGeom>
          <a:noFill/>
          <a:ln/>
        </p:spPr>
        <p:txBody>
          <a:bodyPr wrap="square" lIns="1016" tIns="1016" rIns="1016" bIns="1016"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In scope</a:t>
            </a:r>
            <a:endParaRPr lang="en-US" sz="1700" dirty="0"/>
          </a:p>
        </p:txBody>
      </p:sp>
      <p:sp>
        <p:nvSpPr>
          <p:cNvPr id="6" name="In scope0"/>
          <p:cNvSpPr/>
          <p:nvPr/>
        </p:nvSpPr>
        <p:spPr>
          <a:xfrm>
            <a:off x="548640" y="1828800"/>
            <a:ext cx="5440680" cy="868680"/>
          </a:xfrm>
          <a:prstGeom prst="roundRect">
            <a:avLst>
              <a:gd name="adj" fmla="val 8421"/>
            </a:avLst>
          </a:prstGeom>
          <a:solidFill>
            <a:srgbClr val="F4F7F7"/>
          </a:solidFill>
          <a:ln/>
        </p:spPr>
      </p:sp>
      <p:sp>
        <p:nvSpPr>
          <p:cNvPr id="7" name="Text 5"/>
          <p:cNvSpPr txBox="1"/>
          <p:nvPr/>
        </p:nvSpPr>
        <p:spPr>
          <a:xfrm>
            <a:off x="685800" y="186537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Request initiation and submission</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Needed to submit right first time (FR-01 to FR-12)</a:t>
            </a:r>
            <a:endParaRPr lang="en-US" sz="1400" dirty="0"/>
          </a:p>
        </p:txBody>
      </p:sp>
      <p:sp>
        <p:nvSpPr>
          <p:cNvPr id="8" name="In scope1"/>
          <p:cNvSpPr/>
          <p:nvPr/>
        </p:nvSpPr>
        <p:spPr>
          <a:xfrm>
            <a:off x="548640" y="2788920"/>
            <a:ext cx="5440680" cy="868680"/>
          </a:xfrm>
          <a:prstGeom prst="roundRect">
            <a:avLst>
              <a:gd name="adj" fmla="val 8421"/>
            </a:avLst>
          </a:prstGeom>
          <a:solidFill>
            <a:srgbClr val="F4F7F7"/>
          </a:solidFill>
          <a:ln/>
        </p:spPr>
      </p:sp>
      <p:sp>
        <p:nvSpPr>
          <p:cNvPr id="9" name="Text 7"/>
          <p:cNvSpPr txBox="1"/>
          <p:nvPr/>
        </p:nvSpPr>
        <p:spPr>
          <a:xfrm>
            <a:off x="685800" y="282549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Review and coordination</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Decisions, ownership and clarifications must stay with the request (FR-15, FR-16)</a:t>
            </a:r>
            <a:endParaRPr lang="en-US" sz="1400" dirty="0"/>
          </a:p>
        </p:txBody>
      </p:sp>
      <p:sp>
        <p:nvSpPr>
          <p:cNvPr id="10" name="In scope2"/>
          <p:cNvSpPr/>
          <p:nvPr/>
        </p:nvSpPr>
        <p:spPr>
          <a:xfrm>
            <a:off x="548640" y="3749040"/>
            <a:ext cx="5440680" cy="868680"/>
          </a:xfrm>
          <a:prstGeom prst="roundRect">
            <a:avLst>
              <a:gd name="adj" fmla="val 8421"/>
            </a:avLst>
          </a:prstGeom>
          <a:solidFill>
            <a:srgbClr val="F4F7F7"/>
          </a:solidFill>
          <a:ln/>
        </p:spPr>
      </p:sp>
      <p:sp>
        <p:nvSpPr>
          <p:cNvPr id="11" name="Text 9"/>
          <p:cNvSpPr txBox="1"/>
          <p:nvPr/>
        </p:nvSpPr>
        <p:spPr>
          <a:xfrm>
            <a:off x="685800" y="378561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Fulfilment and closure</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Progress is tracked, not performed (FR-17)</a:t>
            </a:r>
            <a:endParaRPr lang="en-US" sz="1400" dirty="0"/>
          </a:p>
        </p:txBody>
      </p:sp>
      <p:sp>
        <p:nvSpPr>
          <p:cNvPr id="12" name="In scope3"/>
          <p:cNvSpPr/>
          <p:nvPr/>
        </p:nvSpPr>
        <p:spPr>
          <a:xfrm>
            <a:off x="548640" y="4709160"/>
            <a:ext cx="5440680" cy="868680"/>
          </a:xfrm>
          <a:prstGeom prst="roundRect">
            <a:avLst>
              <a:gd name="adj" fmla="val 8421"/>
            </a:avLst>
          </a:prstGeom>
          <a:solidFill>
            <a:srgbClr val="F4F7F7"/>
          </a:solidFill>
          <a:ln/>
        </p:spPr>
      </p:sp>
      <p:sp>
        <p:nvSpPr>
          <p:cNvPr id="13" name="Text 11"/>
          <p:cNvSpPr txBox="1"/>
          <p:nvPr/>
        </p:nvSpPr>
        <p:spPr>
          <a:xfrm>
            <a:off x="685800" y="474573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Visibility and reporting</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Status, next step and service performance (FR-13, FR-24)</a:t>
            </a:r>
            <a:endParaRPr lang="en-US" sz="1400" dirty="0"/>
          </a:p>
        </p:txBody>
      </p:sp>
      <p:sp>
        <p:nvSpPr>
          <p:cNvPr id="14" name="Out of scope or deferred"/>
          <p:cNvSpPr/>
          <p:nvPr/>
        </p:nvSpPr>
        <p:spPr>
          <a:xfrm>
            <a:off x="6172200" y="1188720"/>
            <a:ext cx="5440680" cy="502920"/>
          </a:xfrm>
          <a:prstGeom prst="roundRect">
            <a:avLst>
              <a:gd name="adj" fmla="val 14545"/>
            </a:avLst>
          </a:prstGeom>
          <a:solidFill>
            <a:srgbClr val="FFC6C6"/>
          </a:solidFill>
          <a:ln/>
        </p:spPr>
      </p:sp>
      <p:sp>
        <p:nvSpPr>
          <p:cNvPr id="15" name="Text 13"/>
          <p:cNvSpPr txBox="1"/>
          <p:nvPr/>
        </p:nvSpPr>
        <p:spPr>
          <a:xfrm>
            <a:off x="6172200" y="1188720"/>
            <a:ext cx="5440680" cy="502920"/>
          </a:xfrm>
          <a:prstGeom prst="rect">
            <a:avLst/>
          </a:prstGeom>
          <a:noFill/>
          <a:ln/>
        </p:spPr>
        <p:txBody>
          <a:bodyPr wrap="square" lIns="1016" tIns="1016" rIns="1016" bIns="1016" rtlCol="0" anchor="ctr"/>
          <a:lstStyle/>
          <a:p>
            <a:pPr algn="ctr" indent="0" marL="0">
              <a:buNone/>
            </a:pPr>
            <a:r>
              <a:rPr lang="en-US" sz="1700" b="1" dirty="0">
                <a:solidFill>
                  <a:srgbClr val="1A1A1A"/>
                </a:solidFill>
                <a:latin typeface="Calibri" pitchFamily="34" charset="0"/>
                <a:ea typeface="Calibri" pitchFamily="34" charset="-122"/>
                <a:cs typeface="Calibri" pitchFamily="34" charset="-120"/>
              </a:rPr>
              <a:t>Out of scope or deferred</a:t>
            </a:r>
            <a:endParaRPr lang="en-US" sz="1700" dirty="0"/>
          </a:p>
        </p:txBody>
      </p:sp>
      <p:sp>
        <p:nvSpPr>
          <p:cNvPr id="16" name="Out of scope or deferred0"/>
          <p:cNvSpPr/>
          <p:nvPr/>
        </p:nvSpPr>
        <p:spPr>
          <a:xfrm>
            <a:off x="6172200" y="1828800"/>
            <a:ext cx="5440680" cy="868680"/>
          </a:xfrm>
          <a:prstGeom prst="roundRect">
            <a:avLst>
              <a:gd name="adj" fmla="val 8421"/>
            </a:avLst>
          </a:prstGeom>
          <a:solidFill>
            <a:srgbClr val="F4F7F7"/>
          </a:solidFill>
          <a:ln/>
        </p:spPr>
      </p:sp>
      <p:sp>
        <p:nvSpPr>
          <p:cNvPr id="17" name="Text 15"/>
          <p:cNvSpPr txBox="1"/>
          <p:nvPr/>
        </p:nvSpPr>
        <p:spPr>
          <a:xfrm>
            <a:off x="6309360" y="186537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Other WORTS services</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Mandated constraint: Furniture Request service only</a:t>
            </a:r>
            <a:endParaRPr lang="en-US" sz="1400" dirty="0"/>
          </a:p>
        </p:txBody>
      </p:sp>
      <p:sp>
        <p:nvSpPr>
          <p:cNvPr id="18" name="Out of scope or deferred1"/>
          <p:cNvSpPr/>
          <p:nvPr/>
        </p:nvSpPr>
        <p:spPr>
          <a:xfrm>
            <a:off x="6172200" y="2788920"/>
            <a:ext cx="5440680" cy="868680"/>
          </a:xfrm>
          <a:prstGeom prst="roundRect">
            <a:avLst>
              <a:gd name="adj" fmla="val 8421"/>
            </a:avLst>
          </a:prstGeom>
          <a:solidFill>
            <a:srgbClr val="F4F7F7"/>
          </a:solidFill>
          <a:ln/>
        </p:spPr>
      </p:sp>
      <p:sp>
        <p:nvSpPr>
          <p:cNvPr id="19" name="Text 17"/>
          <p:cNvSpPr txBox="1"/>
          <p:nvPr/>
        </p:nvSpPr>
        <p:spPr>
          <a:xfrm>
            <a:off x="6309360" y="282549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Direct SnapTracker and OneGX/SAP integrations</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Unconfirmed; the client will handle integration inside PRISM</a:t>
            </a:r>
            <a:endParaRPr lang="en-US" sz="1400" dirty="0"/>
          </a:p>
        </p:txBody>
      </p:sp>
      <p:sp>
        <p:nvSpPr>
          <p:cNvPr id="20" name="Out of scope or deferred2"/>
          <p:cNvSpPr/>
          <p:nvPr/>
        </p:nvSpPr>
        <p:spPr>
          <a:xfrm>
            <a:off x="6172200" y="3749040"/>
            <a:ext cx="5440680" cy="868680"/>
          </a:xfrm>
          <a:prstGeom prst="roundRect">
            <a:avLst>
              <a:gd name="adj" fmla="val 8421"/>
            </a:avLst>
          </a:prstGeom>
          <a:solidFill>
            <a:srgbClr val="F4F7F7"/>
          </a:solidFill>
          <a:ln/>
        </p:spPr>
      </p:sp>
      <p:sp>
        <p:nvSpPr>
          <p:cNvPr id="21" name="Text 19"/>
          <p:cNvSpPr txBox="1"/>
          <p:nvPr/>
        </p:nvSpPr>
        <p:spPr>
          <a:xfrm>
            <a:off x="6309360" y="378561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Historical WORTS migration</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Not confirmed by the client</a:t>
            </a:r>
            <a:endParaRPr lang="en-US" sz="1400" dirty="0"/>
          </a:p>
        </p:txBody>
      </p:sp>
      <p:sp>
        <p:nvSpPr>
          <p:cNvPr id="22" name="Out of scope or deferred3"/>
          <p:cNvSpPr/>
          <p:nvPr/>
        </p:nvSpPr>
        <p:spPr>
          <a:xfrm>
            <a:off x="6172200" y="4709160"/>
            <a:ext cx="5440680" cy="868680"/>
          </a:xfrm>
          <a:prstGeom prst="roundRect">
            <a:avLst>
              <a:gd name="adj" fmla="val 8421"/>
            </a:avLst>
          </a:prstGeom>
          <a:solidFill>
            <a:srgbClr val="F4F7F7"/>
          </a:solidFill>
          <a:ln/>
        </p:spPr>
      </p:sp>
      <p:sp>
        <p:nvSpPr>
          <p:cNvPr id="23" name="Text 21"/>
          <p:cNvSpPr txBox="1"/>
          <p:nvPr/>
        </p:nvSpPr>
        <p:spPr>
          <a:xfrm>
            <a:off x="6309360" y="4745736"/>
            <a:ext cx="5166360" cy="804672"/>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Vendor-facing workflow</a:t>
            </a:r>
            <a:endParaRPr lang="en-US" sz="1400" dirty="0"/>
          </a:p>
          <a:p>
            <a:pPr indent="0" marL="0">
              <a:buNone/>
            </a:pPr>
            <a:r>
              <a:rPr lang="en-US" sz="1400" dirty="0">
                <a:solidFill>
                  <a:srgbClr val="3D5252"/>
                </a:solidFill>
                <a:latin typeface="Calibri" pitchFamily="34" charset="0"/>
                <a:ea typeface="Calibri" pitchFamily="34" charset="-122"/>
                <a:cs typeface="Calibri" pitchFamily="34" charset="-120"/>
              </a:rPr>
              <a:t>Why: Suppliers and installers do not transact in the product</a:t>
            </a:r>
            <a:endParaRPr lang="en-US" sz="1400" dirty="0"/>
          </a:p>
        </p:txBody>
      </p:sp>
      <p:sp>
        <p:nvSpPr>
          <p:cNvPr id="24" name="principle"/>
          <p:cNvSpPr/>
          <p:nvPr/>
        </p:nvSpPr>
        <p:spPr>
          <a:xfrm>
            <a:off x="548640" y="5715000"/>
            <a:ext cx="11064240" cy="548640"/>
          </a:xfrm>
          <a:prstGeom prst="roundRect">
            <a:avLst>
              <a:gd name="adj" fmla="val 13333"/>
            </a:avLst>
          </a:prstGeom>
          <a:solidFill>
            <a:srgbClr val="FFF6B6"/>
          </a:solidFill>
          <a:ln/>
        </p:spPr>
      </p:sp>
      <p:sp>
        <p:nvSpPr>
          <p:cNvPr id="25" name="Text 23"/>
          <p:cNvSpPr txBox="1"/>
          <p:nvPr/>
        </p:nvSpPr>
        <p:spPr>
          <a:xfrm>
            <a:off x="685800" y="5715000"/>
            <a:ext cx="10789920" cy="548640"/>
          </a:xfrm>
          <a:prstGeom prst="rect">
            <a:avLst/>
          </a:prstGeom>
          <a:noFill/>
          <a:ln/>
        </p:spPr>
        <p:txBody>
          <a:bodyPr wrap="square" lIns="1016" tIns="1016" rIns="1016" bIns="1016"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Scope principle: </a:t>
            </a:r>
            <a:pPr indent="0" marL="0">
              <a:buNone/>
            </a:pPr>
            <a:r>
              <a:rPr lang="en-US" sz="1400" dirty="0">
                <a:solidFill>
                  <a:schemeClr val="tx1"/>
                </a:solidFill>
                <a:latin typeface="Calibri" pitchFamily="34" charset="0"/>
                <a:ea typeface="Calibri" pitchFamily="34" charset="-122"/>
                <a:cs typeface="Calibri" pitchFamily="34" charset="-120"/>
              </a:rPr>
              <a:t>include the data needed to submit, follow, manage, fulfil and measure Furniture Requests; acknowledge other systems without turning an unconfirmed integration into a requirement.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TWO  |  THE PIPELINE END TO END</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Five stages from source to sink, with the controls on the hand-offs</a:t>
            </a:r>
            <a:endParaRPr lang="en-US" sz="3000" dirty="0"/>
          </a:p>
        </p:txBody>
      </p:sp>
      <p:pic>
        <p:nvPicPr>
          <p:cNvPr id="4" name="Miro pipeline image" descr="Miro pipeline: scope boundary, five stages Generate, Collect, Keep and Shape, Store, Use with owners, controls A V F M S on the connectors, three kinds of sink, and the loop">    </p:cNvPr>
          <p:cNvPicPr>
            <a:picLocks noChangeAspect="1"/>
          </p:cNvPicPr>
          <p:nvPr/>
        </p:nvPicPr>
        <p:blipFill>
          <a:blip r:embed="rId1"/>
          <a:stretch>
            <a:fillRect/>
          </a:stretch>
        </p:blipFill>
        <p:spPr>
          <a:xfrm>
            <a:off x="548640" y="1143000"/>
            <a:ext cx="11064240" cy="4360612"/>
          </a:xfrm>
          <a:prstGeom prst="rect">
            <a:avLst/>
          </a:prstGeom>
        </p:spPr>
      </p:pic>
      <p:sp>
        <p:nvSpPr>
          <p:cNvPr id="5" name="link"/>
          <p:cNvSpPr/>
          <p:nvPr/>
        </p:nvSpPr>
        <p:spPr>
          <a:xfrm>
            <a:off x="548640" y="5640772"/>
            <a:ext cx="11064240" cy="502920"/>
          </a:xfrm>
          <a:prstGeom prst="roundRect">
            <a:avLst>
              <a:gd name="adj" fmla="val 14545"/>
            </a:avLst>
          </a:prstGeom>
          <a:solidFill>
            <a:srgbClr val="EEF4F3"/>
          </a:solidFill>
          <a:ln/>
        </p:spPr>
      </p:sp>
      <p:sp>
        <p:nvSpPr>
          <p:cNvPr id="6" name="Text 3"/>
          <p:cNvSpPr txBox="1"/>
          <p:nvPr/>
        </p:nvSpPr>
        <p:spPr>
          <a:xfrm>
            <a:off x="685800" y="5640772"/>
            <a:ext cx="10789920" cy="502920"/>
          </a:xfrm>
          <a:prstGeom prst="rect">
            <a:avLst/>
          </a:prstGeom>
          <a:noFill/>
          <a:ln/>
        </p:spPr>
        <p:txBody>
          <a:bodyPr wrap="square" lIns="635" tIns="635" rIns="635" bIns="635" rtlCol="0" anchor="ctr"/>
          <a:lstStyle/>
          <a:p>
            <a:pPr indent="0" marL="0">
              <a:buNone/>
            </a:pPr>
            <a:r>
              <a:rPr lang="en-US" sz="1400" b="1" dirty="0">
                <a:solidFill>
                  <a:srgbClr val="000000"/>
                </a:solidFill>
              </a:rPr>
              <a:t>Miro board (view access for anyone with the link): </a:t>
            </a:r>
            <a:pPr indent="0" marL="0">
              <a:buNone/>
            </a:pPr>
            <a:r>
              <a:rPr lang="en-US" sz="14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https://miro.com/app/board/uXjVHidlV4o=/?share_link_id=453586022199</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TWO  |  SOURCE TO SINK, AND WHO ANSWERS FOR IT</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Request data from source to sink, with an owner at every hop</a:t>
            </a:r>
            <a:endParaRPr lang="en-US" sz="3000" dirty="0"/>
          </a:p>
        </p:txBody>
      </p:sp>
      <p:sp>
        <p:nvSpPr>
          <p:cNvPr id="4" name="Text 2"/>
          <p:cNvSpPr txBox="1"/>
          <p:nvPr/>
        </p:nvSpPr>
        <p:spPr>
          <a:xfrm>
            <a:off x="548640" y="1115568"/>
            <a:ext cx="1783080" cy="310896"/>
          </a:xfrm>
          <a:prstGeom prst="rect">
            <a:avLst/>
          </a:prstGeom>
          <a:noFill/>
          <a:ln/>
        </p:spPr>
        <p:txBody>
          <a:bodyPr wrap="square" lIns="1016" tIns="1016" rIns="1016" bIns="1016" rtlCol="0" anchor="b"/>
          <a:lstStyle/>
          <a:p>
            <a:pPr indent="0" marL="0">
              <a:buNone/>
            </a:pPr>
            <a:r>
              <a:rPr lang="en-US" sz="1200" b="1" dirty="0">
                <a:solidFill>
                  <a:schemeClr val="accent1"/>
                </a:solidFill>
                <a:latin typeface="Calibri" pitchFamily="34" charset="0"/>
                <a:ea typeface="Calibri" pitchFamily="34" charset="-122"/>
                <a:cs typeface="Calibri" pitchFamily="34" charset="-120"/>
              </a:rPr>
              <a:t>Hop</a:t>
            </a:r>
            <a:endParaRPr lang="en-US" sz="1200" dirty="0"/>
          </a:p>
        </p:txBody>
      </p:sp>
      <p:sp>
        <p:nvSpPr>
          <p:cNvPr id="5" name="Text 3"/>
          <p:cNvSpPr txBox="1"/>
          <p:nvPr/>
        </p:nvSpPr>
        <p:spPr>
          <a:xfrm>
            <a:off x="2377440" y="1115568"/>
            <a:ext cx="3154680" cy="310896"/>
          </a:xfrm>
          <a:prstGeom prst="rect">
            <a:avLst/>
          </a:prstGeom>
          <a:noFill/>
          <a:ln/>
        </p:spPr>
        <p:txBody>
          <a:bodyPr wrap="square" lIns="1016" tIns="1016" rIns="1016" bIns="1016" rtlCol="0" anchor="b"/>
          <a:lstStyle/>
          <a:p>
            <a:pPr indent="0" marL="0">
              <a:buNone/>
            </a:pPr>
            <a:r>
              <a:rPr lang="en-US" sz="1200" b="1" dirty="0">
                <a:solidFill>
                  <a:schemeClr val="accent1"/>
                </a:solidFill>
                <a:latin typeface="Calibri" pitchFamily="34" charset="0"/>
                <a:ea typeface="Calibri" pitchFamily="34" charset="-122"/>
                <a:cs typeface="Calibri" pitchFamily="34" charset="-120"/>
              </a:rPr>
              <a:t>What moves</a:t>
            </a:r>
            <a:endParaRPr lang="en-US" sz="1200" dirty="0"/>
          </a:p>
        </p:txBody>
      </p:sp>
      <p:sp>
        <p:nvSpPr>
          <p:cNvPr id="6" name="Text 4"/>
          <p:cNvSpPr txBox="1"/>
          <p:nvPr/>
        </p:nvSpPr>
        <p:spPr>
          <a:xfrm>
            <a:off x="5577840" y="1115568"/>
            <a:ext cx="1463040" cy="310896"/>
          </a:xfrm>
          <a:prstGeom prst="rect">
            <a:avLst/>
          </a:prstGeom>
          <a:noFill/>
          <a:ln/>
        </p:spPr>
        <p:txBody>
          <a:bodyPr wrap="square" lIns="1016" tIns="1016" rIns="1016" bIns="1016" rtlCol="0" anchor="b"/>
          <a:lstStyle/>
          <a:p>
            <a:pPr indent="0" marL="0">
              <a:buNone/>
            </a:pPr>
            <a:r>
              <a:rPr lang="en-US" sz="1200" b="1" dirty="0">
                <a:solidFill>
                  <a:schemeClr val="accent1"/>
                </a:solidFill>
                <a:latin typeface="Calibri" pitchFamily="34" charset="0"/>
                <a:ea typeface="Calibri" pitchFamily="34" charset="-122"/>
                <a:cs typeface="Calibri" pitchFamily="34" charset="-120"/>
              </a:rPr>
              <a:t>Entered by</a:t>
            </a:r>
            <a:endParaRPr lang="en-US" sz="1200" dirty="0"/>
          </a:p>
        </p:txBody>
      </p:sp>
      <p:sp>
        <p:nvSpPr>
          <p:cNvPr id="7" name="Text 5"/>
          <p:cNvSpPr txBox="1"/>
          <p:nvPr/>
        </p:nvSpPr>
        <p:spPr>
          <a:xfrm>
            <a:off x="7086600" y="1115568"/>
            <a:ext cx="1828800" cy="310896"/>
          </a:xfrm>
          <a:prstGeom prst="rect">
            <a:avLst/>
          </a:prstGeom>
          <a:noFill/>
          <a:ln/>
        </p:spPr>
        <p:txBody>
          <a:bodyPr wrap="square" lIns="1016" tIns="1016" rIns="1016" bIns="1016" rtlCol="0" anchor="b"/>
          <a:lstStyle/>
          <a:p>
            <a:pPr indent="0" marL="0">
              <a:buNone/>
            </a:pPr>
            <a:r>
              <a:rPr lang="en-US" sz="1200" b="1" dirty="0">
                <a:solidFill>
                  <a:schemeClr val="accent1"/>
                </a:solidFill>
                <a:latin typeface="Calibri" pitchFamily="34" charset="0"/>
                <a:ea typeface="Calibri" pitchFamily="34" charset="-122"/>
                <a:cs typeface="Calibri" pitchFamily="34" charset="-120"/>
              </a:rPr>
              <a:t>Accountable</a:t>
            </a:r>
            <a:endParaRPr lang="en-US" sz="1200" dirty="0"/>
          </a:p>
        </p:txBody>
      </p:sp>
      <p:sp>
        <p:nvSpPr>
          <p:cNvPr id="8" name="hop0"/>
          <p:cNvSpPr/>
          <p:nvPr/>
        </p:nvSpPr>
        <p:spPr>
          <a:xfrm>
            <a:off x="548640" y="1481328"/>
            <a:ext cx="1783080" cy="713232"/>
          </a:xfrm>
          <a:prstGeom prst="roundRect">
            <a:avLst>
              <a:gd name="adj" fmla="val 10256"/>
            </a:avLst>
          </a:prstGeom>
          <a:solidFill>
            <a:srgbClr val="C6DCFF"/>
          </a:solidFill>
          <a:ln/>
        </p:spPr>
      </p:sp>
      <p:sp>
        <p:nvSpPr>
          <p:cNvPr id="9" name="Text 7"/>
          <p:cNvSpPr txBox="1"/>
          <p:nvPr/>
        </p:nvSpPr>
        <p:spPr>
          <a:xfrm>
            <a:off x="594360" y="1481328"/>
            <a:ext cx="1691640" cy="713232"/>
          </a:xfrm>
          <a:prstGeom prst="rect">
            <a:avLst/>
          </a:prstGeom>
          <a:noFill/>
          <a:ln/>
        </p:spPr>
        <p:txBody>
          <a:bodyPr wrap="square" lIns="1016" tIns="1016" rIns="1016" bIns="1016"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1  Need is born</a:t>
            </a:r>
            <a:endParaRPr lang="en-US" sz="1300" dirty="0"/>
          </a:p>
        </p:txBody>
      </p:sp>
      <p:sp>
        <p:nvSpPr>
          <p:cNvPr id="10" name="moves0"/>
          <p:cNvSpPr/>
          <p:nvPr/>
        </p:nvSpPr>
        <p:spPr>
          <a:xfrm>
            <a:off x="2377440" y="1481328"/>
            <a:ext cx="3154680" cy="713232"/>
          </a:xfrm>
          <a:prstGeom prst="roundRect">
            <a:avLst>
              <a:gd name="adj" fmla="val 10256"/>
            </a:avLst>
          </a:prstGeom>
          <a:solidFill>
            <a:srgbClr val="F4F7F7"/>
          </a:solidFill>
          <a:ln/>
        </p:spPr>
      </p:sp>
      <p:sp>
        <p:nvSpPr>
          <p:cNvPr id="11" name="Text 9"/>
          <p:cNvSpPr txBox="1"/>
          <p:nvPr/>
        </p:nvSpPr>
        <p:spPr>
          <a:xfrm>
            <a:off x="2414016" y="1481328"/>
            <a:ext cx="308152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Item, quantity, location, reason</a:t>
            </a:r>
            <a:endParaRPr lang="en-US" sz="1150" dirty="0"/>
          </a:p>
        </p:txBody>
      </p:sp>
      <p:sp>
        <p:nvSpPr>
          <p:cNvPr id="12" name="entered0"/>
          <p:cNvSpPr/>
          <p:nvPr/>
        </p:nvSpPr>
        <p:spPr>
          <a:xfrm>
            <a:off x="5577840" y="1481328"/>
            <a:ext cx="1463040" cy="713232"/>
          </a:xfrm>
          <a:prstGeom prst="roundRect">
            <a:avLst>
              <a:gd name="adj" fmla="val 10256"/>
            </a:avLst>
          </a:prstGeom>
          <a:solidFill>
            <a:srgbClr val="FFE2B8"/>
          </a:solidFill>
          <a:ln/>
        </p:spPr>
      </p:sp>
      <p:sp>
        <p:nvSpPr>
          <p:cNvPr id="13" name="Text 11"/>
          <p:cNvSpPr txBox="1"/>
          <p:nvPr/>
        </p:nvSpPr>
        <p:spPr>
          <a:xfrm>
            <a:off x="5614416" y="1481328"/>
            <a:ext cx="138988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Requester, by email, Teams or phone</a:t>
            </a:r>
            <a:endParaRPr lang="en-US" sz="1150" dirty="0"/>
          </a:p>
        </p:txBody>
      </p:sp>
      <p:sp>
        <p:nvSpPr>
          <p:cNvPr id="14" name="acct0"/>
          <p:cNvSpPr/>
          <p:nvPr/>
        </p:nvSpPr>
        <p:spPr>
          <a:xfrm>
            <a:off x="7086600" y="1481328"/>
            <a:ext cx="1828800" cy="713232"/>
          </a:xfrm>
          <a:prstGeom prst="roundRect">
            <a:avLst>
              <a:gd name="adj" fmla="val 10256"/>
            </a:avLst>
          </a:prstGeom>
          <a:solidFill>
            <a:srgbClr val="FFE2B8"/>
          </a:solidFill>
          <a:ln/>
        </p:spPr>
      </p:sp>
      <p:sp>
        <p:nvSpPr>
          <p:cNvPr id="15" name="Text 13"/>
          <p:cNvSpPr txBox="1"/>
          <p:nvPr/>
        </p:nvSpPr>
        <p:spPr>
          <a:xfrm>
            <a:off x="7123176" y="1481328"/>
            <a:ext cx="175564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The requester, for what they state</a:t>
            </a:r>
            <a:endParaRPr lang="en-US" sz="1150" dirty="0"/>
          </a:p>
        </p:txBody>
      </p:sp>
      <p:sp>
        <p:nvSpPr>
          <p:cNvPr id="16" name="Shape 14"/>
          <p:cNvSpPr/>
          <p:nvPr/>
        </p:nvSpPr>
        <p:spPr>
          <a:xfrm>
            <a:off x="777240" y="2212848"/>
            <a:ext cx="182880" cy="164592"/>
          </a:xfrm>
          <a:prstGeom prst="downArrow">
            <a:avLst/>
          </a:prstGeom>
          <a:solidFill>
            <a:srgbClr val="E8A33D"/>
          </a:solidFill>
          <a:ln/>
        </p:spPr>
      </p:sp>
      <p:sp>
        <p:nvSpPr>
          <p:cNvPr id="17" name="Text 15"/>
          <p:cNvSpPr txBox="1"/>
          <p:nvPr/>
        </p:nvSpPr>
        <p:spPr>
          <a:xfrm>
            <a:off x="1005840" y="2194560"/>
            <a:ext cx="1371600" cy="201168"/>
          </a:xfrm>
          <a:prstGeom prst="rect">
            <a:avLst/>
          </a:prstGeom>
          <a:noFill/>
          <a:ln/>
        </p:spPr>
        <p:txBody>
          <a:bodyPr wrap="square" lIns="0" tIns="0" rIns="0" bIns="0" rtlCol="0" anchor="ctr"/>
          <a:lstStyle/>
          <a:p>
            <a:pPr indent="0" marL="0">
              <a:buNone/>
            </a:pPr>
            <a:r>
              <a:rPr lang="en-US" sz="1000" b="1" i="1" dirty="0">
                <a:solidFill>
                  <a:schemeClr val="accent1"/>
                </a:solidFill>
                <a:latin typeface="Calibri" pitchFamily="34" charset="0"/>
                <a:ea typeface="Calibri" pitchFamily="34" charset="-122"/>
                <a:cs typeface="Calibri" pitchFamily="34" charset="-120"/>
              </a:rPr>
              <a:t>A  authenticate</a:t>
            </a:r>
            <a:endParaRPr lang="en-US" sz="1000" dirty="0"/>
          </a:p>
        </p:txBody>
      </p:sp>
      <p:sp>
        <p:nvSpPr>
          <p:cNvPr id="18" name="hop1"/>
          <p:cNvSpPr/>
          <p:nvPr/>
        </p:nvSpPr>
        <p:spPr>
          <a:xfrm>
            <a:off x="548640" y="2395728"/>
            <a:ext cx="1783080" cy="713232"/>
          </a:xfrm>
          <a:prstGeom prst="roundRect">
            <a:avLst>
              <a:gd name="adj" fmla="val 10256"/>
            </a:avLst>
          </a:prstGeom>
          <a:solidFill>
            <a:srgbClr val="C6DCFF"/>
          </a:solidFill>
          <a:ln/>
        </p:spPr>
      </p:sp>
      <p:sp>
        <p:nvSpPr>
          <p:cNvPr id="19" name="Text 17"/>
          <p:cNvSpPr txBox="1"/>
          <p:nvPr/>
        </p:nvSpPr>
        <p:spPr>
          <a:xfrm>
            <a:off x="594360" y="2395728"/>
            <a:ext cx="1691640" cy="713232"/>
          </a:xfrm>
          <a:prstGeom prst="rect">
            <a:avLst/>
          </a:prstGeom>
          <a:noFill/>
          <a:ln/>
        </p:spPr>
        <p:txBody>
          <a:bodyPr wrap="square" lIns="1016" tIns="1016" rIns="1016" bIns="1016"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2  Request is entered</a:t>
            </a:r>
            <a:endParaRPr lang="en-US" sz="1300" dirty="0"/>
          </a:p>
        </p:txBody>
      </p:sp>
      <p:sp>
        <p:nvSpPr>
          <p:cNvPr id="20" name="moves1"/>
          <p:cNvSpPr/>
          <p:nvPr/>
        </p:nvSpPr>
        <p:spPr>
          <a:xfrm>
            <a:off x="2377440" y="2395728"/>
            <a:ext cx="3154680" cy="713232"/>
          </a:xfrm>
          <a:prstGeom prst="roundRect">
            <a:avLst>
              <a:gd name="adj" fmla="val 10256"/>
            </a:avLst>
          </a:prstGeom>
          <a:solidFill>
            <a:srgbClr val="F4F7F7"/>
          </a:solidFill>
          <a:ln/>
        </p:spPr>
      </p:sp>
      <p:sp>
        <p:nvSpPr>
          <p:cNvPr id="21" name="Text 19"/>
          <p:cNvSpPr txBox="1"/>
          <p:nvPr/>
        </p:nvSpPr>
        <p:spPr>
          <a:xfrm>
            <a:off x="2414016" y="2395728"/>
            <a:ext cx="308152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The same details in the guided form, plus type, required date and attachments; requester and building pre-filled from PRISM Core</a:t>
            </a:r>
            <a:endParaRPr lang="en-US" sz="1150" dirty="0"/>
          </a:p>
        </p:txBody>
      </p:sp>
      <p:sp>
        <p:nvSpPr>
          <p:cNvPr id="22" name="entered1"/>
          <p:cNvSpPr/>
          <p:nvPr/>
        </p:nvSpPr>
        <p:spPr>
          <a:xfrm>
            <a:off x="5577840" y="2395728"/>
            <a:ext cx="1463040" cy="713232"/>
          </a:xfrm>
          <a:prstGeom prst="roundRect">
            <a:avLst>
              <a:gd name="adj" fmla="val 10256"/>
            </a:avLst>
          </a:prstGeom>
          <a:solidFill>
            <a:srgbClr val="FFE2B8"/>
          </a:solidFill>
          <a:ln/>
        </p:spPr>
      </p:sp>
      <p:sp>
        <p:nvSpPr>
          <p:cNvPr id="23" name="Text 21"/>
          <p:cNvSpPr txBox="1"/>
          <p:nvPr/>
        </p:nvSpPr>
        <p:spPr>
          <a:xfrm>
            <a:off x="5614416" y="2395728"/>
            <a:ext cx="138988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CMAC</a:t>
            </a:r>
            <a:endParaRPr lang="en-US" sz="1150" dirty="0"/>
          </a:p>
        </p:txBody>
      </p:sp>
      <p:sp>
        <p:nvSpPr>
          <p:cNvPr id="24" name="acct1"/>
          <p:cNvSpPr/>
          <p:nvPr/>
        </p:nvSpPr>
        <p:spPr>
          <a:xfrm>
            <a:off x="7086600" y="2395728"/>
            <a:ext cx="1828800" cy="713232"/>
          </a:xfrm>
          <a:prstGeom prst="roundRect">
            <a:avLst>
              <a:gd name="adj" fmla="val 10256"/>
            </a:avLst>
          </a:prstGeom>
          <a:solidFill>
            <a:srgbClr val="FFC6C6"/>
          </a:solidFill>
          <a:ln/>
        </p:spPr>
      </p:sp>
      <p:sp>
        <p:nvSpPr>
          <p:cNvPr id="25" name="Text 23"/>
          <p:cNvSpPr txBox="1"/>
          <p:nvPr/>
        </p:nvSpPr>
        <p:spPr>
          <a:xfrm>
            <a:off x="7123176" y="2395728"/>
            <a:ext cx="175564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CMAC (Proposed); PRISM Core owner for pre-filled data (Open)</a:t>
            </a:r>
            <a:endParaRPr lang="en-US" sz="1150" dirty="0"/>
          </a:p>
        </p:txBody>
      </p:sp>
      <p:sp>
        <p:nvSpPr>
          <p:cNvPr id="26" name="Shape 24"/>
          <p:cNvSpPr/>
          <p:nvPr/>
        </p:nvSpPr>
        <p:spPr>
          <a:xfrm>
            <a:off x="777240" y="3127248"/>
            <a:ext cx="182880" cy="164592"/>
          </a:xfrm>
          <a:prstGeom prst="downArrow">
            <a:avLst/>
          </a:prstGeom>
          <a:solidFill>
            <a:srgbClr val="E8A33D"/>
          </a:solidFill>
          <a:ln/>
        </p:spPr>
      </p:sp>
      <p:sp>
        <p:nvSpPr>
          <p:cNvPr id="27" name="Text 25"/>
          <p:cNvSpPr txBox="1"/>
          <p:nvPr/>
        </p:nvSpPr>
        <p:spPr>
          <a:xfrm>
            <a:off x="1005840" y="3108960"/>
            <a:ext cx="1371600" cy="201168"/>
          </a:xfrm>
          <a:prstGeom prst="rect">
            <a:avLst/>
          </a:prstGeom>
          <a:noFill/>
          <a:ln/>
        </p:spPr>
        <p:txBody>
          <a:bodyPr wrap="square" lIns="0" tIns="0" rIns="0" bIns="0" rtlCol="0" anchor="ctr"/>
          <a:lstStyle/>
          <a:p>
            <a:pPr indent="0" marL="0">
              <a:buNone/>
            </a:pPr>
            <a:r>
              <a:rPr lang="en-US" sz="1000" b="1" i="1" dirty="0">
                <a:solidFill>
                  <a:schemeClr val="accent1"/>
                </a:solidFill>
                <a:latin typeface="Calibri" pitchFamily="34" charset="0"/>
                <a:ea typeface="Calibri" pitchFamily="34" charset="-122"/>
                <a:cs typeface="Calibri" pitchFamily="34" charset="-120"/>
              </a:rPr>
              <a:t>V  validate</a:t>
            </a:r>
            <a:endParaRPr lang="en-US" sz="1000" dirty="0"/>
          </a:p>
        </p:txBody>
      </p:sp>
      <p:sp>
        <p:nvSpPr>
          <p:cNvPr id="28" name="hop2"/>
          <p:cNvSpPr/>
          <p:nvPr/>
        </p:nvSpPr>
        <p:spPr>
          <a:xfrm>
            <a:off x="548640" y="3310128"/>
            <a:ext cx="1783080" cy="713232"/>
          </a:xfrm>
          <a:prstGeom prst="roundRect">
            <a:avLst>
              <a:gd name="adj" fmla="val 10256"/>
            </a:avLst>
          </a:prstGeom>
          <a:solidFill>
            <a:srgbClr val="C6DCFF"/>
          </a:solidFill>
          <a:ln/>
        </p:spPr>
      </p:sp>
      <p:sp>
        <p:nvSpPr>
          <p:cNvPr id="29" name="Text 27"/>
          <p:cNvSpPr txBox="1"/>
          <p:nvPr/>
        </p:nvSpPr>
        <p:spPr>
          <a:xfrm>
            <a:off x="594360" y="3310128"/>
            <a:ext cx="1691640" cy="713232"/>
          </a:xfrm>
          <a:prstGeom prst="rect">
            <a:avLst/>
          </a:prstGeom>
          <a:noFill/>
          <a:ln/>
        </p:spPr>
        <p:txBody>
          <a:bodyPr wrap="square" lIns="1016" tIns="1016" rIns="1016" bIns="1016"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3  Checked and shaped</a:t>
            </a:r>
            <a:endParaRPr lang="en-US" sz="1300" dirty="0"/>
          </a:p>
        </p:txBody>
      </p:sp>
      <p:sp>
        <p:nvSpPr>
          <p:cNvPr id="30" name="moves2"/>
          <p:cNvSpPr/>
          <p:nvPr/>
        </p:nvSpPr>
        <p:spPr>
          <a:xfrm>
            <a:off x="2377440" y="3310128"/>
            <a:ext cx="3154680" cy="713232"/>
          </a:xfrm>
          <a:prstGeom prst="roundRect">
            <a:avLst>
              <a:gd name="adj" fmla="val 10256"/>
            </a:avLst>
          </a:prstGeom>
          <a:solidFill>
            <a:srgbClr val="F4F7F7"/>
          </a:solidFill>
          <a:ln/>
        </p:spPr>
      </p:sp>
      <p:sp>
        <p:nvSpPr>
          <p:cNvPr id="31" name="Text 29"/>
          <p:cNvSpPr txBox="1"/>
          <p:nvPr/>
        </p:nvSpPr>
        <p:spPr>
          <a:xfrm>
            <a:off x="2414016" y="3310128"/>
            <a:ext cx="308152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Kept as submitted (bronze); one Work Order ID, standard status, required fields and duplicates checked (silver)</a:t>
            </a:r>
            <a:endParaRPr lang="en-US" sz="1150" dirty="0"/>
          </a:p>
        </p:txBody>
      </p:sp>
      <p:sp>
        <p:nvSpPr>
          <p:cNvPr id="32" name="entered2"/>
          <p:cNvSpPr/>
          <p:nvPr/>
        </p:nvSpPr>
        <p:spPr>
          <a:xfrm>
            <a:off x="5577840" y="3310128"/>
            <a:ext cx="1463040" cy="713232"/>
          </a:xfrm>
          <a:prstGeom prst="roundRect">
            <a:avLst>
              <a:gd name="adj" fmla="val 10256"/>
            </a:avLst>
          </a:prstGeom>
          <a:solidFill>
            <a:srgbClr val="FFE2B8"/>
          </a:solidFill>
          <a:ln/>
        </p:spPr>
      </p:sp>
      <p:sp>
        <p:nvSpPr>
          <p:cNvPr id="33" name="Text 31"/>
          <p:cNvSpPr txBox="1"/>
          <p:nvPr/>
        </p:nvSpPr>
        <p:spPr>
          <a:xfrm>
            <a:off x="5614416" y="3310128"/>
            <a:ext cx="138988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Coordinator at review</a:t>
            </a:r>
            <a:endParaRPr lang="en-US" sz="1150" dirty="0"/>
          </a:p>
        </p:txBody>
      </p:sp>
      <p:sp>
        <p:nvSpPr>
          <p:cNvPr id="34" name="acct2"/>
          <p:cNvSpPr/>
          <p:nvPr/>
        </p:nvSpPr>
        <p:spPr>
          <a:xfrm>
            <a:off x="7086600" y="3310128"/>
            <a:ext cx="1828800" cy="713232"/>
          </a:xfrm>
          <a:prstGeom prst="roundRect">
            <a:avLst>
              <a:gd name="adj" fmla="val 10256"/>
            </a:avLst>
          </a:prstGeom>
          <a:solidFill>
            <a:srgbClr val="FFC6C6"/>
          </a:solidFill>
          <a:ln/>
        </p:spPr>
      </p:sp>
      <p:sp>
        <p:nvSpPr>
          <p:cNvPr id="35" name="Text 33"/>
          <p:cNvSpPr txBox="1"/>
          <p:nvPr/>
        </p:nvSpPr>
        <p:spPr>
          <a:xfrm>
            <a:off x="7123176" y="3310128"/>
            <a:ext cx="175564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Rules owner: Open (Proposed: Furniture Request Coordinator)</a:t>
            </a:r>
            <a:endParaRPr lang="en-US" sz="1150" dirty="0"/>
          </a:p>
        </p:txBody>
      </p:sp>
      <p:sp>
        <p:nvSpPr>
          <p:cNvPr id="36" name="Shape 34"/>
          <p:cNvSpPr/>
          <p:nvPr/>
        </p:nvSpPr>
        <p:spPr>
          <a:xfrm>
            <a:off x="777240" y="4041648"/>
            <a:ext cx="182880" cy="164592"/>
          </a:xfrm>
          <a:prstGeom prst="downArrow">
            <a:avLst/>
          </a:prstGeom>
          <a:solidFill>
            <a:srgbClr val="E8A33D"/>
          </a:solidFill>
          <a:ln/>
        </p:spPr>
      </p:sp>
      <p:sp>
        <p:nvSpPr>
          <p:cNvPr id="37" name="Text 35"/>
          <p:cNvSpPr txBox="1"/>
          <p:nvPr/>
        </p:nvSpPr>
        <p:spPr>
          <a:xfrm>
            <a:off x="1005840" y="4023360"/>
            <a:ext cx="1371600" cy="201168"/>
          </a:xfrm>
          <a:prstGeom prst="rect">
            <a:avLst/>
          </a:prstGeom>
          <a:noFill/>
          <a:ln/>
        </p:spPr>
        <p:txBody>
          <a:bodyPr wrap="square" lIns="0" tIns="0" rIns="0" bIns="0" rtlCol="0" anchor="ctr"/>
          <a:lstStyle/>
          <a:p>
            <a:pPr indent="0" marL="0">
              <a:buNone/>
            </a:pPr>
            <a:r>
              <a:rPr lang="en-US" sz="1000" b="1" i="1" dirty="0">
                <a:solidFill>
                  <a:schemeClr val="accent1"/>
                </a:solidFill>
                <a:latin typeface="Calibri" pitchFamily="34" charset="0"/>
                <a:ea typeface="Calibri" pitchFamily="34" charset="-122"/>
                <a:cs typeface="Calibri" pitchFamily="34" charset="-120"/>
              </a:rPr>
              <a:t>F  monitor</a:t>
            </a:r>
            <a:endParaRPr lang="en-US" sz="1000" dirty="0"/>
          </a:p>
        </p:txBody>
      </p:sp>
      <p:sp>
        <p:nvSpPr>
          <p:cNvPr id="38" name="hop3"/>
          <p:cNvSpPr/>
          <p:nvPr/>
        </p:nvSpPr>
        <p:spPr>
          <a:xfrm>
            <a:off x="548640" y="4224528"/>
            <a:ext cx="1783080" cy="713232"/>
          </a:xfrm>
          <a:prstGeom prst="roundRect">
            <a:avLst>
              <a:gd name="adj" fmla="val 10256"/>
            </a:avLst>
          </a:prstGeom>
          <a:solidFill>
            <a:srgbClr val="C6DCFF"/>
          </a:solidFill>
          <a:ln/>
        </p:spPr>
      </p:sp>
      <p:sp>
        <p:nvSpPr>
          <p:cNvPr id="39" name="Text 37"/>
          <p:cNvSpPr txBox="1"/>
          <p:nvPr/>
        </p:nvSpPr>
        <p:spPr>
          <a:xfrm>
            <a:off x="594360" y="4224528"/>
            <a:ext cx="1691640" cy="713232"/>
          </a:xfrm>
          <a:prstGeom prst="rect">
            <a:avLst/>
          </a:prstGeom>
          <a:noFill/>
          <a:ln/>
        </p:spPr>
        <p:txBody>
          <a:bodyPr wrap="square" lIns="1016" tIns="1016" rIns="1016" bIns="1016"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4  Stored as one record</a:t>
            </a:r>
            <a:endParaRPr lang="en-US" sz="1300" dirty="0"/>
          </a:p>
        </p:txBody>
      </p:sp>
      <p:sp>
        <p:nvSpPr>
          <p:cNvPr id="40" name="moves3"/>
          <p:cNvSpPr/>
          <p:nvPr/>
        </p:nvSpPr>
        <p:spPr>
          <a:xfrm>
            <a:off x="2377440" y="4224528"/>
            <a:ext cx="3154680" cy="713232"/>
          </a:xfrm>
          <a:prstGeom prst="roundRect">
            <a:avLst>
              <a:gd name="adj" fmla="val 10256"/>
            </a:avLst>
          </a:prstGeom>
          <a:solidFill>
            <a:srgbClr val="F4F7F7"/>
          </a:solidFill>
          <a:ln/>
        </p:spPr>
      </p:sp>
      <p:sp>
        <p:nvSpPr>
          <p:cNvPr id="41" name="Text 39"/>
          <p:cNvSpPr txBox="1"/>
          <p:nvPr/>
        </p:nvSpPr>
        <p:spPr>
          <a:xfrm>
            <a:off x="2414016" y="4224528"/>
            <a:ext cx="308152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Every change time-stamped and attributed; history never overwritten</a:t>
            </a:r>
            <a:endParaRPr lang="en-US" sz="1150" dirty="0"/>
          </a:p>
        </p:txBody>
      </p:sp>
      <p:sp>
        <p:nvSpPr>
          <p:cNvPr id="42" name="entered3"/>
          <p:cNvSpPr/>
          <p:nvPr/>
        </p:nvSpPr>
        <p:spPr>
          <a:xfrm>
            <a:off x="5577840" y="4224528"/>
            <a:ext cx="1463040" cy="713232"/>
          </a:xfrm>
          <a:prstGeom prst="roundRect">
            <a:avLst>
              <a:gd name="adj" fmla="val 10256"/>
            </a:avLst>
          </a:prstGeom>
          <a:solidFill>
            <a:srgbClr val="FFE2B8"/>
          </a:solidFill>
          <a:ln/>
        </p:spPr>
      </p:sp>
      <p:sp>
        <p:nvSpPr>
          <p:cNvPr id="43" name="Text 41"/>
          <p:cNvSpPr txBox="1"/>
          <p:nvPr/>
        </p:nvSpPr>
        <p:spPr>
          <a:xfrm>
            <a:off x="5614416" y="4224528"/>
            <a:ext cx="138988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Written by the stages above</a:t>
            </a:r>
            <a:endParaRPr lang="en-US" sz="1150" dirty="0"/>
          </a:p>
        </p:txBody>
      </p:sp>
      <p:sp>
        <p:nvSpPr>
          <p:cNvPr id="44" name="acct3"/>
          <p:cNvSpPr/>
          <p:nvPr/>
        </p:nvSpPr>
        <p:spPr>
          <a:xfrm>
            <a:off x="7086600" y="4224528"/>
            <a:ext cx="1828800" cy="713232"/>
          </a:xfrm>
          <a:prstGeom prst="roundRect">
            <a:avLst>
              <a:gd name="adj" fmla="val 10256"/>
            </a:avLst>
          </a:prstGeom>
          <a:solidFill>
            <a:srgbClr val="FFC6C6"/>
          </a:solidFill>
          <a:ln/>
        </p:spPr>
      </p:sp>
      <p:sp>
        <p:nvSpPr>
          <p:cNvPr id="45" name="Text 43"/>
          <p:cNvSpPr txBox="1"/>
          <p:nvPr/>
        </p:nvSpPr>
        <p:spPr>
          <a:xfrm>
            <a:off x="7123176" y="4224528"/>
            <a:ext cx="175564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Data owner: Open (confirm with the client)</a:t>
            </a:r>
            <a:endParaRPr lang="en-US" sz="1150" dirty="0"/>
          </a:p>
        </p:txBody>
      </p:sp>
      <p:sp>
        <p:nvSpPr>
          <p:cNvPr id="46" name="Shape 44"/>
          <p:cNvSpPr/>
          <p:nvPr/>
        </p:nvSpPr>
        <p:spPr>
          <a:xfrm>
            <a:off x="777240" y="4956048"/>
            <a:ext cx="182880" cy="164592"/>
          </a:xfrm>
          <a:prstGeom prst="downArrow">
            <a:avLst/>
          </a:prstGeom>
          <a:solidFill>
            <a:srgbClr val="E8A33D"/>
          </a:solidFill>
          <a:ln/>
        </p:spPr>
      </p:sp>
      <p:sp>
        <p:nvSpPr>
          <p:cNvPr id="47" name="Text 45"/>
          <p:cNvSpPr txBox="1"/>
          <p:nvPr/>
        </p:nvSpPr>
        <p:spPr>
          <a:xfrm>
            <a:off x="1005840" y="4937760"/>
            <a:ext cx="1371600" cy="201168"/>
          </a:xfrm>
          <a:prstGeom prst="rect">
            <a:avLst/>
          </a:prstGeom>
          <a:noFill/>
          <a:ln/>
        </p:spPr>
        <p:txBody>
          <a:bodyPr wrap="square" lIns="0" tIns="0" rIns="0" bIns="0" rtlCol="0" anchor="ctr"/>
          <a:lstStyle/>
          <a:p>
            <a:pPr indent="0" marL="0">
              <a:buNone/>
            </a:pPr>
            <a:r>
              <a:rPr lang="en-US" sz="1000" b="1" i="1" dirty="0">
                <a:solidFill>
                  <a:schemeClr val="accent1"/>
                </a:solidFill>
                <a:latin typeface="Calibri" pitchFamily="34" charset="0"/>
                <a:ea typeface="Calibri" pitchFamily="34" charset="-122"/>
                <a:cs typeface="Calibri" pitchFamily="34" charset="-120"/>
              </a:rPr>
              <a:t>M  mitigate</a:t>
            </a:r>
            <a:endParaRPr lang="en-US" sz="1000" dirty="0"/>
          </a:p>
        </p:txBody>
      </p:sp>
      <p:sp>
        <p:nvSpPr>
          <p:cNvPr id="48" name="hop4"/>
          <p:cNvSpPr/>
          <p:nvPr/>
        </p:nvSpPr>
        <p:spPr>
          <a:xfrm>
            <a:off x="548640" y="5138928"/>
            <a:ext cx="1783080" cy="713232"/>
          </a:xfrm>
          <a:prstGeom prst="roundRect">
            <a:avLst>
              <a:gd name="adj" fmla="val 10256"/>
            </a:avLst>
          </a:prstGeom>
          <a:solidFill>
            <a:srgbClr val="C6DCFF"/>
          </a:solidFill>
          <a:ln/>
        </p:spPr>
      </p:sp>
      <p:sp>
        <p:nvSpPr>
          <p:cNvPr id="49" name="Text 47"/>
          <p:cNvSpPr txBox="1"/>
          <p:nvPr/>
        </p:nvSpPr>
        <p:spPr>
          <a:xfrm>
            <a:off x="594360" y="5138928"/>
            <a:ext cx="1691640" cy="713232"/>
          </a:xfrm>
          <a:prstGeom prst="rect">
            <a:avLst/>
          </a:prstGeom>
          <a:noFill/>
          <a:ln/>
        </p:spPr>
        <p:txBody>
          <a:bodyPr wrap="square" lIns="1016" tIns="1016" rIns="1016" bIns="1016"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5  Read by the product</a:t>
            </a:r>
            <a:endParaRPr lang="en-US" sz="1300" dirty="0"/>
          </a:p>
        </p:txBody>
      </p:sp>
      <p:sp>
        <p:nvSpPr>
          <p:cNvPr id="50" name="moves4"/>
          <p:cNvSpPr/>
          <p:nvPr/>
        </p:nvSpPr>
        <p:spPr>
          <a:xfrm>
            <a:off x="2377440" y="5138928"/>
            <a:ext cx="3154680" cy="713232"/>
          </a:xfrm>
          <a:prstGeom prst="roundRect">
            <a:avLst>
              <a:gd name="adj" fmla="val 10256"/>
            </a:avLst>
          </a:prstGeom>
          <a:solidFill>
            <a:srgbClr val="F4F7F7"/>
          </a:solidFill>
          <a:ln/>
        </p:spPr>
      </p:sp>
      <p:sp>
        <p:nvSpPr>
          <p:cNvPr id="51" name="Text 49"/>
          <p:cNvSpPr txBox="1"/>
          <p:nvPr/>
        </p:nvSpPr>
        <p:spPr>
          <a:xfrm>
            <a:off x="2414016" y="5138928"/>
            <a:ext cx="308152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Status, owner, next step, history, messages</a:t>
            </a:r>
            <a:endParaRPr lang="en-US" sz="1150" dirty="0"/>
          </a:p>
        </p:txBody>
      </p:sp>
      <p:sp>
        <p:nvSpPr>
          <p:cNvPr id="52" name="entered4"/>
          <p:cNvSpPr/>
          <p:nvPr/>
        </p:nvSpPr>
        <p:spPr>
          <a:xfrm>
            <a:off x="5577840" y="5138928"/>
            <a:ext cx="1463040" cy="713232"/>
          </a:xfrm>
          <a:prstGeom prst="roundRect">
            <a:avLst>
              <a:gd name="adj" fmla="val 10256"/>
            </a:avLst>
          </a:prstGeom>
          <a:solidFill>
            <a:srgbClr val="FFE2B8"/>
          </a:solidFill>
          <a:ln/>
        </p:spPr>
      </p:sp>
      <p:sp>
        <p:nvSpPr>
          <p:cNvPr id="53" name="Text 51"/>
          <p:cNvSpPr txBox="1"/>
          <p:nvPr/>
        </p:nvSpPr>
        <p:spPr>
          <a:xfrm>
            <a:off x="5614416" y="5138928"/>
            <a:ext cx="138988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No new entry</a:t>
            </a:r>
            <a:endParaRPr lang="en-US" sz="1150" dirty="0"/>
          </a:p>
        </p:txBody>
      </p:sp>
      <p:sp>
        <p:nvSpPr>
          <p:cNvPr id="54" name="acct4"/>
          <p:cNvSpPr/>
          <p:nvPr/>
        </p:nvSpPr>
        <p:spPr>
          <a:xfrm>
            <a:off x="7086600" y="5138928"/>
            <a:ext cx="1828800" cy="713232"/>
          </a:xfrm>
          <a:prstGeom prst="roundRect">
            <a:avLst>
              <a:gd name="adj" fmla="val 10256"/>
            </a:avLst>
          </a:prstGeom>
          <a:solidFill>
            <a:srgbClr val="FFE2B8"/>
          </a:solidFill>
          <a:ln/>
        </p:spPr>
      </p:sp>
      <p:sp>
        <p:nvSpPr>
          <p:cNvPr id="55" name="Text 53"/>
          <p:cNvSpPr txBox="1"/>
          <p:nvPr/>
        </p:nvSpPr>
        <p:spPr>
          <a:xfrm>
            <a:off x="7123176" y="5138928"/>
            <a:ext cx="1755648" cy="713232"/>
          </a:xfrm>
          <a:prstGeom prst="rect">
            <a:avLst/>
          </a:prstGeom>
          <a:noFill/>
          <a:ln/>
        </p:spPr>
        <p:txBody>
          <a:bodyPr wrap="square" lIns="1016" tIns="1016" rIns="1016" bIns="1016" rtlCol="0" anchor="ctr"/>
          <a:lstStyle/>
          <a:p>
            <a:pPr indent="0" marL="0">
              <a:buNone/>
            </a:pPr>
            <a:r>
              <a:rPr lang="en-US" sz="1150" dirty="0">
                <a:solidFill>
                  <a:schemeClr val="tx1"/>
                </a:solidFill>
                <a:latin typeface="Calibri" pitchFamily="34" charset="0"/>
                <a:ea typeface="Calibri" pitchFamily="34" charset="-122"/>
                <a:cs typeface="Calibri" pitchFamily="34" charset="-120"/>
              </a:rPr>
              <a:t>Data owner, for what the views show</a:t>
            </a:r>
            <a:endParaRPr lang="en-US" sz="1150" dirty="0"/>
          </a:p>
        </p:txBody>
      </p:sp>
      <p:sp>
        <p:nvSpPr>
          <p:cNvPr id="56" name="Text 54"/>
          <p:cNvSpPr txBox="1"/>
          <p:nvPr/>
        </p:nvSpPr>
        <p:spPr>
          <a:xfrm>
            <a:off x="9144000" y="1115568"/>
            <a:ext cx="2468880" cy="310896"/>
          </a:xfrm>
          <a:prstGeom prst="rect">
            <a:avLst/>
          </a:prstGeom>
          <a:noFill/>
          <a:ln/>
        </p:spPr>
        <p:txBody>
          <a:bodyPr wrap="square" lIns="1016" tIns="1016" rIns="1016" bIns="1016" rtlCol="0" anchor="b"/>
          <a:lstStyle/>
          <a:p>
            <a:pPr indent="0" marL="0">
              <a:buNone/>
            </a:pPr>
            <a:r>
              <a:rPr lang="en-US" sz="1200" b="1" dirty="0">
                <a:solidFill>
                  <a:schemeClr val="accent1"/>
                </a:solidFill>
                <a:latin typeface="Calibri" pitchFamily="34" charset="0"/>
                <a:ea typeface="Calibri" pitchFamily="34" charset="-122"/>
                <a:cs typeface="Calibri" pitchFamily="34" charset="-120"/>
              </a:rPr>
              <a:t>Reaches the sinks (S, alarm)</a:t>
            </a:r>
            <a:endParaRPr lang="en-US" sz="1200" dirty="0"/>
          </a:p>
        </p:txBody>
      </p:sp>
      <p:sp>
        <p:nvSpPr>
          <p:cNvPr id="57" name="sink0"/>
          <p:cNvSpPr/>
          <p:nvPr/>
        </p:nvSpPr>
        <p:spPr>
          <a:xfrm>
            <a:off x="9144000" y="1481328"/>
            <a:ext cx="2468880" cy="978408"/>
          </a:xfrm>
          <a:prstGeom prst="roundRect">
            <a:avLst>
              <a:gd name="adj" fmla="val 7477"/>
            </a:avLst>
          </a:prstGeom>
          <a:solidFill>
            <a:srgbClr val="ADF0C7"/>
          </a:solidFill>
          <a:ln/>
        </p:spPr>
      </p:sp>
      <p:sp>
        <p:nvSpPr>
          <p:cNvPr id="58" name="Text 56"/>
          <p:cNvSpPr txBox="1"/>
          <p:nvPr/>
        </p:nvSpPr>
        <p:spPr>
          <a:xfrm>
            <a:off x="9180576" y="1499616"/>
            <a:ext cx="2395728" cy="941832"/>
          </a:xfrm>
          <a:prstGeom prst="rect">
            <a:avLst/>
          </a:prstGeom>
          <a:noFill/>
          <a:ln/>
        </p:spPr>
        <p:txBody>
          <a:bodyPr wrap="square" lIns="1016" tIns="1016" rIns="1016" bIns="1016" rtlCol="0" anchor="t"/>
          <a:lstStyle/>
          <a:p>
            <a:pPr indent="0" marL="0">
              <a:buNone/>
            </a:pPr>
            <a:r>
              <a:rPr lang="en-US" sz="1100" b="1" dirty="0">
                <a:solidFill>
                  <a:schemeClr val="tx1"/>
                </a:solidFill>
                <a:latin typeface="Calibri" pitchFamily="34" charset="0"/>
                <a:ea typeface="Calibri" pitchFamily="34" charset="-122"/>
                <a:cs typeface="Calibri" pitchFamily="34" charset="-120"/>
              </a:rPr>
              <a:t>Product</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CMAC request view: status, owner, next step. Coordinator queue: incomplete and duplicate flags</a:t>
            </a:r>
            <a:endParaRPr lang="en-US" sz="1100" dirty="0"/>
          </a:p>
        </p:txBody>
      </p:sp>
      <p:sp>
        <p:nvSpPr>
          <p:cNvPr id="59" name="sink1"/>
          <p:cNvSpPr/>
          <p:nvPr/>
        </p:nvSpPr>
        <p:spPr>
          <a:xfrm>
            <a:off x="9144000" y="2551176"/>
            <a:ext cx="2468880" cy="978408"/>
          </a:xfrm>
          <a:prstGeom prst="roundRect">
            <a:avLst>
              <a:gd name="adj" fmla="val 7477"/>
            </a:avLst>
          </a:prstGeom>
          <a:solidFill>
            <a:srgbClr val="ADF0C7"/>
          </a:solidFill>
          <a:ln/>
        </p:spPr>
      </p:sp>
      <p:sp>
        <p:nvSpPr>
          <p:cNvPr id="60" name="Text 58"/>
          <p:cNvSpPr txBox="1"/>
          <p:nvPr/>
        </p:nvSpPr>
        <p:spPr>
          <a:xfrm>
            <a:off x="9180576" y="2569464"/>
            <a:ext cx="2395728" cy="941832"/>
          </a:xfrm>
          <a:prstGeom prst="rect">
            <a:avLst/>
          </a:prstGeom>
          <a:noFill/>
          <a:ln/>
        </p:spPr>
        <p:txBody>
          <a:bodyPr wrap="square" lIns="1016" tIns="1016" rIns="1016" bIns="1016" rtlCol="0" anchor="t"/>
          <a:lstStyle/>
          <a:p>
            <a:pPr indent="0" marL="0">
              <a:buNone/>
            </a:pPr>
            <a:r>
              <a:rPr lang="en-US" sz="1100" b="1" dirty="0">
                <a:solidFill>
                  <a:schemeClr val="tx1"/>
                </a:solidFill>
                <a:latin typeface="Calibri" pitchFamily="34" charset="0"/>
                <a:ea typeface="Calibri" pitchFamily="34" charset="-122"/>
                <a:cs typeface="Calibri" pitchFamily="34" charset="-120"/>
              </a:rPr>
              <a:t>Measurement</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Submission time, returns for information and stage times give right first time and time in stage</a:t>
            </a:r>
            <a:endParaRPr lang="en-US" sz="1100" dirty="0"/>
          </a:p>
        </p:txBody>
      </p:sp>
      <p:sp>
        <p:nvSpPr>
          <p:cNvPr id="61" name="sink2"/>
          <p:cNvSpPr/>
          <p:nvPr/>
        </p:nvSpPr>
        <p:spPr>
          <a:xfrm>
            <a:off x="9144000" y="3621024"/>
            <a:ext cx="2468880" cy="978408"/>
          </a:xfrm>
          <a:prstGeom prst="roundRect">
            <a:avLst>
              <a:gd name="adj" fmla="val 7477"/>
            </a:avLst>
          </a:prstGeom>
          <a:solidFill>
            <a:srgbClr val="ADF0C7"/>
          </a:solidFill>
          <a:ln/>
        </p:spPr>
      </p:sp>
      <p:sp>
        <p:nvSpPr>
          <p:cNvPr id="62" name="Text 60"/>
          <p:cNvSpPr txBox="1"/>
          <p:nvPr/>
        </p:nvSpPr>
        <p:spPr>
          <a:xfrm>
            <a:off x="9180576" y="3639312"/>
            <a:ext cx="2395728" cy="941832"/>
          </a:xfrm>
          <a:prstGeom prst="rect">
            <a:avLst/>
          </a:prstGeom>
          <a:noFill/>
          <a:ln/>
        </p:spPr>
        <p:txBody>
          <a:bodyPr wrap="square" lIns="1016" tIns="1016" rIns="1016" bIns="1016" rtlCol="0" anchor="t"/>
          <a:lstStyle/>
          <a:p>
            <a:pPr indent="0" marL="0">
              <a:buNone/>
            </a:pPr>
            <a:r>
              <a:rPr lang="en-US" sz="1100" b="1" dirty="0">
                <a:solidFill>
                  <a:schemeClr val="tx1"/>
                </a:solidFill>
                <a:latin typeface="Calibri" pitchFamily="34" charset="0"/>
                <a:ea typeface="Calibri" pitchFamily="34" charset="-122"/>
                <a:cs typeface="Calibri" pitchFamily="34" charset="-120"/>
              </a:rPr>
              <a:t>Business value</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Aggregates by location, status and period; recycled preference; item and date for asset history</a:t>
            </a:r>
            <a:endParaRPr lang="en-US" sz="1100" dirty="0"/>
          </a:p>
        </p:txBody>
      </p:sp>
      <p:sp>
        <p:nvSpPr>
          <p:cNvPr id="63" name="vfails"/>
          <p:cNvSpPr/>
          <p:nvPr/>
        </p:nvSpPr>
        <p:spPr>
          <a:xfrm>
            <a:off x="9144000" y="4727448"/>
            <a:ext cx="2468880" cy="566928"/>
          </a:xfrm>
          <a:prstGeom prst="roundRect">
            <a:avLst>
              <a:gd name="adj" fmla="val 12903"/>
            </a:avLst>
          </a:prstGeom>
          <a:solidFill>
            <a:srgbClr val="FFC6C6"/>
          </a:solidFill>
          <a:ln/>
        </p:spPr>
      </p:sp>
      <p:sp>
        <p:nvSpPr>
          <p:cNvPr id="64" name="Text 62"/>
          <p:cNvSpPr txBox="1"/>
          <p:nvPr/>
        </p:nvSpPr>
        <p:spPr>
          <a:xfrm>
            <a:off x="9180576" y="4727448"/>
            <a:ext cx="2395728" cy="566928"/>
          </a:xfrm>
          <a:prstGeom prst="rect">
            <a:avLst/>
          </a:prstGeom>
          <a:noFill/>
          <a:ln/>
        </p:spPr>
        <p:txBody>
          <a:bodyPr wrap="square" lIns="1016" tIns="1016" rIns="1016" bIns="1016"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If V fails: </a:t>
            </a:r>
            <a:pPr indent="0" marL="0">
              <a:buNone/>
            </a:pPr>
            <a:r>
              <a:rPr lang="en-US" sz="1100" dirty="0">
                <a:solidFill>
                  <a:schemeClr val="tx1"/>
                </a:solidFill>
                <a:latin typeface="Calibri" pitchFamily="34" charset="0"/>
                <a:ea typeface="Calibri" pitchFamily="34" charset="-122"/>
                <a:cs typeface="Calibri" pitchFamily="34" charset="-120"/>
              </a:rPr>
              <a:t>returned to the CMAC in the request thread, then re-checked</a:t>
            </a:r>
            <a:endParaRPr lang="en-US" sz="1100" dirty="0"/>
          </a:p>
        </p:txBody>
      </p:sp>
      <p:sp>
        <p:nvSpPr>
          <p:cNvPr id="65" name="principle"/>
          <p:cNvSpPr/>
          <p:nvPr/>
        </p:nvSpPr>
        <p:spPr>
          <a:xfrm>
            <a:off x="9144000" y="5358384"/>
            <a:ext cx="2468880" cy="493776"/>
          </a:xfrm>
          <a:prstGeom prst="roundRect">
            <a:avLst>
              <a:gd name="adj" fmla="val 14815"/>
            </a:avLst>
          </a:prstGeom>
          <a:solidFill>
            <a:srgbClr val="FFF6B6"/>
          </a:solidFill>
          <a:ln/>
        </p:spPr>
      </p:sp>
      <p:sp>
        <p:nvSpPr>
          <p:cNvPr id="66" name="Text 64"/>
          <p:cNvSpPr txBox="1"/>
          <p:nvPr/>
        </p:nvSpPr>
        <p:spPr>
          <a:xfrm>
            <a:off x="9180576" y="5358384"/>
            <a:ext cx="2395728" cy="493776"/>
          </a:xfrm>
          <a:prstGeom prst="rect">
            <a:avLst/>
          </a:prstGeom>
          <a:noFill/>
          <a:ln/>
        </p:spPr>
        <p:txBody>
          <a:bodyPr wrap="square" lIns="1016" tIns="1016" rIns="1016" bIns="1016" rtlCol="0" anchor="ctr"/>
          <a:lstStyle/>
          <a:p>
            <a:pPr indent="0" marL="0">
              <a:buNone/>
            </a:pPr>
            <a:r>
              <a:rPr lang="en-US" sz="1100" b="1" dirty="0">
                <a:solidFill>
                  <a:schemeClr val="tx1"/>
                </a:solidFill>
                <a:latin typeface="Calibri" pitchFamily="34" charset="0"/>
                <a:ea typeface="Calibri" pitchFamily="34" charset="-122"/>
                <a:cs typeface="Calibri" pitchFamily="34" charset="-120"/>
              </a:rPr>
              <a:t>Entering data is not the same as being accountable for its accuracy</a:t>
            </a:r>
            <a:endParaRPr lang="en-US" sz="1100" dirty="0"/>
          </a:p>
        </p:txBody>
      </p:sp>
      <p:sp>
        <p:nvSpPr>
          <p:cNvPr id="67" name="Text 65"/>
          <p:cNvSpPr txBox="1"/>
          <p:nvPr/>
        </p:nvSpPr>
        <p:spPr>
          <a:xfrm>
            <a:off x="548640" y="5925312"/>
            <a:ext cx="11064240" cy="411480"/>
          </a:xfrm>
          <a:prstGeom prst="rect">
            <a:avLst/>
          </a:prstGeom>
          <a:noFill/>
          <a:ln/>
        </p:spPr>
        <p:txBody>
          <a:bodyPr wrap="square" lIns="1016" tIns="1016" rIns="1016" bIns="1016" rtlCol="0" anchor="ctr"/>
          <a:lstStyle/>
          <a:p>
            <a:pPr indent="0" marL="0">
              <a:buNone/>
            </a:pPr>
            <a:r>
              <a:rPr lang="en-US" sz="1100" b="1" dirty="0">
                <a:solidFill>
                  <a:srgbClr val="3D5252"/>
                </a:solidFill>
                <a:latin typeface="Calibri" pitchFamily="34" charset="0"/>
                <a:ea typeface="Calibri" pitchFamily="34" charset="-122"/>
                <a:cs typeface="Calibri" pitchFamily="34" charset="-120"/>
              </a:rPr>
              <a:t>Constraints: </a:t>
            </a:r>
            <a:pPr indent="0" marL="0">
              <a:buNone/>
            </a:pPr>
            <a:r>
              <a:rPr lang="en-US" sz="1100" dirty="0">
                <a:solidFill>
                  <a:srgbClr val="3D5252"/>
                </a:solidFill>
                <a:latin typeface="Calibri" pitchFamily="34" charset="0"/>
                <a:ea typeface="Calibri" pitchFamily="34" charset="-122"/>
                <a:cs typeface="Calibri" pitchFamily="34" charset="-120"/>
              </a:rPr>
              <a:t>human-generated and intermittent; event-driven; files 10MB, replies 5MB; role-based access, a CMAC sees only their own requests; retention to confirm; no migration or direct SnapTracker or OneGX/SAP link.</a:t>
            </a:r>
            <a:endParaRPr lang="en-US" sz="11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THREE  |  SINKS AND VALUE</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Sinks: three for the product, one to measure, four beyond it</a:t>
            </a:r>
            <a:endParaRPr lang="en-US" sz="3000" dirty="0"/>
          </a:p>
        </p:txBody>
      </p:sp>
      <p:sp>
        <p:nvSpPr>
          <p:cNvPr id="4" name="Text 2"/>
          <p:cNvSpPr txBox="1"/>
          <p:nvPr/>
        </p:nvSpPr>
        <p:spPr>
          <a:xfrm>
            <a:off x="548640" y="1143000"/>
            <a:ext cx="3611880" cy="365760"/>
          </a:xfrm>
          <a:prstGeom prst="rect">
            <a:avLst/>
          </a:prstGeom>
          <a:noFill/>
          <a:ln/>
        </p:spPr>
        <p:txBody>
          <a:bodyPr wrap="square" lIns="1016" tIns="1016" rIns="1016" bIns="1016"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Product sinks</a:t>
            </a:r>
            <a:endParaRPr lang="en-US" sz="1500" dirty="0"/>
          </a:p>
        </p:txBody>
      </p:sp>
      <p:sp>
        <p:nvSpPr>
          <p:cNvPr id="5" name="Guided submission"/>
          <p:cNvSpPr/>
          <p:nvPr/>
        </p:nvSpPr>
        <p:spPr>
          <a:xfrm>
            <a:off x="548640" y="1554480"/>
            <a:ext cx="3611880" cy="944880"/>
          </a:xfrm>
          <a:prstGeom prst="roundRect">
            <a:avLst>
              <a:gd name="adj" fmla="val 7742"/>
            </a:avLst>
          </a:prstGeom>
          <a:solidFill>
            <a:srgbClr val="C6DCFF"/>
          </a:solidFill>
          <a:ln/>
        </p:spPr>
      </p:sp>
      <p:sp>
        <p:nvSpPr>
          <p:cNvPr id="6" name="Text 4"/>
          <p:cNvSpPr txBox="1"/>
          <p:nvPr/>
        </p:nvSpPr>
        <p:spPr>
          <a:xfrm>
            <a:off x="621792" y="1572768"/>
            <a:ext cx="3465576" cy="90830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Guided submission</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Checklist, required attachments by request type, pre-filled requester and facility data. the request is right the first time</a:t>
            </a:r>
            <a:endParaRPr lang="en-US" sz="1200" dirty="0"/>
          </a:p>
        </p:txBody>
      </p:sp>
      <p:sp>
        <p:nvSpPr>
          <p:cNvPr id="7" name="Request tracking"/>
          <p:cNvSpPr/>
          <p:nvPr/>
        </p:nvSpPr>
        <p:spPr>
          <a:xfrm>
            <a:off x="548640" y="2590800"/>
            <a:ext cx="3611880" cy="944880"/>
          </a:xfrm>
          <a:prstGeom prst="roundRect">
            <a:avLst>
              <a:gd name="adj" fmla="val 7742"/>
            </a:avLst>
          </a:prstGeom>
          <a:solidFill>
            <a:srgbClr val="C6DCFF"/>
          </a:solidFill>
          <a:ln/>
        </p:spPr>
      </p:sp>
      <p:sp>
        <p:nvSpPr>
          <p:cNvPr id="8" name="Text 6"/>
          <p:cNvSpPr txBox="1"/>
          <p:nvPr/>
        </p:nvSpPr>
        <p:spPr>
          <a:xfrm>
            <a:off x="621792" y="2609088"/>
            <a:ext cx="3465576" cy="90830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Request tracking</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CMAC sees status, stage, owner or group, next step, history and messages. followed without chasing</a:t>
            </a:r>
            <a:endParaRPr lang="en-US" sz="1200" dirty="0"/>
          </a:p>
        </p:txBody>
      </p:sp>
      <p:sp>
        <p:nvSpPr>
          <p:cNvPr id="9" name="Coordinator queue"/>
          <p:cNvSpPr/>
          <p:nvPr/>
        </p:nvSpPr>
        <p:spPr>
          <a:xfrm>
            <a:off x="548640" y="3627120"/>
            <a:ext cx="3611880" cy="944880"/>
          </a:xfrm>
          <a:prstGeom prst="roundRect">
            <a:avLst>
              <a:gd name="adj" fmla="val 7742"/>
            </a:avLst>
          </a:prstGeom>
          <a:solidFill>
            <a:srgbClr val="C6DCFF"/>
          </a:solidFill>
          <a:ln/>
        </p:spPr>
      </p:sp>
      <p:sp>
        <p:nvSpPr>
          <p:cNvPr id="10" name="Text 8"/>
          <p:cNvSpPr txBox="1"/>
          <p:nvPr/>
        </p:nvSpPr>
        <p:spPr>
          <a:xfrm>
            <a:off x="621792" y="3645408"/>
            <a:ext cx="3465576" cy="90830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Coordinator queue</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Incomplete and duplicate requests flagged; self-assign. actionable the day it arrives</a:t>
            </a:r>
            <a:endParaRPr lang="en-US" sz="1200" dirty="0"/>
          </a:p>
        </p:txBody>
      </p:sp>
      <p:sp>
        <p:nvSpPr>
          <p:cNvPr id="11" name="Text 9"/>
          <p:cNvSpPr txBox="1"/>
          <p:nvPr/>
        </p:nvSpPr>
        <p:spPr>
          <a:xfrm>
            <a:off x="4297680" y="1143000"/>
            <a:ext cx="2743200" cy="365760"/>
          </a:xfrm>
          <a:prstGeom prst="rect">
            <a:avLst/>
          </a:prstGeom>
          <a:noFill/>
          <a:ln/>
        </p:spPr>
        <p:txBody>
          <a:bodyPr wrap="square" lIns="1016" tIns="1016" rIns="1016" bIns="1016"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Measurement sink</a:t>
            </a:r>
            <a:endParaRPr lang="en-US" sz="1500" dirty="0"/>
          </a:p>
        </p:txBody>
      </p:sp>
      <p:sp>
        <p:nvSpPr>
          <p:cNvPr id="12" name="Outcome measurement"/>
          <p:cNvSpPr/>
          <p:nvPr/>
        </p:nvSpPr>
        <p:spPr>
          <a:xfrm>
            <a:off x="4297680" y="1554480"/>
            <a:ext cx="2743200" cy="3017520"/>
          </a:xfrm>
          <a:prstGeom prst="roundRect">
            <a:avLst>
              <a:gd name="adj" fmla="val 2667"/>
            </a:avLst>
          </a:prstGeom>
          <a:solidFill>
            <a:srgbClr val="FFE2B8"/>
          </a:solidFill>
          <a:ln/>
        </p:spPr>
      </p:sp>
      <p:sp>
        <p:nvSpPr>
          <p:cNvPr id="13" name="Text 11"/>
          <p:cNvSpPr txBox="1"/>
          <p:nvPr/>
        </p:nvSpPr>
        <p:spPr>
          <a:xfrm>
            <a:off x="4370832" y="1572768"/>
            <a:ext cx="2596896" cy="2980944"/>
          </a:xfrm>
          <a:prstGeom prst="rect">
            <a:avLst/>
          </a:prstGeom>
          <a:noFill/>
          <a:ln/>
        </p:spPr>
        <p:txBody>
          <a:bodyPr wrap="square" lIns="1016" tIns="1016" rIns="1016" bIns="1016" rtlCol="0" anchor="t"/>
          <a:lstStyle/>
          <a:p>
            <a:pPr indent="0" marL="0">
              <a:buNone/>
            </a:pPr>
            <a:r>
              <a:rPr lang="en-US" sz="1400" b="1" dirty="0">
                <a:solidFill>
                  <a:schemeClr val="tx1"/>
                </a:solidFill>
                <a:latin typeface="Calibri" pitchFamily="34" charset="0"/>
                <a:ea typeface="Calibri" pitchFamily="34" charset="-122"/>
                <a:cs typeface="Calibri" pitchFamily="34" charset="-120"/>
              </a:rPr>
              <a:t>Outcome measurement</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Requests complete at first submission; CMAC follow-ups per request; time in each stage and to first assignment; late updates; duplicates found</a:t>
            </a:r>
            <a:endParaRPr lang="en-US" sz="1400" dirty="0"/>
          </a:p>
        </p:txBody>
      </p:sp>
      <p:sp>
        <p:nvSpPr>
          <p:cNvPr id="14" name="Text 12"/>
          <p:cNvSpPr txBox="1"/>
          <p:nvPr/>
        </p:nvSpPr>
        <p:spPr>
          <a:xfrm>
            <a:off x="7178040" y="1143000"/>
            <a:ext cx="4434840" cy="365760"/>
          </a:xfrm>
          <a:prstGeom prst="rect">
            <a:avLst/>
          </a:prstGeom>
          <a:noFill/>
          <a:ln/>
        </p:spPr>
        <p:txBody>
          <a:bodyPr wrap="square" lIns="1016" tIns="1016" rIns="1016" bIns="1016" rtlCol="0" anchor="t"/>
          <a:lstStyle/>
          <a:p>
            <a:pPr indent="0" marL="0">
              <a:buNone/>
            </a:pPr>
            <a:r>
              <a:rPr lang="en-US" sz="1500" b="1" dirty="0">
                <a:solidFill>
                  <a:schemeClr val="accent1"/>
                </a:solidFill>
                <a:latin typeface="Calibri" pitchFamily="34" charset="0"/>
                <a:ea typeface="Calibri" pitchFamily="34" charset="-122"/>
                <a:cs typeface="Calibri" pitchFamily="34" charset="-120"/>
              </a:rPr>
              <a:t>Business-value sinks</a:t>
            </a:r>
            <a:endParaRPr lang="en-US" sz="1500" dirty="0"/>
          </a:p>
        </p:txBody>
      </p:sp>
      <p:sp>
        <p:nvSpPr>
          <p:cNvPr id="15" name="Infrastructure reporting"/>
          <p:cNvSpPr/>
          <p:nvPr/>
        </p:nvSpPr>
        <p:spPr>
          <a:xfrm>
            <a:off x="7178040" y="1554480"/>
            <a:ext cx="4434840" cy="685800"/>
          </a:xfrm>
          <a:prstGeom prst="roundRect">
            <a:avLst>
              <a:gd name="adj" fmla="val 10667"/>
            </a:avLst>
          </a:prstGeom>
          <a:solidFill>
            <a:srgbClr val="ADF0C7"/>
          </a:solidFill>
          <a:ln/>
        </p:spPr>
      </p:sp>
      <p:sp>
        <p:nvSpPr>
          <p:cNvPr id="16" name="Text 14"/>
          <p:cNvSpPr txBox="1"/>
          <p:nvPr/>
        </p:nvSpPr>
        <p:spPr>
          <a:xfrm>
            <a:off x="7251192" y="1572768"/>
            <a:ext cx="4288536" cy="64922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Infrastructure reporting</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Workload, delays and bottlenecks by location, status and period (FR-24)</a:t>
            </a:r>
            <a:endParaRPr lang="en-US" sz="1200" dirty="0"/>
          </a:p>
        </p:txBody>
      </p:sp>
      <p:sp>
        <p:nvSpPr>
          <p:cNvPr id="17" name="Recycle program"/>
          <p:cNvSpPr/>
          <p:nvPr/>
        </p:nvSpPr>
        <p:spPr>
          <a:xfrm>
            <a:off x="7178040" y="2331720"/>
            <a:ext cx="4434840" cy="685800"/>
          </a:xfrm>
          <a:prstGeom prst="roundRect">
            <a:avLst>
              <a:gd name="adj" fmla="val 10667"/>
            </a:avLst>
          </a:prstGeom>
          <a:solidFill>
            <a:srgbClr val="ADF0C7"/>
          </a:solidFill>
          <a:ln/>
        </p:spPr>
      </p:sp>
      <p:sp>
        <p:nvSpPr>
          <p:cNvPr id="18" name="Text 16"/>
          <p:cNvSpPr txBox="1"/>
          <p:nvPr/>
        </p:nvSpPr>
        <p:spPr>
          <a:xfrm>
            <a:off x="7251192" y="2350008"/>
            <a:ext cx="4288536" cy="64922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Recycle program</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Recycled versus new decisions inform inventory planning and cost avoidance (FR-11, FR-12)</a:t>
            </a:r>
            <a:endParaRPr lang="en-US" sz="1200" dirty="0"/>
          </a:p>
        </p:txBody>
      </p:sp>
      <p:sp>
        <p:nvSpPr>
          <p:cNvPr id="19" name="Asset and warranty history"/>
          <p:cNvSpPr/>
          <p:nvPr/>
        </p:nvSpPr>
        <p:spPr>
          <a:xfrm>
            <a:off x="7178040" y="3108960"/>
            <a:ext cx="4434840" cy="685800"/>
          </a:xfrm>
          <a:prstGeom prst="roundRect">
            <a:avLst>
              <a:gd name="adj" fmla="val 10667"/>
            </a:avLst>
          </a:prstGeom>
          <a:solidFill>
            <a:srgbClr val="ADF0C7"/>
          </a:solidFill>
          <a:ln/>
        </p:spPr>
      </p:sp>
      <p:sp>
        <p:nvSpPr>
          <p:cNvPr id="20" name="Text 18"/>
          <p:cNvSpPr txBox="1"/>
          <p:nvPr/>
        </p:nvSpPr>
        <p:spPr>
          <a:xfrm>
            <a:off x="7251192" y="3127248"/>
            <a:ext cx="4288536" cy="64922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Asset and warranty history</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Completed requests found years later for claims and replacements (FR-18, FR-21)</a:t>
            </a:r>
            <a:endParaRPr lang="en-US" sz="1200" dirty="0"/>
          </a:p>
        </p:txBody>
      </p:sp>
      <p:sp>
        <p:nvSpPr>
          <p:cNvPr id="21" name="PRISM Facilities"/>
          <p:cNvSpPr/>
          <p:nvPr/>
        </p:nvSpPr>
        <p:spPr>
          <a:xfrm>
            <a:off x="7178040" y="3886200"/>
            <a:ext cx="4434840" cy="685800"/>
          </a:xfrm>
          <a:prstGeom prst="roundRect">
            <a:avLst>
              <a:gd name="adj" fmla="val 10667"/>
            </a:avLst>
          </a:prstGeom>
          <a:solidFill>
            <a:srgbClr val="ADF0C7"/>
          </a:solidFill>
          <a:ln/>
        </p:spPr>
      </p:sp>
      <p:sp>
        <p:nvSpPr>
          <p:cNvPr id="22" name="Text 20"/>
          <p:cNvSpPr txBox="1"/>
          <p:nvPr/>
        </p:nvSpPr>
        <p:spPr>
          <a:xfrm>
            <a:off x="7251192" y="3904488"/>
            <a:ext cx="4288536" cy="649224"/>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PRISM Facilities</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The client reuses the flows and data definitions to build staff-facing and external views</a:t>
            </a:r>
            <a:endParaRPr lang="en-US" sz="1200" dirty="0"/>
          </a:p>
        </p:txBody>
      </p:sp>
      <p:sp>
        <p:nvSpPr>
          <p:cNvPr id="23" name="Text 21"/>
          <p:cNvSpPr txBox="1"/>
          <p:nvPr/>
        </p:nvSpPr>
        <p:spPr>
          <a:xfrm>
            <a:off x="548640" y="4681728"/>
            <a:ext cx="11064240" cy="365760"/>
          </a:xfrm>
          <a:prstGeom prst="rect">
            <a:avLst/>
          </a:prstGeom>
          <a:noFill/>
          <a:ln/>
        </p:spPr>
        <p:txBody>
          <a:bodyPr wrap="square" lIns="1016" tIns="1016" rIns="1016" bIns="1016" rtlCol="0" anchor="t"/>
          <a:lstStyle/>
          <a:p>
            <a:pPr indent="0" marL="0">
              <a:buNone/>
            </a:pPr>
            <a:r>
              <a:rPr lang="en-US" sz="1500" b="1" dirty="0">
                <a:solidFill>
                  <a:schemeClr val="tx2"/>
                </a:solidFill>
                <a:latin typeface="Calibri" pitchFamily="34" charset="0"/>
                <a:ea typeface="Calibri" pitchFamily="34" charset="-122"/>
                <a:cs typeface="Calibri" pitchFamily="34" charset="-120"/>
              </a:rPr>
              <a:t>Storage and access requirements the sinks imply (input to Milestone 3)</a:t>
            </a:r>
            <a:endParaRPr lang="en-US" sz="1500" dirty="0"/>
          </a:p>
        </p:txBody>
      </p:sp>
      <p:sp>
        <p:nvSpPr>
          <p:cNvPr id="24" name="How fresh"/>
          <p:cNvSpPr/>
          <p:nvPr/>
        </p:nvSpPr>
        <p:spPr>
          <a:xfrm>
            <a:off x="548640" y="5074920"/>
            <a:ext cx="2697480" cy="1188720"/>
          </a:xfrm>
          <a:prstGeom prst="roundRect">
            <a:avLst>
              <a:gd name="adj" fmla="val 6154"/>
            </a:avLst>
          </a:prstGeom>
          <a:solidFill>
            <a:srgbClr val="EEF4F3"/>
          </a:solidFill>
          <a:ln/>
        </p:spPr>
      </p:sp>
      <p:sp>
        <p:nvSpPr>
          <p:cNvPr id="25" name="Text 23"/>
          <p:cNvSpPr txBox="1"/>
          <p:nvPr/>
        </p:nvSpPr>
        <p:spPr>
          <a:xfrm>
            <a:off x="603504" y="5102352"/>
            <a:ext cx="2587752" cy="1143000"/>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How fresh</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Product views at every stage change; reports on a set period (to confirm)</a:t>
            </a:r>
            <a:endParaRPr lang="en-US" sz="1200" dirty="0"/>
          </a:p>
        </p:txBody>
      </p:sp>
      <p:sp>
        <p:nvSpPr>
          <p:cNvPr id="26" name="How complete"/>
          <p:cNvSpPr/>
          <p:nvPr/>
        </p:nvSpPr>
        <p:spPr>
          <a:xfrm>
            <a:off x="3337560" y="5074920"/>
            <a:ext cx="2697480" cy="1188720"/>
          </a:xfrm>
          <a:prstGeom prst="roundRect">
            <a:avLst>
              <a:gd name="adj" fmla="val 6154"/>
            </a:avLst>
          </a:prstGeom>
          <a:solidFill>
            <a:srgbClr val="EEF4F3"/>
          </a:solidFill>
          <a:ln/>
        </p:spPr>
      </p:sp>
      <p:sp>
        <p:nvSpPr>
          <p:cNvPr id="27" name="Text 25"/>
          <p:cNvSpPr txBox="1"/>
          <p:nvPr/>
        </p:nvSpPr>
        <p:spPr>
          <a:xfrm>
            <a:off x="3392424" y="5102352"/>
            <a:ext cx="2587752" cy="1143000"/>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How complete</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Full history from submission; the original kept; required fields enforced at intake</a:t>
            </a:r>
            <a:endParaRPr lang="en-US" sz="1200" dirty="0"/>
          </a:p>
        </p:txBody>
      </p:sp>
      <p:sp>
        <p:nvSpPr>
          <p:cNvPr id="28" name="In what form"/>
          <p:cNvSpPr/>
          <p:nvPr/>
        </p:nvSpPr>
        <p:spPr>
          <a:xfrm>
            <a:off x="6126480" y="5074920"/>
            <a:ext cx="2697480" cy="1188720"/>
          </a:xfrm>
          <a:prstGeom prst="roundRect">
            <a:avLst>
              <a:gd name="adj" fmla="val 6154"/>
            </a:avLst>
          </a:prstGeom>
          <a:solidFill>
            <a:srgbClr val="EEF4F3"/>
          </a:solidFill>
          <a:ln/>
        </p:spPr>
      </p:sp>
      <p:sp>
        <p:nvSpPr>
          <p:cNvPr id="29" name="Text 27"/>
          <p:cNvSpPr txBox="1"/>
          <p:nvPr/>
        </p:nvSpPr>
        <p:spPr>
          <a:xfrm>
            <a:off x="6181344" y="5102352"/>
            <a:ext cx="2587752" cy="1143000"/>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In what form</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One record per Work Order ID (silver) for the product; aggregates (gold) for reports</a:t>
            </a:r>
            <a:endParaRPr lang="en-US" sz="1200" dirty="0"/>
          </a:p>
        </p:txBody>
      </p:sp>
      <p:sp>
        <p:nvSpPr>
          <p:cNvPr id="30" name="Who may see it"/>
          <p:cNvSpPr/>
          <p:nvPr/>
        </p:nvSpPr>
        <p:spPr>
          <a:xfrm>
            <a:off x="8915400" y="5074920"/>
            <a:ext cx="2697480" cy="1188720"/>
          </a:xfrm>
          <a:prstGeom prst="roundRect">
            <a:avLst>
              <a:gd name="adj" fmla="val 6154"/>
            </a:avLst>
          </a:prstGeom>
          <a:solidFill>
            <a:srgbClr val="EEF4F3"/>
          </a:solidFill>
          <a:ln/>
        </p:spPr>
      </p:sp>
      <p:sp>
        <p:nvSpPr>
          <p:cNvPr id="31" name="Text 29"/>
          <p:cNvSpPr txBox="1"/>
          <p:nvPr/>
        </p:nvSpPr>
        <p:spPr>
          <a:xfrm>
            <a:off x="8970264" y="5102352"/>
            <a:ext cx="2587752" cy="1143000"/>
          </a:xfrm>
          <a:prstGeom prst="rect">
            <a:avLst/>
          </a:prstGeom>
          <a:noFill/>
          <a:ln/>
        </p:spPr>
        <p:txBody>
          <a:bodyPr wrap="square" lIns="1016" tIns="1016" rIns="1016" bIns="1016" rtlCol="0" anchor="t"/>
          <a:lstStyle/>
          <a:p>
            <a:pPr indent="0" marL="0">
              <a:buNone/>
            </a:pPr>
            <a:r>
              <a:rPr lang="en-US" sz="1200" b="1" dirty="0">
                <a:solidFill>
                  <a:schemeClr val="tx1"/>
                </a:solidFill>
                <a:latin typeface="Calibri" pitchFamily="34" charset="0"/>
                <a:ea typeface="Calibri" pitchFamily="34" charset="-122"/>
                <a:cs typeface="Calibri" pitchFamily="34" charset="-120"/>
              </a:rPr>
              <a:t>Who may see it</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Role-based: CMAC own requests; coordinators their queue; management aggregates; external requester a read-only status link</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FOUR  |  DATA THE PIPELINE GENERATES</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Using the product creates the data that improves it</a:t>
            </a:r>
            <a:endParaRPr lang="en-US" sz="3000" dirty="0"/>
          </a:p>
        </p:txBody>
      </p:sp>
      <p:sp>
        <p:nvSpPr>
          <p:cNvPr id="4" name="loop0"/>
          <p:cNvSpPr/>
          <p:nvPr/>
        </p:nvSpPr>
        <p:spPr>
          <a:xfrm>
            <a:off x="1188720" y="1234440"/>
            <a:ext cx="3931920" cy="658368"/>
          </a:xfrm>
          <a:prstGeom prst="roundRect">
            <a:avLst>
              <a:gd name="adj" fmla="val 11111"/>
            </a:avLst>
          </a:prstGeom>
          <a:solidFill>
            <a:srgbClr val="1B6F6A"/>
          </a:solidFill>
          <a:ln/>
        </p:spPr>
      </p:sp>
      <p:sp>
        <p:nvSpPr>
          <p:cNvPr id="5" name="Text 3"/>
          <p:cNvSpPr txBox="1"/>
          <p:nvPr/>
        </p:nvSpPr>
        <p:spPr>
          <a:xfrm>
            <a:off x="1188720" y="1234440"/>
            <a:ext cx="3931920" cy="658368"/>
          </a:xfrm>
          <a:prstGeom prst="rect">
            <a:avLst/>
          </a:prstGeom>
          <a:noFill/>
          <a:ln/>
        </p:spPr>
        <p:txBody>
          <a:bodyPr wrap="square" lIns="635" tIns="635" rIns="635" bIns="635" rtlCol="0" anchor="ctr"/>
          <a:lstStyle/>
          <a:p>
            <a:pPr algn="ctr" indent="0" marL="0">
              <a:buNone/>
            </a:pPr>
            <a:r>
              <a:rPr lang="en-US" sz="1400" b="1" dirty="0">
                <a:solidFill>
                  <a:srgbClr val="FFFFFF"/>
                </a:solidFill>
              </a:rPr>
              <a:t>CMACs and coordinators use the product</a:t>
            </a:r>
            <a:endParaRPr lang="en-US" sz="1400" dirty="0"/>
          </a:p>
        </p:txBody>
      </p:sp>
      <p:sp>
        <p:nvSpPr>
          <p:cNvPr id="6" name="Shape 4"/>
          <p:cNvSpPr/>
          <p:nvPr/>
        </p:nvSpPr>
        <p:spPr>
          <a:xfrm>
            <a:off x="3035808" y="1920240"/>
            <a:ext cx="237744" cy="219456"/>
          </a:xfrm>
          <a:prstGeom prst="downArrow">
            <a:avLst/>
          </a:prstGeom>
          <a:solidFill>
            <a:srgbClr val="E8A33D"/>
          </a:solidFill>
          <a:ln/>
        </p:spPr>
      </p:sp>
      <p:sp>
        <p:nvSpPr>
          <p:cNvPr id="7" name="loop1"/>
          <p:cNvSpPr/>
          <p:nvPr/>
        </p:nvSpPr>
        <p:spPr>
          <a:xfrm>
            <a:off x="1188720" y="2167128"/>
            <a:ext cx="3931920" cy="658368"/>
          </a:xfrm>
          <a:prstGeom prst="roundRect">
            <a:avLst>
              <a:gd name="adj" fmla="val 11111"/>
            </a:avLst>
          </a:prstGeom>
          <a:solidFill>
            <a:srgbClr val="FFF6B6"/>
          </a:solidFill>
          <a:ln/>
        </p:spPr>
      </p:sp>
      <p:sp>
        <p:nvSpPr>
          <p:cNvPr id="8" name="Text 6"/>
          <p:cNvSpPr txBox="1"/>
          <p:nvPr/>
        </p:nvSpPr>
        <p:spPr>
          <a:xfrm>
            <a:off x="1188720" y="2167128"/>
            <a:ext cx="3931920" cy="658368"/>
          </a:xfrm>
          <a:prstGeom prst="rect">
            <a:avLst/>
          </a:prstGeom>
          <a:noFill/>
          <a:ln/>
        </p:spPr>
        <p:txBody>
          <a:bodyPr wrap="square" lIns="635" tIns="635" rIns="635" bIns="635" rtlCol="0" anchor="ctr"/>
          <a:lstStyle/>
          <a:p>
            <a:pPr algn="ctr" indent="0" marL="0">
              <a:buNone/>
            </a:pPr>
            <a:r>
              <a:rPr lang="en-US" sz="1400" dirty="0">
                <a:solidFill>
                  <a:srgbClr val="1A1A1A"/>
                </a:solidFill>
              </a:rPr>
              <a:t>New data is created on every action</a:t>
            </a:r>
            <a:endParaRPr lang="en-US" sz="1400" dirty="0"/>
          </a:p>
        </p:txBody>
      </p:sp>
      <p:sp>
        <p:nvSpPr>
          <p:cNvPr id="9" name="Shape 7"/>
          <p:cNvSpPr/>
          <p:nvPr/>
        </p:nvSpPr>
        <p:spPr>
          <a:xfrm>
            <a:off x="3035808" y="2852928"/>
            <a:ext cx="237744" cy="219456"/>
          </a:xfrm>
          <a:prstGeom prst="downArrow">
            <a:avLst/>
          </a:prstGeom>
          <a:solidFill>
            <a:srgbClr val="E8A33D"/>
          </a:solidFill>
          <a:ln/>
        </p:spPr>
      </p:sp>
      <p:sp>
        <p:nvSpPr>
          <p:cNvPr id="10" name="loop2"/>
          <p:cNvSpPr/>
          <p:nvPr/>
        </p:nvSpPr>
        <p:spPr>
          <a:xfrm>
            <a:off x="1188720" y="3099816"/>
            <a:ext cx="3931920" cy="658368"/>
          </a:xfrm>
          <a:prstGeom prst="roundRect">
            <a:avLst>
              <a:gd name="adj" fmla="val 11111"/>
            </a:avLst>
          </a:prstGeom>
          <a:solidFill>
            <a:srgbClr val="FFF6B6"/>
          </a:solidFill>
          <a:ln/>
        </p:spPr>
      </p:sp>
      <p:sp>
        <p:nvSpPr>
          <p:cNvPr id="11" name="Text 9"/>
          <p:cNvSpPr txBox="1"/>
          <p:nvPr/>
        </p:nvSpPr>
        <p:spPr>
          <a:xfrm>
            <a:off x="1188720" y="3099816"/>
            <a:ext cx="3931920" cy="658368"/>
          </a:xfrm>
          <a:prstGeom prst="rect">
            <a:avLst/>
          </a:prstGeom>
          <a:noFill/>
          <a:ln/>
        </p:spPr>
        <p:txBody>
          <a:bodyPr wrap="square" lIns="635" tIns="635" rIns="635" bIns="635" rtlCol="0" anchor="ctr"/>
          <a:lstStyle/>
          <a:p>
            <a:pPr algn="ctr" indent="0" marL="0">
              <a:buNone/>
            </a:pPr>
            <a:r>
              <a:rPr lang="en-US" sz="1400" dirty="0">
                <a:solidFill>
                  <a:srgbClr val="1A1A1A"/>
                </a:solidFill>
              </a:rPr>
              <a:t>The product records it; an owner reviews it</a:t>
            </a:r>
            <a:endParaRPr lang="en-US" sz="1400" dirty="0"/>
          </a:p>
        </p:txBody>
      </p:sp>
      <p:sp>
        <p:nvSpPr>
          <p:cNvPr id="12" name="Shape 10"/>
          <p:cNvSpPr/>
          <p:nvPr/>
        </p:nvSpPr>
        <p:spPr>
          <a:xfrm>
            <a:off x="3035808" y="3785616"/>
            <a:ext cx="237744" cy="219456"/>
          </a:xfrm>
          <a:prstGeom prst="downArrow">
            <a:avLst/>
          </a:prstGeom>
          <a:solidFill>
            <a:srgbClr val="E8A33D"/>
          </a:solidFill>
          <a:ln/>
        </p:spPr>
      </p:sp>
      <p:sp>
        <p:nvSpPr>
          <p:cNvPr id="13" name="loop3"/>
          <p:cNvSpPr/>
          <p:nvPr/>
        </p:nvSpPr>
        <p:spPr>
          <a:xfrm>
            <a:off x="1188720" y="4032504"/>
            <a:ext cx="3931920" cy="658368"/>
          </a:xfrm>
          <a:prstGeom prst="roundRect">
            <a:avLst>
              <a:gd name="adj" fmla="val 11111"/>
            </a:avLst>
          </a:prstGeom>
          <a:solidFill>
            <a:srgbClr val="FFF6B6"/>
          </a:solidFill>
          <a:ln/>
        </p:spPr>
      </p:sp>
      <p:sp>
        <p:nvSpPr>
          <p:cNvPr id="14" name="Text 12"/>
          <p:cNvSpPr txBox="1"/>
          <p:nvPr/>
        </p:nvSpPr>
        <p:spPr>
          <a:xfrm>
            <a:off x="1188720" y="4032504"/>
            <a:ext cx="3931920" cy="658368"/>
          </a:xfrm>
          <a:prstGeom prst="rect">
            <a:avLst/>
          </a:prstGeom>
          <a:noFill/>
          <a:ln/>
        </p:spPr>
        <p:txBody>
          <a:bodyPr wrap="square" lIns="635" tIns="635" rIns="635" bIns="635" rtlCol="0" anchor="ctr"/>
          <a:lstStyle/>
          <a:p>
            <a:pPr algn="ctr" indent="0" marL="0">
              <a:buNone/>
            </a:pPr>
            <a:r>
              <a:rPr lang="en-US" sz="1400" dirty="0">
                <a:solidFill>
                  <a:srgbClr val="1A1A1A"/>
                </a:solidFill>
              </a:rPr>
              <a:t>Measured: time in stage, right first time</a:t>
            </a:r>
            <a:endParaRPr lang="en-US" sz="1400" dirty="0"/>
          </a:p>
        </p:txBody>
      </p:sp>
      <p:sp>
        <p:nvSpPr>
          <p:cNvPr id="15" name="Shape 13"/>
          <p:cNvSpPr/>
          <p:nvPr/>
        </p:nvSpPr>
        <p:spPr>
          <a:xfrm>
            <a:off x="3035808" y="4718304"/>
            <a:ext cx="237744" cy="219456"/>
          </a:xfrm>
          <a:prstGeom prst="downArrow">
            <a:avLst/>
          </a:prstGeom>
          <a:solidFill>
            <a:srgbClr val="E8A33D"/>
          </a:solidFill>
          <a:ln/>
        </p:spPr>
      </p:sp>
      <p:sp>
        <p:nvSpPr>
          <p:cNvPr id="16" name="loop4"/>
          <p:cNvSpPr/>
          <p:nvPr/>
        </p:nvSpPr>
        <p:spPr>
          <a:xfrm>
            <a:off x="1188720" y="4965192"/>
            <a:ext cx="3931920" cy="658368"/>
          </a:xfrm>
          <a:prstGeom prst="roundRect">
            <a:avLst>
              <a:gd name="adj" fmla="val 11111"/>
            </a:avLst>
          </a:prstGeom>
          <a:solidFill>
            <a:srgbClr val="FFF6B6"/>
          </a:solidFill>
          <a:ln/>
        </p:spPr>
      </p:sp>
      <p:sp>
        <p:nvSpPr>
          <p:cNvPr id="17" name="Text 15"/>
          <p:cNvSpPr txBox="1"/>
          <p:nvPr/>
        </p:nvSpPr>
        <p:spPr>
          <a:xfrm>
            <a:off x="1188720" y="4965192"/>
            <a:ext cx="3931920" cy="658368"/>
          </a:xfrm>
          <a:prstGeom prst="rect">
            <a:avLst/>
          </a:prstGeom>
          <a:noFill/>
          <a:ln/>
        </p:spPr>
        <p:txBody>
          <a:bodyPr wrap="square" lIns="635" tIns="635" rIns="635" bIns="635" rtlCol="0" anchor="ctr"/>
          <a:lstStyle/>
          <a:p>
            <a:pPr algn="ctr" indent="0" marL="0">
              <a:buNone/>
            </a:pPr>
            <a:r>
              <a:rPr lang="en-US" sz="1400" dirty="0">
                <a:solidFill>
                  <a:srgbClr val="1A1A1A"/>
                </a:solidFill>
              </a:rPr>
              <a:t>Checklist, guidance and workflow improve</a:t>
            </a:r>
            <a:endParaRPr lang="en-US" sz="1400" dirty="0"/>
          </a:p>
        </p:txBody>
      </p:sp>
      <p:sp>
        <p:nvSpPr>
          <p:cNvPr id="18" name="Shape 16"/>
          <p:cNvSpPr/>
          <p:nvPr/>
        </p:nvSpPr>
        <p:spPr>
          <a:xfrm>
            <a:off x="685800" y="5294376"/>
            <a:ext cx="502920" cy="0"/>
          </a:xfrm>
          <a:prstGeom prst="line">
            <a:avLst/>
          </a:prstGeom>
          <a:noFill/>
          <a:ln w="28575">
            <a:solidFill>
              <a:srgbClr val="1B6F6A"/>
            </a:solidFill>
            <a:prstDash val="dash"/>
          </a:ln>
        </p:spPr>
      </p:sp>
      <p:sp>
        <p:nvSpPr>
          <p:cNvPr id="19" name="Shape 17"/>
          <p:cNvSpPr/>
          <p:nvPr/>
        </p:nvSpPr>
        <p:spPr>
          <a:xfrm>
            <a:off x="685800" y="1563624"/>
            <a:ext cx="0" cy="3730752"/>
          </a:xfrm>
          <a:prstGeom prst="line">
            <a:avLst/>
          </a:prstGeom>
          <a:noFill/>
          <a:ln w="28575">
            <a:solidFill>
              <a:srgbClr val="1B6F6A"/>
            </a:solidFill>
            <a:prstDash val="dash"/>
          </a:ln>
        </p:spPr>
      </p:sp>
      <p:sp>
        <p:nvSpPr>
          <p:cNvPr id="20" name="Shape 18"/>
          <p:cNvSpPr/>
          <p:nvPr/>
        </p:nvSpPr>
        <p:spPr>
          <a:xfrm>
            <a:off x="685800" y="1563624"/>
            <a:ext cx="502920" cy="0"/>
          </a:xfrm>
          <a:prstGeom prst="line">
            <a:avLst/>
          </a:prstGeom>
          <a:noFill/>
          <a:ln w="28575">
            <a:solidFill>
              <a:srgbClr val="1B6F6A"/>
            </a:solidFill>
            <a:prstDash val="dash"/>
            <a:tailEnd type="triangle"/>
          </a:ln>
        </p:spPr>
      </p:sp>
      <p:sp>
        <p:nvSpPr>
          <p:cNvPr id="21" name="Text 19"/>
          <p:cNvSpPr txBox="1"/>
          <p:nvPr/>
        </p:nvSpPr>
        <p:spPr>
          <a:xfrm>
            <a:off x="320040" y="5806440"/>
            <a:ext cx="4846320" cy="365760"/>
          </a:xfrm>
          <a:prstGeom prst="rect">
            <a:avLst/>
          </a:prstGeom>
          <a:noFill/>
          <a:ln/>
        </p:spPr>
        <p:txBody>
          <a:bodyPr wrap="square" lIns="0" tIns="0" rIns="0" bIns="0" rtlCol="0" anchor="ctr"/>
          <a:lstStyle/>
          <a:p>
            <a:pPr indent="0" marL="0">
              <a:buNone/>
            </a:pPr>
            <a:r>
              <a:rPr lang="en-US" sz="1300" b="1" i="1" dirty="0">
                <a:solidFill>
                  <a:schemeClr val="accent1"/>
                </a:solidFill>
              </a:rPr>
              <a:t>The data flywheel: measure again</a:t>
            </a:r>
            <a:endParaRPr lang="en-US" sz="1300" dirty="0"/>
          </a:p>
        </p:txBody>
      </p:sp>
      <p:sp>
        <p:nvSpPr>
          <p:cNvPr id="22" name="Back into our pipeline"/>
          <p:cNvSpPr/>
          <p:nvPr/>
        </p:nvSpPr>
        <p:spPr>
          <a:xfrm>
            <a:off x="5577840" y="1234440"/>
            <a:ext cx="6035040" cy="1261872"/>
          </a:xfrm>
          <a:prstGeom prst="roundRect">
            <a:avLst>
              <a:gd name="adj" fmla="val 5797"/>
            </a:avLst>
          </a:prstGeom>
          <a:solidFill>
            <a:srgbClr val="F4F7F7"/>
          </a:solidFill>
          <a:ln/>
        </p:spPr>
      </p:sp>
      <p:sp>
        <p:nvSpPr>
          <p:cNvPr id="23" name="Shape 21"/>
          <p:cNvSpPr/>
          <p:nvPr/>
        </p:nvSpPr>
        <p:spPr>
          <a:xfrm>
            <a:off x="5577840" y="1234440"/>
            <a:ext cx="1828800" cy="1261872"/>
          </a:xfrm>
          <a:prstGeom prst="roundRect">
            <a:avLst>
              <a:gd name="adj" fmla="val 5797"/>
            </a:avLst>
          </a:prstGeom>
          <a:solidFill>
            <a:srgbClr val="1B6F6A"/>
          </a:solidFill>
          <a:ln/>
        </p:spPr>
      </p:sp>
      <p:sp>
        <p:nvSpPr>
          <p:cNvPr id="24" name="Text 22"/>
          <p:cNvSpPr txBox="1"/>
          <p:nvPr/>
        </p:nvSpPr>
        <p:spPr>
          <a:xfrm>
            <a:off x="5577840" y="1234440"/>
            <a:ext cx="1828800" cy="1261872"/>
          </a:xfrm>
          <a:prstGeom prst="rect">
            <a:avLst/>
          </a:prstGeom>
          <a:noFill/>
          <a:ln/>
        </p:spPr>
        <p:txBody>
          <a:bodyPr wrap="square" lIns="1016" tIns="1016" rIns="1016" bIns="1016" rtlCol="0" anchor="ctr"/>
          <a:lstStyle/>
          <a:p>
            <a:pPr algn="ctr" indent="0" marL="0">
              <a:buNone/>
            </a:pPr>
            <a:r>
              <a:rPr lang="en-US" sz="1400" b="1" dirty="0">
                <a:solidFill>
                  <a:srgbClr val="FFFFFF"/>
                </a:solidFill>
              </a:rPr>
              <a:t>Back into our pipeline</a:t>
            </a:r>
            <a:endParaRPr lang="en-US" sz="1400" dirty="0"/>
          </a:p>
        </p:txBody>
      </p:sp>
      <p:sp>
        <p:nvSpPr>
          <p:cNvPr id="25" name="Text 23"/>
          <p:cNvSpPr txBox="1"/>
          <p:nvPr/>
        </p:nvSpPr>
        <p:spPr>
          <a:xfrm>
            <a:off x="7498080" y="1261872"/>
            <a:ext cx="4069080" cy="1207008"/>
          </a:xfrm>
          <a:prstGeom prst="rect">
            <a:avLst/>
          </a:prstGeom>
          <a:noFill/>
          <a:ln/>
        </p:spPr>
        <p:txBody>
          <a:bodyPr wrap="square" lIns="1016" tIns="1016" rIns="1016" bIns="1016" rtlCol="0" anchor="ctr"/>
          <a:lstStyle/>
          <a:p>
            <a:pPr indent="0" marL="0">
              <a:buNone/>
            </a:pPr>
            <a:r>
              <a:rPr lang="en-US" sz="1250" dirty="0">
                <a:solidFill>
                  <a:schemeClr val="tx1"/>
                </a:solidFill>
                <a:latin typeface="Calibri" pitchFamily="34" charset="0"/>
                <a:ea typeface="Calibri" pitchFamily="34" charset="-122"/>
                <a:cs typeface="Calibri" pitchFamily="34" charset="-120"/>
              </a:rPr>
              <a:t>Stage-change timestamps feed the stalled-request alarm. Validation results and repeated clarification questions improve the checklist and guidance. Duplicate resolutions refine the match key. Upload results tune file limits.</a:t>
            </a:r>
            <a:endParaRPr lang="en-US" sz="1250" dirty="0"/>
          </a:p>
        </p:txBody>
      </p:sp>
      <p:sp>
        <p:nvSpPr>
          <p:cNvPr id="26" name="Into other pipelines or products"/>
          <p:cNvSpPr/>
          <p:nvPr/>
        </p:nvSpPr>
        <p:spPr>
          <a:xfrm>
            <a:off x="5577840" y="2606040"/>
            <a:ext cx="6035040" cy="1261872"/>
          </a:xfrm>
          <a:prstGeom prst="roundRect">
            <a:avLst>
              <a:gd name="adj" fmla="val 5797"/>
            </a:avLst>
          </a:prstGeom>
          <a:solidFill>
            <a:srgbClr val="F4F7F7"/>
          </a:solidFill>
          <a:ln/>
        </p:spPr>
      </p:sp>
      <p:sp>
        <p:nvSpPr>
          <p:cNvPr id="27" name="Shape 25"/>
          <p:cNvSpPr/>
          <p:nvPr/>
        </p:nvSpPr>
        <p:spPr>
          <a:xfrm>
            <a:off x="5577840" y="2606040"/>
            <a:ext cx="1828800" cy="1261872"/>
          </a:xfrm>
          <a:prstGeom prst="roundRect">
            <a:avLst>
              <a:gd name="adj" fmla="val 5797"/>
            </a:avLst>
          </a:prstGeom>
          <a:solidFill>
            <a:srgbClr val="C6DCFF"/>
          </a:solidFill>
          <a:ln/>
        </p:spPr>
      </p:sp>
      <p:sp>
        <p:nvSpPr>
          <p:cNvPr id="28" name="Text 26"/>
          <p:cNvSpPr txBox="1"/>
          <p:nvPr/>
        </p:nvSpPr>
        <p:spPr>
          <a:xfrm>
            <a:off x="5577840" y="2606040"/>
            <a:ext cx="1828800" cy="1261872"/>
          </a:xfrm>
          <a:prstGeom prst="rect">
            <a:avLst/>
          </a:prstGeom>
          <a:noFill/>
          <a:ln/>
        </p:spPr>
        <p:txBody>
          <a:bodyPr wrap="square" lIns="1016" tIns="1016" rIns="1016" bIns="1016" rtlCol="0" anchor="ctr"/>
          <a:lstStyle/>
          <a:p>
            <a:pPr algn="ctr" indent="0" marL="0">
              <a:buNone/>
            </a:pPr>
            <a:r>
              <a:rPr lang="en-US" sz="1400" b="1" dirty="0">
                <a:solidFill>
                  <a:srgbClr val="1A1A1A"/>
                </a:solidFill>
              </a:rPr>
              <a:t>Into other pipelines or products</a:t>
            </a:r>
            <a:endParaRPr lang="en-US" sz="1400" dirty="0"/>
          </a:p>
        </p:txBody>
      </p:sp>
      <p:sp>
        <p:nvSpPr>
          <p:cNvPr id="29" name="Text 27"/>
          <p:cNvSpPr txBox="1"/>
          <p:nvPr/>
        </p:nvSpPr>
        <p:spPr>
          <a:xfrm>
            <a:off x="7498080" y="2633472"/>
            <a:ext cx="4069080" cy="1207008"/>
          </a:xfrm>
          <a:prstGeom prst="rect">
            <a:avLst/>
          </a:prstGeom>
          <a:noFill/>
          <a:ln/>
        </p:spPr>
        <p:txBody>
          <a:bodyPr wrap="square" lIns="1016" tIns="1016" rIns="1016" bIns="1016" rtlCol="0" anchor="ctr"/>
          <a:lstStyle/>
          <a:p>
            <a:pPr indent="0" marL="0">
              <a:buNone/>
            </a:pPr>
            <a:r>
              <a:rPr lang="en-US" sz="1250" dirty="0">
                <a:solidFill>
                  <a:schemeClr val="tx1"/>
                </a:solidFill>
                <a:latin typeface="Calibri" pitchFamily="34" charset="0"/>
                <a:ea typeface="Calibri" pitchFamily="34" charset="-122"/>
                <a:cs typeface="Calibri" pitchFamily="34" charset="-120"/>
              </a:rPr>
              <a:t>Closure confirmations and issue reports inform vendor and installer performance. Flows and definitions feed the client's PRISM Facilities build.</a:t>
            </a:r>
            <a:endParaRPr lang="en-US" sz="1250" dirty="0"/>
          </a:p>
        </p:txBody>
      </p:sp>
      <p:sp>
        <p:nvSpPr>
          <p:cNvPr id="30" name="Into decisions elsewhere"/>
          <p:cNvSpPr/>
          <p:nvPr/>
        </p:nvSpPr>
        <p:spPr>
          <a:xfrm>
            <a:off x="5577840" y="3977640"/>
            <a:ext cx="6035040" cy="1261872"/>
          </a:xfrm>
          <a:prstGeom prst="roundRect">
            <a:avLst>
              <a:gd name="adj" fmla="val 5797"/>
            </a:avLst>
          </a:prstGeom>
          <a:solidFill>
            <a:srgbClr val="F4F7F7"/>
          </a:solidFill>
          <a:ln/>
        </p:spPr>
      </p:sp>
      <p:sp>
        <p:nvSpPr>
          <p:cNvPr id="31" name="Shape 29"/>
          <p:cNvSpPr/>
          <p:nvPr/>
        </p:nvSpPr>
        <p:spPr>
          <a:xfrm>
            <a:off x="5577840" y="3977640"/>
            <a:ext cx="1828800" cy="1261872"/>
          </a:xfrm>
          <a:prstGeom prst="roundRect">
            <a:avLst>
              <a:gd name="adj" fmla="val 5797"/>
            </a:avLst>
          </a:prstGeom>
          <a:solidFill>
            <a:srgbClr val="ADF0C7"/>
          </a:solidFill>
          <a:ln/>
        </p:spPr>
      </p:sp>
      <p:sp>
        <p:nvSpPr>
          <p:cNvPr id="32" name="Text 30"/>
          <p:cNvSpPr txBox="1"/>
          <p:nvPr/>
        </p:nvSpPr>
        <p:spPr>
          <a:xfrm>
            <a:off x="5577840" y="3977640"/>
            <a:ext cx="1828800" cy="1261872"/>
          </a:xfrm>
          <a:prstGeom prst="rect">
            <a:avLst/>
          </a:prstGeom>
          <a:noFill/>
          <a:ln/>
        </p:spPr>
        <p:txBody>
          <a:bodyPr wrap="square" lIns="1016" tIns="1016" rIns="1016" bIns="1016" rtlCol="0" anchor="ctr"/>
          <a:lstStyle/>
          <a:p>
            <a:pPr algn="ctr" indent="0" marL="0">
              <a:buNone/>
            </a:pPr>
            <a:r>
              <a:rPr lang="en-US" sz="1400" b="1" dirty="0">
                <a:solidFill>
                  <a:srgbClr val="1A1A1A"/>
                </a:solidFill>
              </a:rPr>
              <a:t>Into decisions elsewhere</a:t>
            </a:r>
            <a:endParaRPr lang="en-US" sz="1400" dirty="0"/>
          </a:p>
        </p:txBody>
      </p:sp>
      <p:sp>
        <p:nvSpPr>
          <p:cNvPr id="33" name="Text 31"/>
          <p:cNvSpPr txBox="1"/>
          <p:nvPr/>
        </p:nvSpPr>
        <p:spPr>
          <a:xfrm>
            <a:off x="7498080" y="4005072"/>
            <a:ext cx="4069080" cy="1207008"/>
          </a:xfrm>
          <a:prstGeom prst="rect">
            <a:avLst/>
          </a:prstGeom>
          <a:noFill/>
          <a:ln/>
        </p:spPr>
        <p:txBody>
          <a:bodyPr wrap="square" lIns="1016" tIns="1016" rIns="1016" bIns="1016" rtlCol="0" anchor="ctr"/>
          <a:lstStyle/>
          <a:p>
            <a:pPr indent="0" marL="0">
              <a:buNone/>
            </a:pPr>
            <a:r>
              <a:rPr lang="en-US" sz="1250" dirty="0">
                <a:solidFill>
                  <a:schemeClr val="tx1"/>
                </a:solidFill>
                <a:latin typeface="Calibri" pitchFamily="34" charset="0"/>
                <a:ea typeface="Calibri" pitchFamily="34" charset="-122"/>
                <a:cs typeface="Calibri" pitchFamily="34" charset="-120"/>
              </a:rPr>
              <a:t>Recycled versus new decisions inform recycle-program planning and cost. Time in stage informs staffing and workload planning.</a:t>
            </a:r>
            <a:endParaRPr lang="en-US" sz="1250" dirty="0"/>
          </a:p>
        </p:txBody>
      </p:sp>
      <p:sp>
        <p:nvSpPr>
          <p:cNvPr id="34" name="balancing"/>
          <p:cNvSpPr/>
          <p:nvPr/>
        </p:nvSpPr>
        <p:spPr>
          <a:xfrm>
            <a:off x="5577840" y="5394960"/>
            <a:ext cx="6035040" cy="868680"/>
          </a:xfrm>
          <a:prstGeom prst="roundRect">
            <a:avLst>
              <a:gd name="adj" fmla="val 8421"/>
            </a:avLst>
          </a:prstGeom>
          <a:solidFill>
            <a:srgbClr val="FFE2B8"/>
          </a:solidFill>
          <a:ln/>
        </p:spPr>
      </p:sp>
      <p:sp>
        <p:nvSpPr>
          <p:cNvPr id="35" name="Text 33"/>
          <p:cNvSpPr txBox="1"/>
          <p:nvPr/>
        </p:nvSpPr>
        <p:spPr>
          <a:xfrm>
            <a:off x="5669280" y="5413248"/>
            <a:ext cx="5852160" cy="822960"/>
          </a:xfrm>
          <a:prstGeom prst="rect">
            <a:avLst/>
          </a:prstGeom>
          <a:noFill/>
          <a:ln/>
        </p:spPr>
        <p:txBody>
          <a:bodyPr wrap="square" lIns="1016" tIns="1016" rIns="1016" bIns="1016" rtlCol="0" anchor="ctr"/>
          <a:lstStyle/>
          <a:p>
            <a:pPr indent="0" marL="0">
              <a:buNone/>
            </a:pPr>
            <a:r>
              <a:rPr lang="en-US" sz="1250" b="1" dirty="0">
                <a:solidFill>
                  <a:schemeClr val="tx1"/>
                </a:solidFill>
                <a:latin typeface="Calibri" pitchFamily="34" charset="0"/>
                <a:ea typeface="Calibri" pitchFamily="34" charset="-122"/>
                <a:cs typeface="Calibri" pitchFamily="34" charset="-120"/>
              </a:rPr>
              <a:t>Who collects it: </a:t>
            </a:r>
            <a:pPr indent="0" marL="0">
              <a:buNone/>
            </a:pPr>
            <a:r>
              <a:rPr lang="en-US" sz="1250" dirty="0">
                <a:solidFill>
                  <a:schemeClr val="tx1"/>
                </a:solidFill>
                <a:latin typeface="Calibri" pitchFamily="34" charset="0"/>
                <a:ea typeface="Calibri" pitchFamily="34" charset="-122"/>
                <a:cs typeface="Calibri" pitchFamily="34" charset="-120"/>
              </a:rPr>
              <a:t>the product records it automatically, but no one is yet named to review it. That is our first leak. </a:t>
            </a:r>
            <a:pPr indent="0" marL="0">
              <a:buNone/>
            </a:pPr>
            <a:r>
              <a:rPr lang="en-US" sz="1250" b="1" dirty="0">
                <a:solidFill>
                  <a:schemeClr val="tx1"/>
                </a:solidFill>
                <a:latin typeface="Calibri" pitchFamily="34" charset="0"/>
                <a:ea typeface="Calibri" pitchFamily="34" charset="-122"/>
                <a:cs typeface="Calibri" pitchFamily="34" charset="-120"/>
              </a:rPr>
              <a:t>What pushes back: </a:t>
            </a:r>
            <a:pPr indent="0" marL="0">
              <a:buNone/>
            </a:pPr>
            <a:r>
              <a:rPr lang="en-US" sz="1250" dirty="0">
                <a:solidFill>
                  <a:schemeClr val="tx1"/>
                </a:solidFill>
                <a:latin typeface="Calibri" pitchFamily="34" charset="0"/>
                <a:ea typeface="Calibri" pitchFamily="34" charset="-122"/>
                <a:cs typeface="Calibri" pitchFamily="34" charset="-120"/>
              </a:rPr>
              <a:t>coordinator update effort; late or brief updates weaken the loop.</a:t>
            </a:r>
            <a:endParaRPr lang="en-US" sz="125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91440"/>
            <a:ext cx="11064240" cy="320040"/>
          </a:xfrm>
          <a:prstGeom prst="rect">
            <a:avLst/>
          </a:prstGeom>
          <a:noFill/>
          <a:ln/>
        </p:spPr>
        <p:txBody>
          <a:bodyPr wrap="square" lIns="1016" tIns="1016" rIns="1016" bIns="1016" rtlCol="0" anchor="b"/>
          <a:lstStyle/>
          <a:p>
            <a:pPr indent="0" marL="0">
              <a:buNone/>
            </a:pPr>
            <a:r>
              <a:rPr lang="en-US" sz="1200" b="1" dirty="0">
                <a:solidFill>
                  <a:schemeClr val="accent1"/>
                </a:solidFill>
              </a:rPr>
              <a:t>STEP FIVE  |  GAPS, LEAKS, HEADWINDS AND TAILWINDS</a:t>
            </a:r>
            <a:endParaRPr lang="en-US" sz="1200" dirty="0"/>
          </a:p>
        </p:txBody>
      </p:sp>
      <p:sp>
        <p:nvSpPr>
          <p:cNvPr id="3" name="Text 1"/>
          <p:cNvSpPr/>
          <p:nvPr>
            <p:ph idx="101" type="title" hasCustomPrompt="1"/>
          </p:nvPr>
        </p:nvSpPr>
        <p:spPr>
          <a:xfrm>
            <a:off x="548640" y="365760"/>
            <a:ext cx="11064240" cy="685800"/>
          </a:xfrm>
          <a:prstGeom prst="rect">
            <a:avLst/>
          </a:prstGeom>
          <a:noFill/>
          <a:ln/>
        </p:spPr>
        <p:txBody>
          <a:bodyPr wrap="square" lIns="1016" tIns="1016" rIns="1016" bIns="1016"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Gaps and leaks, each tied to a stage, with what we do about it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43000"/>
          <a:ext cx="11064240" cy="914400"/>
        </p:xfrm>
        <a:graphic>
          <a:graphicData uri="http://schemas.openxmlformats.org/drawingml/2006/table">
            <a:tbl>
              <a:tblPr/>
              <a:tblGrid>
                <a:gridCol w="411480"/>
                <a:gridCol w="1463040"/>
                <a:gridCol w="3657600"/>
                <a:gridCol w="1234440"/>
                <a:gridCol w="868680"/>
                <a:gridCol w="3429000"/>
              </a:tblGrid>
              <a:tr h="347472">
                <a:tc>
                  <a:txBody>
                    <a:bodyPr/>
                    <a:lstStyle/>
                    <a:p>
                      <a:pPr indent="0" marL="0">
                        <a:buNone/>
                      </a:pP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Finding</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Implication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3D3E"/>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G1</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Collect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Email, Teams and phone updates are never added back to the request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Change the workflow: material communication lives in the request thread (FR-16)</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G2</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Generate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client's decision on the proposal is not captured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Phase it: add a decision record (FR-12) after testing</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G3</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Keep and Shape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No agreed match key for duplicate requests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Governance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Change the workflow: coordinators define the rule (FR-22)</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G4</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Keep and Shape, Store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No named owner for the cleaning rules or the record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Organization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Assign before Milestone 3; confirm with the client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G5</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Collect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Floor plans sit in another service, some out of date, not open to requesters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 Governance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Phase it: route plans through coordinators (to confirm)</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G6</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Vendor, warehouse and delivery progress is not entered by those parties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Scope out integrations; budget coordinator time to record progress (FR-17)</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G7</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Store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Retention period and warranty data availability are unknown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Governance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Budget for the records-schedule check; phase warranty capture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G8</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6C6"/>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Generate, Collect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handoff point between the two coordinator roles is unknown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Organization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Confirm with staff; show the owner at every stage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L1</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Collect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The checklist is filled in outside the system and attached as a file; nothing validates it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Tailwind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F0C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Change the workflow: checklist inside the form</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L2</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Generate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Facility data exists in PRISM Core but requesters re-key it</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Tailwind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F0C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Pre-fill from PRISM Core (NFR-09); the client can supply the 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L3</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Store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WORTS records serve tracking and reporting only; the work happens elsewhere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Organization</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Headwind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2B8"/>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One shared request record read by every consumer</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L4</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Stage timings exist but nobody measures time in stage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Tailwind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F0C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Measurement sink from release one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r h="347472">
                <a:tc>
                  <a:txBody>
                    <a:bodyPr/>
                    <a:lstStyle/>
                    <a:p>
                      <a:pPr indent="0" marL="0">
                        <a:buNone/>
                      </a:pPr>
                      <a:r>
                        <a:rPr lang="en-US" sz="1050" b="1" dirty="0">
                          <a:solidFill>
                            <a:srgbClr val="1A1A1A"/>
                          </a:solidFill>
                          <a:latin typeface="Calibri" pitchFamily="34" charset="0"/>
                          <a:ea typeface="Calibri" pitchFamily="34" charset="-122"/>
                          <a:cs typeface="Calibri" pitchFamily="34" charset="-120"/>
                        </a:rPr>
                        <a:t>L5</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DCFF"/>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Use</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Recycled versus new decisions are not reported to the recycle program</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Data</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Tailwind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F0C7"/>
                    </a:solidFill>
                  </a:tcPr>
                </a:tc>
                <a:tc>
                  <a:txBody>
                    <a:bodyPr/>
                    <a:lstStyle/>
                    <a:p>
                      <a:pPr indent="0" marL="0">
                        <a:buNone/>
                      </a:pPr>
                      <a:r>
                        <a:rPr lang="en-US" sz="1050" dirty="0">
                          <a:solidFill>
                            <a:srgbClr val="1A1A1A"/>
                          </a:solidFill>
                          <a:latin typeface="Calibri" pitchFamily="34" charset="0"/>
                          <a:ea typeface="Calibri" pitchFamily="34" charset="-122"/>
                          <a:cs typeface="Calibri" pitchFamily="34" charset="-120"/>
                        </a:rPr>
                        <a:t>Business-value sink once G2 is closed</a:t>
                      </a:r>
                      <a:endParaRPr lang="en-US" sz="1050" dirty="0">
                        <a:latin typeface="Calibri" charset="0"/>
                        <a:ea typeface="Calibri" charset="0"/>
                        <a:cs typeface="Calibri" charset="0"/>
                      </a:endParaRPr>
                    </a:p>
                  </a:txBody>
                  <a:tcPr marL="45720" marR="45720"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7F7"/>
                    </a:solidFill>
                  </a:tcPr>
                </a:tc>
              </a:tr>
            </a:tbl>
          </a:graphicData>
        </a:graphic>
      </p:graphicFrame>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B7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rtlCol="0" anchor="ctr"/>
          <a:lstStyle/>
          <a:p>
            <a:pPr indent="0" marL="0">
              <a:buNone/>
            </a:pPr>
            <a:r>
              <a:rPr lang="en-US" sz="1200" b="1" dirty="0">
                <a:solidFill>
                  <a:schemeClr val="accent2"/>
                </a:solidFill>
              </a:rPr>
              <a:t>IMPLICATIONS</a:t>
            </a:r>
            <a:endParaRPr lang="en-US" sz="1200" dirty="0"/>
          </a:p>
        </p:txBody>
      </p:sp>
      <p:sp>
        <p:nvSpPr>
          <p:cNvPr id="3" name="Text 1"/>
          <p:cNvSpPr txBox="1"/>
          <p:nvPr/>
        </p:nvSpPr>
        <p:spPr>
          <a:xfrm>
            <a:off x="548640" y="548640"/>
            <a:ext cx="10972800" cy="731520"/>
          </a:xfrm>
          <a:prstGeom prst="rect">
            <a:avLst/>
          </a:prstGeom>
          <a:noFill/>
          <a:ln/>
        </p:spPr>
        <p:txBody>
          <a:bodyPr wrap="square"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What this means for the PRD and Milestone 3</a:t>
            </a:r>
            <a:endParaRPr lang="en-US" sz="3200" dirty="0"/>
          </a:p>
        </p:txBody>
      </p:sp>
      <p:sp>
        <p:nvSpPr>
          <p:cNvPr id="4" name="Shape 2"/>
          <p:cNvSpPr/>
          <p:nvPr/>
        </p:nvSpPr>
        <p:spPr>
          <a:xfrm>
            <a:off x="548640" y="1463040"/>
            <a:ext cx="6400800" cy="4023360"/>
          </a:xfrm>
          <a:prstGeom prst="roundRect">
            <a:avLst>
              <a:gd name="adj" fmla="val 1818"/>
            </a:avLst>
          </a:prstGeom>
          <a:solidFill>
            <a:srgbClr val="1B6F6A"/>
          </a:solidFill>
          <a:ln/>
        </p:spPr>
      </p:sp>
      <p:sp>
        <p:nvSpPr>
          <p:cNvPr id="5" name="Text 3"/>
          <p:cNvSpPr txBox="1"/>
          <p:nvPr/>
        </p:nvSpPr>
        <p:spPr>
          <a:xfrm>
            <a:off x="731520" y="1554480"/>
            <a:ext cx="603504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Requirements to carry into the PRD</a:t>
            </a:r>
            <a:endParaRPr lang="en-US" sz="1800" dirty="0"/>
          </a:p>
        </p:txBody>
      </p:sp>
      <p:sp>
        <p:nvSpPr>
          <p:cNvPr id="6" name="Text 4"/>
          <p:cNvSpPr txBox="1"/>
          <p:nvPr/>
        </p:nvSpPr>
        <p:spPr>
          <a:xfrm>
            <a:off x="731520" y="2057400"/>
            <a:ext cx="6035040" cy="329184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500" dirty="0">
                <a:solidFill>
                  <a:srgbClr val="FFFFFF"/>
                </a:solidFill>
              </a:rPr>
              <a:t>One request record keyed by Work Order ID, with an append-only history (keep the original)</a:t>
            </a:r>
            <a:endParaRPr lang="en-US" sz="1500" dirty="0"/>
          </a:p>
          <a:p>
            <a:pPr marL="342900" indent="-342900">
              <a:spcAft>
                <a:spcPts val="800"/>
              </a:spcAft>
              <a:buSzPct val="100000"/>
              <a:buFont typeface="+mj-lt"/>
              <a:buAutoNum type="arabicPeriod" startAt="1"/>
            </a:pPr>
            <a:r>
              <a:rPr lang="en-US" sz="1500" dirty="0">
                <a:solidFill>
                  <a:srgbClr val="FFFFFF"/>
                </a:solidFill>
              </a:rPr>
              <a:t>Reference data inherited from PRISM Core; admin-editable lists for ministries</a:t>
            </a:r>
            <a:endParaRPr lang="en-US" sz="1500" dirty="0"/>
          </a:p>
          <a:p>
            <a:pPr marL="342900" indent="-342900">
              <a:spcAft>
                <a:spcPts val="800"/>
              </a:spcAft>
              <a:buSzPct val="100000"/>
              <a:buFont typeface="+mj-lt"/>
              <a:buAutoNum type="arabicPeriod" startAt="1"/>
            </a:pPr>
            <a:r>
              <a:rPr lang="en-US" sz="1500" dirty="0">
                <a:solidFill>
                  <a:srgbClr val="FFFFFF"/>
                </a:solidFill>
              </a:rPr>
              <a:t>Role-based access on every view and report (FR-25, NFR-14 to NFR-16)</a:t>
            </a:r>
            <a:endParaRPr lang="en-US" sz="1500" dirty="0"/>
          </a:p>
          <a:p>
            <a:pPr marL="342900" indent="-342900">
              <a:spcAft>
                <a:spcPts val="800"/>
              </a:spcAft>
              <a:buSzPct val="100000"/>
              <a:buFont typeface="+mj-lt"/>
              <a:buAutoNum type="arabicPeriod" startAt="1"/>
            </a:pPr>
            <a:r>
              <a:rPr lang="en-US" sz="1500" dirty="0">
                <a:solidFill>
                  <a:srgbClr val="FFFFFF"/>
                </a:solidFill>
              </a:rPr>
              <a:t>Every stage change time-stamped and attributed; email notification on Action Required</a:t>
            </a:r>
            <a:endParaRPr lang="en-US" sz="1500" dirty="0"/>
          </a:p>
          <a:p>
            <a:pPr marL="342900" indent="-342900">
              <a:spcAft>
                <a:spcPts val="800"/>
              </a:spcAft>
              <a:buSzPct val="100000"/>
              <a:buFont typeface="+mj-lt"/>
              <a:buAutoNum type="arabicPeriod" startAt="1"/>
            </a:pPr>
            <a:r>
              <a:rPr lang="en-US" sz="1500" dirty="0">
                <a:solidFill>
                  <a:srgbClr val="FFFFFF"/>
                </a:solidFill>
              </a:rPr>
              <a:t>Aggregated reporting by location, status and period; retention per the records schedule</a:t>
            </a:r>
            <a:endParaRPr lang="en-US" sz="1500" dirty="0"/>
          </a:p>
        </p:txBody>
      </p:sp>
      <p:sp>
        <p:nvSpPr>
          <p:cNvPr id="7" name="Shape 5"/>
          <p:cNvSpPr/>
          <p:nvPr/>
        </p:nvSpPr>
        <p:spPr>
          <a:xfrm>
            <a:off x="7178040" y="1463040"/>
            <a:ext cx="4434840" cy="4023360"/>
          </a:xfrm>
          <a:prstGeom prst="roundRect">
            <a:avLst>
              <a:gd name="adj" fmla="val 1818"/>
            </a:avLst>
          </a:prstGeom>
          <a:solidFill>
            <a:srgbClr val="EEF4F3"/>
          </a:solidFill>
          <a:ln/>
        </p:spPr>
      </p:sp>
      <p:sp>
        <p:nvSpPr>
          <p:cNvPr id="8" name="Text 6"/>
          <p:cNvSpPr txBox="1"/>
          <p:nvPr/>
        </p:nvSpPr>
        <p:spPr>
          <a:xfrm>
            <a:off x="7360920" y="1554480"/>
            <a:ext cx="4069080" cy="457200"/>
          </a:xfrm>
          <a:prstGeom prst="rect">
            <a:avLst/>
          </a:prstGeom>
          <a:noFill/>
          <a:ln/>
        </p:spPr>
        <p:txBody>
          <a:bodyPr wrap="square" rtlCol="0" anchor="ctr"/>
          <a:lstStyle/>
          <a:p>
            <a:pPr indent="0" marL="0">
              <a:buNone/>
            </a:pPr>
            <a:r>
              <a:rPr lang="en-US" sz="1800" b="1" dirty="0">
                <a:solidFill>
                  <a:srgbClr val="1A1A1A"/>
                </a:solidFill>
                <a:latin typeface="Cambria" pitchFamily="34" charset="0"/>
                <a:ea typeface="Cambria" pitchFamily="34" charset="-122"/>
                <a:cs typeface="Cambria" pitchFamily="34" charset="-120"/>
              </a:rPr>
              <a:t>Open decisions before submission</a:t>
            </a:r>
            <a:endParaRPr lang="en-US" sz="1800" dirty="0"/>
          </a:p>
        </p:txBody>
      </p:sp>
      <p:sp>
        <p:nvSpPr>
          <p:cNvPr id="9" name="Text 7"/>
          <p:cNvSpPr txBox="1"/>
          <p:nvPr/>
        </p:nvSpPr>
        <p:spPr>
          <a:xfrm>
            <a:off x="7360920" y="2057400"/>
            <a:ext cx="4069080" cy="3291840"/>
          </a:xfrm>
          <a:prstGeom prst="rect">
            <a:avLst/>
          </a:prstGeom>
          <a:noFill/>
          <a:ln/>
        </p:spPr>
        <p:txBody>
          <a:bodyPr wrap="square" rtlCol="0" anchor="t"/>
          <a:lstStyle/>
          <a:p>
            <a:pPr marL="342900" indent="-342900">
              <a:spcAft>
                <a:spcPts val="800"/>
              </a:spcAft>
              <a:buSzPct val="100000"/>
              <a:buFont typeface="+mj-lt"/>
              <a:buAutoNum type="arabicPeriod" startAt="1"/>
            </a:pPr>
            <a:r>
              <a:rPr lang="en-US" sz="1500" dirty="0">
                <a:solidFill>
                  <a:srgbClr val="1A1A1A"/>
                </a:solidFill>
              </a:rPr>
              <a:t>Owners for Keep and Shape and for Store</a:t>
            </a:r>
            <a:endParaRPr lang="en-US" sz="1500" dirty="0"/>
          </a:p>
          <a:p>
            <a:pPr marL="342900" indent="-342900">
              <a:spcAft>
                <a:spcPts val="800"/>
              </a:spcAft>
              <a:buSzPct val="100000"/>
              <a:buFont typeface="+mj-lt"/>
              <a:buAutoNum type="arabicPeriod" startAt="1"/>
            </a:pPr>
            <a:r>
              <a:rPr lang="en-US" sz="1500" dirty="0">
                <a:solidFill>
                  <a:srgbClr val="1A1A1A"/>
                </a:solidFill>
              </a:rPr>
              <a:t>Duplicate match key</a:t>
            </a:r>
            <a:endParaRPr lang="en-US" sz="1500" dirty="0"/>
          </a:p>
          <a:p>
            <a:pPr marL="342900" indent="-342900">
              <a:spcAft>
                <a:spcPts val="800"/>
              </a:spcAft>
              <a:buSzPct val="100000"/>
              <a:buFont typeface="+mj-lt"/>
              <a:buAutoNum type="arabicPeriod" startAt="1"/>
            </a:pPr>
            <a:r>
              <a:rPr lang="en-US" sz="1500" dirty="0">
                <a:solidFill>
                  <a:srgbClr val="1A1A1A"/>
                </a:solidFill>
              </a:rPr>
              <a:t>Client decision: capture or record as a gap</a:t>
            </a:r>
            <a:endParaRPr lang="en-US" sz="1500" dirty="0"/>
          </a:p>
          <a:p>
            <a:pPr marL="342900" indent="-342900">
              <a:spcAft>
                <a:spcPts val="800"/>
              </a:spcAft>
              <a:buSzPct val="100000"/>
              <a:buFont typeface="+mj-lt"/>
              <a:buAutoNum type="arabicPeriod" startAt="1"/>
            </a:pPr>
            <a:r>
              <a:rPr lang="en-US" sz="1500" dirty="0">
                <a:solidFill>
                  <a:srgbClr val="1A1A1A"/>
                </a:solidFill>
              </a:rPr>
              <a:t>Retention period and floor-plan access</a:t>
            </a:r>
            <a:endParaRPr lang="en-US" sz="1500" dirty="0"/>
          </a:p>
          <a:p>
            <a:pPr marL="342900" indent="-342900">
              <a:spcAft>
                <a:spcPts val="800"/>
              </a:spcAft>
              <a:buSzPct val="100000"/>
              <a:buFont typeface="+mj-lt"/>
              <a:buAutoNum type="arabicPeriod" startAt="1"/>
            </a:pPr>
            <a:r>
              <a:rPr lang="en-US" sz="1500" dirty="0">
                <a:solidFill>
                  <a:srgbClr val="1A1A1A"/>
                </a:solidFill>
              </a:rPr>
              <a:t>Measurement wording checked against our DPO outcomes</a:t>
            </a:r>
            <a:endParaRPr lang="en-US" sz="1500" dirty="0"/>
          </a:p>
        </p:txBody>
      </p:sp>
      <p:sp>
        <p:nvSpPr>
          <p:cNvPr id="10" name="Text 8"/>
          <p:cNvSpPr txBox="1"/>
          <p:nvPr/>
        </p:nvSpPr>
        <p:spPr>
          <a:xfrm>
            <a:off x="548640" y="5669280"/>
            <a:ext cx="11064240" cy="548640"/>
          </a:xfrm>
          <a:prstGeom prst="rect">
            <a:avLst/>
          </a:prstGeom>
          <a:noFill/>
          <a:ln/>
        </p:spPr>
        <p:txBody>
          <a:bodyPr wrap="square" rtlCol="0" anchor="ctr"/>
          <a:lstStyle/>
          <a:p>
            <a:pPr indent="0" marL="0">
              <a:buNone/>
            </a:pPr>
            <a:r>
              <a:rPr lang="en-US" sz="1400" dirty="0">
                <a:solidFill>
                  <a:schemeClr val="bg2"/>
                </a:solidFill>
              </a:rPr>
              <a:t>Next: confirm the open decisions with the client, align the Miro board and this deck, check the link opens without a login, submit by 8 November 2026.</a:t>
            </a:r>
            <a:endParaRPr lang="en-US" sz="1400" dirty="0"/>
          </a:p>
        </p:txBody>
      </p:sp>
    </p:spTree>
  </p:cSld>
  <p:clrMapOvr>
    <a:masterClrMapping/>
  </p:clrMapOvr>
</p:sld>
</file>

<file path=ppt/theme/theme1.xml><?xml version="1.0" encoding="utf-8"?>
<a:theme xmlns:a="http://schemas.openxmlformats.org/drawingml/2006/main" name="Team DART Pipeline">
  <a:themeElements>
    <a:clrScheme name="Team DART Pipeline">
      <a:dk1>
        <a:srgbClr val="1A1A1A"/>
      </a:dk1>
      <a:lt1>
        <a:srgbClr val="FFFFFF"/>
      </a:lt1>
      <a:dk2>
        <a:srgbClr val="0F3D3E"/>
      </a:dk2>
      <a:lt2>
        <a:srgbClr val="EEF4F3"/>
      </a:lt2>
      <a:accent1>
        <a:srgbClr val="1B6F6A"/>
      </a:accent1>
      <a:accent2>
        <a:srgbClr val="E8A33D"/>
      </a:accent2>
      <a:accent3>
        <a:srgbClr val="C6DCFF"/>
      </a:accent3>
      <a:accent4>
        <a:srgbClr val="ADF0C7"/>
      </a:accent4>
      <a:accent5>
        <a:srgbClr val="FFC6C6"/>
      </a:accent5>
      <a:accent6>
        <a:srgbClr val="FFF6B6"/>
      </a:accent6>
      <a:hlink>
        <a:srgbClr val="1B6F6A"/>
      </a:hlink>
      <a:folHlink>
        <a:srgbClr val="0F3D3E"/>
      </a:folHlink>
    </a:clrScheme>
    <a:fontScheme name="Team DART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PRISM Furniture Request: Data Pipeline</dc:title>
  <dc:subject>PptxGenJS Presentation</dc:subject>
  <dc:creator>Team DART</dc:creator>
  <cp:lastModifiedBy>Team DART</cp:lastModifiedBy>
  <cp:revision>1</cp:revision>
  <dcterms:created xsi:type="dcterms:W3CDTF">2026-10-25T23:53:41Z</dcterms:created>
  <dcterms:modified xsi:type="dcterms:W3CDTF">2026-10-25T23:53:41Z</dcterms:modified>
</cp:coreProperties>
</file>