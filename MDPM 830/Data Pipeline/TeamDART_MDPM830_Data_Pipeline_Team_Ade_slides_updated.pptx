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6e9cc30-03f2-1040-686c-cac80c94e8aa}">
          <p14:sldIdLst>
            <p14:sldId id="256"/>
          </p14:sldIdLst>
        </p14:section>
        <p14:section name="Product and data" id="{cd8d91f9-e8e4-304c-235c-7071a0da1f4a}">
          <p14:sldIdLst>
            <p14:sldId id="257"/>
          </p14:sldIdLst>
        </p14:section>
        <p14:section name="Step One: Sources and scope" id="{33587874-298e-f819-e435-0f15315525ef}">
          <p14:sldIdLst>
            <p14:sldId id="258"/>
            <p14:sldId id="259"/>
          </p14:sldIdLst>
        </p14:section>
        <p14:section name="Step Two: The pipeline" id="{16be08b2-e190-5d28-2492-a907a6649447}">
          <p14:sldIdLst>
            <p14:sldId id="260"/>
            <p14:sldId id="261"/>
          </p14:sldIdLst>
        </p14:section>
        <p14:section name="Step Three: Sinks" id="{8e4d0003-8416-e909-30e7-356f9ad987d9}">
          <p14:sldIdLst>
            <p14:sldId id="262"/>
          </p14:sldIdLst>
        </p14:section>
        <p14:section name="Step Four: Generated data" id="{702887bb-b94b-7c10-1181-be7ce9e3638b}">
          <p14:sldIdLst>
            <p14:sldId id="263"/>
          </p14:sldIdLst>
        </p14:section>
        <p14:section name="Step Five: Gaps and leaks" id="{8dc7f738-11ac-b4da-8fce-30b0b78ed7c5}">
          <p14:sldIdLst>
            <p14:sldId id="264"/>
          </p14:sldIdLst>
        </p14:section>
        <p14:section name="Implications" id="{c4b413a4-bb13-eef2-0ac0-16c4b48c8b12}">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this deck is the data pipeline input to our Product Requirements Document (PRD) for PRISM Furniture Request, the Furniture Request service inside the wider PRISM platform.
Structure follows the six assignment steps: sources and scope (slides 3 and 4), the pipeline end to end with owners (slides 5 and 6), sinks and value (slide 7), data the pipeline generates (slide 8), gaps and leaks (slide 9), and implications for the PRD and Milestone 3 (slide 10).
Method: we designed from the sink, as Session Three recommends. We started from what the product must do and how we will know it works, then worked back to the data each sink needs and where it is born.
Evidence base: MDPM 883 Milestone 2 Requirements Document (functional and non-functional requirements, data dictionary, scenarios), our Working 1 source inventory and scope frame, the team data workflow brainstorm, the 7 October client walkthrough and the 15 October client call. Anything not confirmed by the client is labelled Proposed or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product relies on data: the Requirements Document (section 3.1) says the product's value is measured by whether a request can be prepared correctly the first time, followed without chasing, and understood later by someone who was not involved. Each outcome depends on data rather than on screens.
Right first time depends on request-type rules (request type decides mandatory attachments and minimum lead time, FR-01 to FR-03), the checklist, and reference data inherited from PRISM Core (NFR-09).
Followed without chasing depends on every status change, owner change and message being written to the request (FR-13 to FR-16). The problem statement names fragmentation across WORTS, email, Teams, spreadsheets and paper as the root cause.
Understood later depends on keeping the original, keeping history, and retention (FR-21, NFR-17), as in Scenario 6 (warranty claim two years later).
Session Three, "Start from the sink, not the source": a pipeline designed from the sink answers "what do we need?". That is why the measurement sink is defined first.
Check before submission: confirm these three outcomes match the wording of our DPO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One asks for the key sources, the data elements each provides, and where each is born. This is the Working 1 source inventory (Scope, Data Sources and Origin frame on the Miro board), grouped as Session Four suggests: people and workflow (human-generated), systems and channels, and reference data.
Data elements are named as entities and attributes, not as "request data" (Session Four, "Two vocabularies"). The full list, with where each element is mastered (PRISM Core, the service, or procurement), is in the MDPM 883 data dictionary: for example Work Order ID, Request Type, Requesting Ministry, Building Code, Required Date, Request Status, Request History, Interaction History, Attachments.
Where data is born matters most for the people sources. The original requester's need is born in the office and reaches the CMAC by email, Teams or phone. Coordinator decisions are born during review. Vendor and mover updates are born on the day of picking or delivery (team data workflow brainstorm).
SnapTracker and OneGX/SAP are marked "to validate". We list them because they hold inventory and purchasing data, but their elements are not confirmed (see scope, next slide).
Reference data: the client confirmed on 7 October that the existing system holds facility address, postal code, contacts, occupants, floors and area, and that he can obtain this data. The request checklist is completed outside the system today and attached as a file (data dictionary, Client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Boundary statement (Working 1): the pipeline covers the information needed for the Furniture Request lifecycle, from preparation and submission through review, coordination, fulfilment, closure and reporting. It describes the conceptual flow of information without prescribing system integrations or historical data migration.
Justification against requirements and constraints:
1. Mandated constraint (Requirements Document 3.3): scope is the Furniture Request service, not all Infrastructure service delivery. So other WORTS services and maintenance workflows are out.
2. Mandated constraint: the product fits inside PRISM Core, so building, people and organization data are inherited, not mastered. We use them; we do not maintain them (3.4).
3. Integrations: on the 15 October call the client told us to build the workflow "agnostic of what it's going to be plugged into" and to assume the buildings and other data exist. He will handle integration into PRISM Facilities. Our admin meeting agreed to acknowledge SnapTracker and OneGX/SAP without making an unconfirmed integration a product requirement.
4. Historical WORTS migration has not been confirmed by the client.
5. Suppliers and installers do not transact in the product; their progress is reflected in the request (3.4, FR-17). Vendor information may still be needed, but a vendor-facing application is not.
Session Four: "Boundaries are decisions, not omissions. A justified exclusion is worth more than an unjustified inclusion."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image shows
This is the pipeline model from our Miro board, built on the Session Four conceptual template. Five stages (the nodes) carry the data from source to sink, and each stage has an owner. The Use stage feeds three kinds of sink: product, measurement and business value. The dashed line is the loop: data created through use flows back to the start. The line underneath states the scope boundary from Step One. The link opens the board with view access. The frame shown is "Pipeline Mapping (Ade): Source to Sink"; the detail behind it is in the frame "Working 2: Pipeline Stages and Data Ownership".
One request, traced through the stages (the request tested in usability Task 1)
Generate: staff need 14 more task chairs on the 2nd floor of McDougall Centre. The need is born with the requester and reaches the CMAC by email, Teams or phone.
Collect: the CMAC enters it in the guided form: request type, quantity, required date, recycled or new preference, and a floor plan showing where the chairs will go. Requester and building details are pre-filled from PRISM Core. The request is kept exactly as submitted (bronze).
Keep and Shape: the coordinator checks it against the checklist. If something is missing, it goes back to the CMAC in the request thread. If it passes, it becomes one clean record (silver): one Work Order ID, one status, a named owner.
Store: every later change is added to the same record with a time and an author. Nothing is overwritten.
Use: the CMAC sees the status, the owner and the next step; the coordinator works from one queue; time in each stage is measured; reports add up recycled versus new chairs (gold).
Loop: stage changes, messages, follow-ups and closures become new data that improves the checklist and the guidance.
Controls at the hand-offs
Nodes do the work; connectors carry the data and the controls (Session Four, adapted from Raj et al., 2020). At every hand-off we ask the five questions: authentication (who may move this data), validation (is it acceptable), monitoring (would we know if the flow stopped), mitigation (what happens on failure) and alarm (who is told). Examples: only an authorized requester may submit for their ministry (FR-25); required fields and attachments are checked by request type (FR-03, FR-07); every stage change is time-stamped, so a stalled request is visible; a failed upload is retried and the user is told; an email tells the requester when action is required, which is the client's preferred channel. Controls that are not in our requirements are Proposed.
Key
Bronze, silver and gold describe how far the data has been transformed and how far it is trusted (Session Four). Bronze is the request as submitted, which is the audit trail. Silver is cleaned and made consistent, which is what the product reads. Gold is aggregated, which is what the reports read. Red marks an item that is Proposed or Open and needs the client's confirmation.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Two asks three things of each stage: who or what is responsible, what the preparation step must achieve, and the constraints (quality, frequency, format, ownership and access). The technical method is not assessed, so we state what clean must achieve, not how it is engineered.
Owners
Every node has an owner (Session Four). We separate who enters the data from who is accountable for its accuracy. Creators answer for what they state; the stage owner answers for the rules that make the data trustworthy; the data owner answers for the record end to end.
Generate: each creator, for what they state: the requester (the need), the CMAC (the request), the Furniture Request Coordinator (the review), the Furniture Coordinator (the assignment and the proposal), and the vendor or mover (delivery).
Collect: the CMAC, for the details submitted (Proposed). Requester and building details come from PRISM Core; the owner of that reference data is Open.
Keep and Shape: Open. We propose the Furniture Request Coordinator, who decides whether a request is complete enough to act on.
Store: the data owner is Open, to confirm with the client.
Use: CMACs, coordinators and Infrastructure management read the data. The data owner answers for what the views show; the owner of each report is Open.
What clean means
Clean is a product decision (Session Three). The six rules on the slide define a trusted record. The original is kept as submitted, so a later question can always go back to it. The client confirmed on 7 October that the checklist is meant to act as validation of what a request requires. Evidence that the rules are needed: the prototype shows one request as both "Awaiting initial review" and "Reviewing", and activity dated before submission. A request that fails the checks goes back to the CMAC in the request thread and is checked again.
Constraints
Quality: there is no agreed match key for duplicates yet, and status labels conflict.
Frequency: human-generated and intermittent; event-driven, one request at a time.
Format: needs arrive by email, Teams, phone and hand-drawn floor plans. Files are limited to 10MB and replies to 5MB. Floor plans sit in another service and are not open to CMACs (client, 7 October).
Access: role-based on every view (FR-25, NFR-14 to NFR-16). That a CMAC sees only their own requests is Proposed until the client confirms the exact permissions.
Retention: per the Government of Alberta records schedule (NFR-17), to confirm. There is no historical migration and no direct SnapTracker or OneGX/SAP link.
Open items to confirm with the client: the owners of Keep and Shape and of Store; the owner of PRISM Core reference data; the duplicate match key; the exact CMAC permissions.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sink is a use case (Session Four). For each we name what it does, the value, and the storage and access it implies.
Product sinks:
1. Guided submission: checklist inside the form, attachments required by request type (FR-03), pre-filled requester and facility data (NFR-09). Value: the request is right the first time, which removes one of the two main sources of rework named in Milestone 1. Requirement: reference data must be current at entry. The client asked for an admin screen for lists such as ministries, because ministries change often.
2. Request tracking: status, stage, owner or group, next step, history and messages (FR-13 to FR-16, FR-19). Value: followed without chasing. The client confirmed a read-only status link for external requesters is useful, asked that requesters see a group rather than "not yet assigned", and prefers email notification.
3. Coordinator queue: incomplete and duplicate requests flagged (FR-07, FR-22), with a self-assign button (client request). Value: actionable the day it arrives (Scenario 7).
Measurement sink, tied to our outcomes: share of requests complete at first submission (no return for information); CMAC follow-up messages per request; time in each stage and to first assignment; late updates; duplicates found. The team brainstorm already named "time spent in each stage, late updates and CMAC follow-ups". Requirement: a complete, timestamped event history from release one, so we have a baseline.
Business-value sinks:
Infrastructure reporting by location, status and period (FR-24): workload, delays, bottlenecks. Standard report target 30 seconds (NFR-13, proposed).
Recycle program: recycled versus new decisions (FR-11, FR-12) inform inventory planning and cost avoidance. Blocked until the decision is captured (gap G2).
Asset and warranty history: completed requests found years later (FR-18, FR-21, Scenario 6). Retained per the Government of Alberta records schedule (NFR-17).
PRISM Facilities: on 15 October the client said he will take our flows and a write-up of how they work and build them into PRISM Facilities, possibly split into staff-facing and external-facing parts. Our data definitions, with where each is mastered, are a direct input.
State the requirements, not the technology: these four requirement cards are what we hand to Milestone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Four: what new data the product and pipeline create through use that did not exist before, who collects it, and where it can go.
New data created by use (full table on the Miro frame "Data Pipeline: Sinks, Generated Data, Gaps and Leaks"):
Stage-change timestamps, created on every status or owner change. Recorded by the product. The team brainstorm proposed "record the time whenever a request changes stage".
Validation results: missing fields caught before submission, and requests returned for information at review.
Clarification messages and answers, kept in the request thread rather than in a mailbox (Scenario 7).
Duplicate resolutions: which request continues, and why (FR-22).
Proposal shares and client decisions. The share is captured in the prototype; the client's decision is not yet (gap G2).
Upload results: success, failure and size.
Closure confirmations and issue reports at closure (data dictionary: Closure Confirmation, Issue Report).
Who collects it: the product records it automatically, but no role is yet named to review it. Session Four: "Ask who collects it. Often the answer is nobody, and that is your first leak." We propose that the Store data owner also owns the measurement report (to confirm).
How value compounds over time: better guidance means more requests are complete at first submission. That gives cleaner records and trustworthy measurement, which supports better workflow decisions, which are then measured again. The team's earlier loop was "identify delays, improve workflow, measure again".
Balancing loop (Session Three systems question): coordinator update effort pushes back. If updates are entered late or too briefly, which our brainstorm listed as a place where data goes missing, the loop weakens. That is why controls F and S are on the connectors.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Gaps (G) are data the product needs that is not generated, collected, accessible or trustworthy. Leaks (L) are data that already exists but is not used to its full value. Each is tied to a stage and framed as a headwind or tailwind across data, process, governance and organization, with an implication: scope it out, phase it, change the workflow, or budget for it (Session Four).
Evidence for each:
G1 Off-system updates: team brainstorm ("Email/Teams update never added back to the request", "Phone conversation is not captured") and the problem statement.
G2 Client decision: the prototype records "Proposal shared with client" and says "Client approval is still pending"; there is no decision record. The client noted that back-and-forth on outcomes is supportable but adds complexity.
G3 Duplicate match key: Scenario 2 and FR-22. Session Four: "The duplicate-request problem is a missing key before it is anything else."
G4 Unnamed owners: marked "BUSINESS RULES?" and "DATA OWNER?" on our board.
G5 Floor plans: the client said on 7 October that floor plans are not accessible to requesters, are stored in another service, and some are out of date. Routing plans through coordinators was a team proposal; the client said to double-check.
G6 External progress: suppliers and installers do not transact in the product (3.4); integrations are out of scope. So coordinators must record progress, which is staff time to budget.
G7 Retention and warranty: Requirements Document open issues (NFR-17, FR-18).
G8 Role handoff: the client did not know exactly when responsibility passes from the Furniture Request Coordinator to the Furniture Coordinator, and will connect us with staff who have done both roles.
L1 Checklist: completed outside the system and attached as a document (data dictionary). The client said the current system lacks validation and liked the in-form checklist.
L2 Facility data: exists in the current system and can be pre-filled (client, 7 October). This is a tailwind.
L3 WORTS: used mainly for tracking and reporting while the work happens elsewhere (problem statement), so its records reach one consumer.
L4 Time in stage: nobody measures it today. It becomes measurable once timestamps are collected.
L5 Recycle decisions: not reported back to the recycle program. Phase after G2.
Tailwinds overall: the client will plug our flows into PRISM Facilities and can supply building data; Government of Alberta roles and PRISM Core master data already exist; quote sharing is feasible.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Connection to the PRD and Milestone 3. The sinks are our data use cases, and together they set storage and access requirements. We state requirements, not technology.
1. One request record keyed by Work Order ID, with append-only history. This keeps the original (bronze) and supports FR-15, FR-16, FR-21 and FR-22.
2. Reference data inherited from PRISM Core (mandated constraint), plus admin-editable lists for ministries (client request).
3. Role-based access on every view and report (FR-25, FR-26, NFR-14 to NFR-16), including a read-only external status link.
4. Every stage change time-stamped and attributed. This is the source of the measurement sink and the alarm. Email notification on Action Required (client preference).
5. Aggregated reporting by location, status and period (FR-24, NFR-13), with retention per the records schedule (NFR-17).
Open decisions: the owners for Keep and Shape and for Store; the duplicate match key; whether to capture the client decision or record it as a gap; the retention period and floor-plan access; and the measurement wording, checked against our DPO outcomes.
Milestone 3 architecture decisions will use the four requirement cards on slide 7: how fresh, how complete, what form, who may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nvSpPr>
        <p:spPr>
          <a:xfrm>
            <a:off x="548640" y="6355080"/>
            <a:ext cx="7315200" cy="274320"/>
          </a:xfrm>
          <a:prstGeom prst="rect">
            <a:avLst/>
          </a:prstGeom>
          <a:noFill/>
          <a:ln/>
        </p:spPr>
        <p:txBody>
          <a:bodyPr wrap="square" rtlCol="0" anchor="ctr"/>
          <a:lstStyle/>
          <a:p>
            <a:pPr indent="0" marL="0">
              <a:buNone/>
            </a:pPr>
            <a:r>
              <a:rPr lang="en-US" sz="1000" dirty="0">
                <a:solidFill>
                  <a:schemeClr val="bg2"/>
                </a:solidFill>
              </a:rPr>
              <a:t>Team DART  |  MDPM 830 Data Pipeline</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400800"/>
            <a:ext cx="7315200" cy="274320"/>
          </a:xfrm>
          <a:prstGeom prst="rect">
            <a:avLst/>
          </a:prstGeom>
          <a:noFill/>
          <a:ln/>
        </p:spPr>
        <p:txBody>
          <a:bodyPr wrap="square" rtlCol="0" anchor="ctr"/>
          <a:lstStyle/>
          <a:p>
            <a:pPr indent="0" marL="0">
              <a:buNone/>
            </a:pPr>
            <a:r>
              <a:rPr lang="en-US" sz="1000" dirty="0">
                <a:solidFill>
                  <a:srgbClr val="6B7B7B"/>
                </a:solidFill>
              </a:rPr>
              <a:t>Team DART  |  MDPM 830 Data Pipeline</a:t>
            </a:r>
            <a:endParaRPr lang="en-US" sz="1000" dirty="0"/>
          </a:p>
        </p:txBody>
      </p:sp>
      <p:sp>
        <p:nvSpPr>
          <p:cNvPr id="3" name="Text 1"/>
          <p:cNvSpPr/>
          <p:nvPr>
            <p:ph idx="101" type="title" hasCustomPrompt="1"/>
          </p:nvPr>
        </p:nvSpPr>
        <p:spPr>
          <a:xfrm>
            <a:off x="548640" y="365760"/>
            <a:ext cx="11064240" cy="685800"/>
          </a:xfrm>
          <a:prstGeom prst="rect">
            <a:avLst/>
          </a:prstGeom>
          <a:noFill/>
          <a:ln/>
        </p:spPr>
        <p:txBody>
          <a:bodyPr wrap="square" rtlCol="0"/>
          <a:lstStyle>
            <a:lvl1pPr indent="0" marL="0">
              <a:buNone/>
              <a:defRPr lang="en-US" sz="3000" b="1" dirty="0">
                <a:solidFill>
                  <a:schemeClr val="tx2"/>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4" name="Text 1"/>
          <p:cNvSpPr/>
          <p:nvPr>
            <p:ph idx="102" type="body" hasCustomPrompt="1"/>
          </p:nvPr>
        </p:nvSpPr>
        <p:spPr>
          <a:xfrm>
            <a:off x="548640" y="91440"/>
            <a:ext cx="11064240" cy="320040"/>
          </a:xfrm>
          <a:prstGeom prst="rect">
            <a:avLst/>
          </a:prstGeom>
          <a:noFill/>
          <a:ln/>
        </p:spPr>
        <p:txBody>
          <a:bodyPr wrap="square" rtlCol="0"/>
          <a:lstStyle>
            <a:lvl1pPr indent="0" marL="0">
              <a:buNone/>
              <a:defRPr lang="en-US" sz="1200" b="1" dirty="0">
                <a:solidFill>
                  <a:schemeClr val="accent1"/>
                </a:solidFill>
              </a:defRPr>
            </a:lvl1pPr>
          </a:lstStyle>
          <a:p>
            <a:pPr indent="0" marL="0">
              <a:buNone/>
            </a:pP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B7B"/>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B7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hyperlink" Target="https://miro.com/app/board/uXjVHidlV4o=/" TargetMode="External"/><Relationship Id="rId1" Type="http://schemas.openxmlformats.org/officeDocument/2006/relationships/image" Target="../media/image-5-1.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097280"/>
            <a:ext cx="10058400" cy="365760"/>
          </a:xfrm>
          <a:prstGeom prst="rect">
            <a:avLst/>
          </a:prstGeom>
          <a:noFill/>
          <a:ln/>
        </p:spPr>
        <p:txBody>
          <a:bodyPr wrap="square" rtlCol="0" anchor="ctr"/>
          <a:lstStyle/>
          <a:p>
            <a:pPr indent="0" marL="0">
              <a:buNone/>
            </a:pPr>
            <a:r>
              <a:rPr lang="en-US" sz="1600" b="1" dirty="0">
                <a:solidFill>
                  <a:schemeClr val="accent2"/>
                </a:solidFill>
              </a:rPr>
              <a:t>MDPM 830  |  Team Assignment: Data Pipeline</a:t>
            </a:r>
            <a:endParaRPr lang="en-US" sz="1600" dirty="0"/>
          </a:p>
        </p:txBody>
      </p:sp>
      <p:sp>
        <p:nvSpPr>
          <p:cNvPr id="3" name="Text 1"/>
          <p:cNvSpPr txBox="1"/>
          <p:nvPr/>
        </p:nvSpPr>
        <p:spPr>
          <a:xfrm>
            <a:off x="731520" y="1645920"/>
            <a:ext cx="10515600" cy="1280160"/>
          </a:xfrm>
          <a:prstGeom prst="rect">
            <a:avLst/>
          </a:prstGeom>
          <a:noFill/>
          <a:ln/>
        </p:spPr>
        <p:txBody>
          <a:bodyPr wrap="square" rtlCol="0" anchor="ctr"/>
          <a:lstStyle/>
          <a:p>
            <a:pPr indent="0" marL="0">
              <a:buNone/>
            </a:pPr>
            <a:r>
              <a:rPr lang="en-US" sz="4400" b="1" dirty="0">
                <a:solidFill>
                  <a:schemeClr val="bg1"/>
                </a:solidFill>
                <a:latin typeface="Cambria" pitchFamily="34" charset="0"/>
                <a:ea typeface="Cambria" pitchFamily="34" charset="-122"/>
                <a:cs typeface="Cambria" pitchFamily="34" charset="-120"/>
              </a:rPr>
              <a:t>PRISM Furniture Request: Data Pipeline</a:t>
            </a:r>
            <a:endParaRPr lang="en-US" sz="4400" dirty="0"/>
          </a:p>
        </p:txBody>
      </p:sp>
      <p:sp>
        <p:nvSpPr>
          <p:cNvPr id="4" name="Text 2"/>
          <p:cNvSpPr txBox="1"/>
          <p:nvPr/>
        </p:nvSpPr>
        <p:spPr>
          <a:xfrm>
            <a:off x="731520" y="3017520"/>
            <a:ext cx="9601200" cy="822960"/>
          </a:xfrm>
          <a:prstGeom prst="rect">
            <a:avLst/>
          </a:prstGeom>
          <a:noFill/>
          <a:ln/>
        </p:spPr>
        <p:txBody>
          <a:bodyPr wrap="square" rtlCol="0" anchor="ctr"/>
          <a:lstStyle/>
          <a:p>
            <a:pPr indent="0" marL="0">
              <a:buNone/>
            </a:pPr>
            <a:r>
              <a:rPr lang="en-US" sz="2000" dirty="0">
                <a:solidFill>
                  <a:schemeClr val="bg2"/>
                </a:solidFill>
              </a:rPr>
              <a:t>Where request data is born, how it moves through five stages, and the value each sink creates</a:t>
            </a:r>
            <a:endParaRPr lang="en-US" sz="2000" dirty="0"/>
          </a:p>
        </p:txBody>
      </p:sp>
      <p:sp>
        <p:nvSpPr>
          <p:cNvPr id="5" name="Shape 3"/>
          <p:cNvSpPr/>
          <p:nvPr/>
        </p:nvSpPr>
        <p:spPr>
          <a:xfrm>
            <a:off x="731520" y="4297680"/>
            <a:ext cx="1828800" cy="548640"/>
          </a:xfrm>
          <a:prstGeom prst="roundRect">
            <a:avLst>
              <a:gd name="adj" fmla="val 13333"/>
            </a:avLst>
          </a:prstGeom>
          <a:solidFill>
            <a:schemeClr val="accent1"/>
          </a:solidFill>
          <a:ln/>
        </p:spPr>
      </p:sp>
      <p:sp>
        <p:nvSpPr>
          <p:cNvPr id="6" name="Text 4"/>
          <p:cNvSpPr txBox="1"/>
          <p:nvPr/>
        </p:nvSpPr>
        <p:spPr>
          <a:xfrm>
            <a:off x="731520" y="4297680"/>
            <a:ext cx="1828800" cy="548640"/>
          </a:xfrm>
          <a:prstGeom prst="rect">
            <a:avLst/>
          </a:prstGeom>
          <a:noFill/>
          <a:ln/>
        </p:spPr>
        <p:txBody>
          <a:bodyPr wrap="square" lIns="0" tIns="0" rIns="0" bIns="0" rtlCol="0" anchor="ctr"/>
          <a:lstStyle/>
          <a:p>
            <a:pPr algn="ctr" indent="0" marL="0">
              <a:buNone/>
            </a:pPr>
            <a:r>
              <a:rPr lang="en-US" sz="1400" b="1" dirty="0">
                <a:solidFill>
                  <a:schemeClr val="bg1"/>
                </a:solidFill>
              </a:rPr>
              <a:t>1  Generate</a:t>
            </a:r>
            <a:endParaRPr lang="en-US" sz="1400" dirty="0"/>
          </a:p>
        </p:txBody>
      </p:sp>
      <p:sp>
        <p:nvSpPr>
          <p:cNvPr id="7" name="Shape 5"/>
          <p:cNvSpPr/>
          <p:nvPr/>
        </p:nvSpPr>
        <p:spPr>
          <a:xfrm>
            <a:off x="2606040" y="4443984"/>
            <a:ext cx="237744" cy="256032"/>
          </a:xfrm>
          <a:prstGeom prst="rightArrow">
            <a:avLst/>
          </a:prstGeom>
          <a:solidFill>
            <a:schemeClr val="accent2"/>
          </a:solidFill>
          <a:ln/>
        </p:spPr>
      </p:sp>
      <p:sp>
        <p:nvSpPr>
          <p:cNvPr id="8" name="Shape 6"/>
          <p:cNvSpPr/>
          <p:nvPr/>
        </p:nvSpPr>
        <p:spPr>
          <a:xfrm>
            <a:off x="2880360" y="4297680"/>
            <a:ext cx="1828800" cy="548640"/>
          </a:xfrm>
          <a:prstGeom prst="roundRect">
            <a:avLst>
              <a:gd name="adj" fmla="val 13333"/>
            </a:avLst>
          </a:prstGeom>
          <a:solidFill>
            <a:schemeClr val="accent1"/>
          </a:solidFill>
          <a:ln/>
        </p:spPr>
      </p:sp>
      <p:sp>
        <p:nvSpPr>
          <p:cNvPr id="9" name="Text 7"/>
          <p:cNvSpPr txBox="1"/>
          <p:nvPr/>
        </p:nvSpPr>
        <p:spPr>
          <a:xfrm>
            <a:off x="2880360" y="4297680"/>
            <a:ext cx="1828800" cy="548640"/>
          </a:xfrm>
          <a:prstGeom prst="rect">
            <a:avLst/>
          </a:prstGeom>
          <a:noFill/>
          <a:ln/>
        </p:spPr>
        <p:txBody>
          <a:bodyPr wrap="square" lIns="0" tIns="0" rIns="0" bIns="0" rtlCol="0" anchor="ctr"/>
          <a:lstStyle/>
          <a:p>
            <a:pPr algn="ctr" indent="0" marL="0">
              <a:buNone/>
            </a:pPr>
            <a:r>
              <a:rPr lang="en-US" sz="1400" b="1" dirty="0">
                <a:solidFill>
                  <a:schemeClr val="bg1"/>
                </a:solidFill>
              </a:rPr>
              <a:t>2  Collect</a:t>
            </a:r>
            <a:endParaRPr lang="en-US" sz="1400" dirty="0"/>
          </a:p>
        </p:txBody>
      </p:sp>
      <p:sp>
        <p:nvSpPr>
          <p:cNvPr id="10" name="Shape 8"/>
          <p:cNvSpPr/>
          <p:nvPr/>
        </p:nvSpPr>
        <p:spPr>
          <a:xfrm>
            <a:off x="4754880" y="4443984"/>
            <a:ext cx="237744" cy="256032"/>
          </a:xfrm>
          <a:prstGeom prst="rightArrow">
            <a:avLst/>
          </a:prstGeom>
          <a:solidFill>
            <a:schemeClr val="accent2"/>
          </a:solidFill>
          <a:ln/>
        </p:spPr>
      </p:sp>
      <p:sp>
        <p:nvSpPr>
          <p:cNvPr id="11" name="Shape 9"/>
          <p:cNvSpPr/>
          <p:nvPr/>
        </p:nvSpPr>
        <p:spPr>
          <a:xfrm>
            <a:off x="5029200" y="4297680"/>
            <a:ext cx="1828800" cy="548640"/>
          </a:xfrm>
          <a:prstGeom prst="roundRect">
            <a:avLst>
              <a:gd name="adj" fmla="val 13333"/>
            </a:avLst>
          </a:prstGeom>
          <a:solidFill>
            <a:schemeClr val="accent1"/>
          </a:solidFill>
          <a:ln/>
        </p:spPr>
      </p:sp>
      <p:sp>
        <p:nvSpPr>
          <p:cNvPr id="12" name="Text 10"/>
          <p:cNvSpPr txBox="1"/>
          <p:nvPr/>
        </p:nvSpPr>
        <p:spPr>
          <a:xfrm>
            <a:off x="5029200" y="4297680"/>
            <a:ext cx="1828800" cy="548640"/>
          </a:xfrm>
          <a:prstGeom prst="rect">
            <a:avLst/>
          </a:prstGeom>
          <a:noFill/>
          <a:ln/>
        </p:spPr>
        <p:txBody>
          <a:bodyPr wrap="square" lIns="0" tIns="0" rIns="0" bIns="0" rtlCol="0" anchor="ctr"/>
          <a:lstStyle/>
          <a:p>
            <a:pPr algn="ctr" indent="0" marL="0">
              <a:buNone/>
            </a:pPr>
            <a:r>
              <a:rPr lang="en-US" sz="1400" b="1" dirty="0">
                <a:solidFill>
                  <a:schemeClr val="bg1"/>
                </a:solidFill>
              </a:rPr>
              <a:t>3  Keep and Shape</a:t>
            </a:r>
            <a:endParaRPr lang="en-US" sz="1400" dirty="0"/>
          </a:p>
        </p:txBody>
      </p:sp>
      <p:sp>
        <p:nvSpPr>
          <p:cNvPr id="13" name="Shape 11"/>
          <p:cNvSpPr/>
          <p:nvPr/>
        </p:nvSpPr>
        <p:spPr>
          <a:xfrm>
            <a:off x="6903720" y="4443984"/>
            <a:ext cx="237744" cy="256032"/>
          </a:xfrm>
          <a:prstGeom prst="rightArrow">
            <a:avLst/>
          </a:prstGeom>
          <a:solidFill>
            <a:schemeClr val="accent2"/>
          </a:solidFill>
          <a:ln/>
        </p:spPr>
      </p:sp>
      <p:sp>
        <p:nvSpPr>
          <p:cNvPr id="14" name="Shape 12"/>
          <p:cNvSpPr/>
          <p:nvPr/>
        </p:nvSpPr>
        <p:spPr>
          <a:xfrm>
            <a:off x="7178040" y="4297680"/>
            <a:ext cx="1828800" cy="548640"/>
          </a:xfrm>
          <a:prstGeom prst="roundRect">
            <a:avLst>
              <a:gd name="adj" fmla="val 13333"/>
            </a:avLst>
          </a:prstGeom>
          <a:solidFill>
            <a:schemeClr val="accent1"/>
          </a:solidFill>
          <a:ln/>
        </p:spPr>
      </p:sp>
      <p:sp>
        <p:nvSpPr>
          <p:cNvPr id="15" name="Text 13"/>
          <p:cNvSpPr txBox="1"/>
          <p:nvPr/>
        </p:nvSpPr>
        <p:spPr>
          <a:xfrm>
            <a:off x="7178040" y="4297680"/>
            <a:ext cx="1828800" cy="548640"/>
          </a:xfrm>
          <a:prstGeom prst="rect">
            <a:avLst/>
          </a:prstGeom>
          <a:noFill/>
          <a:ln/>
        </p:spPr>
        <p:txBody>
          <a:bodyPr wrap="square" lIns="0" tIns="0" rIns="0" bIns="0" rtlCol="0" anchor="ctr"/>
          <a:lstStyle/>
          <a:p>
            <a:pPr algn="ctr" indent="0" marL="0">
              <a:buNone/>
            </a:pPr>
            <a:r>
              <a:rPr lang="en-US" sz="1400" b="1" dirty="0">
                <a:solidFill>
                  <a:schemeClr val="bg1"/>
                </a:solidFill>
              </a:rPr>
              <a:t>4  Store</a:t>
            </a:r>
            <a:endParaRPr lang="en-US" sz="1400" dirty="0"/>
          </a:p>
        </p:txBody>
      </p:sp>
      <p:sp>
        <p:nvSpPr>
          <p:cNvPr id="16" name="Shape 14"/>
          <p:cNvSpPr/>
          <p:nvPr/>
        </p:nvSpPr>
        <p:spPr>
          <a:xfrm>
            <a:off x="9052560" y="4443984"/>
            <a:ext cx="237744" cy="256032"/>
          </a:xfrm>
          <a:prstGeom prst="rightArrow">
            <a:avLst/>
          </a:prstGeom>
          <a:solidFill>
            <a:schemeClr val="accent2"/>
          </a:solidFill>
          <a:ln/>
        </p:spPr>
      </p:sp>
      <p:sp>
        <p:nvSpPr>
          <p:cNvPr id="17" name="Shape 15"/>
          <p:cNvSpPr/>
          <p:nvPr/>
        </p:nvSpPr>
        <p:spPr>
          <a:xfrm>
            <a:off x="9326880" y="4297680"/>
            <a:ext cx="1828800" cy="548640"/>
          </a:xfrm>
          <a:prstGeom prst="roundRect">
            <a:avLst>
              <a:gd name="adj" fmla="val 13333"/>
            </a:avLst>
          </a:prstGeom>
          <a:solidFill>
            <a:schemeClr val="accent1"/>
          </a:solidFill>
          <a:ln/>
        </p:spPr>
      </p:sp>
      <p:sp>
        <p:nvSpPr>
          <p:cNvPr id="18" name="Text 16"/>
          <p:cNvSpPr txBox="1"/>
          <p:nvPr/>
        </p:nvSpPr>
        <p:spPr>
          <a:xfrm>
            <a:off x="9326880" y="4297680"/>
            <a:ext cx="1828800" cy="548640"/>
          </a:xfrm>
          <a:prstGeom prst="rect">
            <a:avLst/>
          </a:prstGeom>
          <a:noFill/>
          <a:ln/>
        </p:spPr>
        <p:txBody>
          <a:bodyPr wrap="square" lIns="0" tIns="0" rIns="0" bIns="0" rtlCol="0" anchor="ctr"/>
          <a:lstStyle/>
          <a:p>
            <a:pPr algn="ctr" indent="0" marL="0">
              <a:buNone/>
            </a:pPr>
            <a:r>
              <a:rPr lang="en-US" sz="1400" b="1" dirty="0">
                <a:solidFill>
                  <a:schemeClr val="bg1"/>
                </a:solidFill>
              </a:rPr>
              <a:t>5  Use</a:t>
            </a:r>
            <a:endParaRPr lang="en-US" sz="1400" dirty="0"/>
          </a:p>
        </p:txBody>
      </p:sp>
      <p:sp>
        <p:nvSpPr>
          <p:cNvPr id="19" name="Text 17"/>
          <p:cNvSpPr txBox="1"/>
          <p:nvPr/>
        </p:nvSpPr>
        <p:spPr>
          <a:xfrm>
            <a:off x="731520" y="5394960"/>
            <a:ext cx="10515600" cy="365760"/>
          </a:xfrm>
          <a:prstGeom prst="rect">
            <a:avLst/>
          </a:prstGeom>
          <a:noFill/>
          <a:ln/>
        </p:spPr>
        <p:txBody>
          <a:bodyPr wrap="square" rtlCol="0" anchor="ctr"/>
          <a:lstStyle/>
          <a:p>
            <a:pPr indent="0" marL="0">
              <a:buNone/>
            </a:pPr>
            <a:r>
              <a:rPr lang="en-US" sz="1400" dirty="0">
                <a:solidFill>
                  <a:schemeClr val="bg2"/>
                </a:solidFill>
              </a:rPr>
              <a:t>Team DART  |  Government of Alberta, Ministry of Infrastructure (client)  |  Due 8 November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body" hasCustomPrompt="1"/>
          </p:nvPr>
        </p:nvSpPr>
        <p:spPr>
          <a:xfrm>
            <a:off x="548640" y="91440"/>
            <a:ext cx="11064240" cy="320040"/>
          </a:xfrm>
          <a:prstGeom prst="rect">
            <a:avLst/>
          </a:prstGeom>
          <a:noFill/>
          <a:ln/>
        </p:spPr>
        <p:txBody>
          <a:bodyPr wrap="square" lIns="1016" tIns="1016" rIns="1016" bIns="1016" rtlCol="0" anchor="b"/>
          <a:lstStyle/>
          <a:p>
            <a:pPr indent="0" marL="0">
              <a:buNone/>
            </a:pPr>
            <a:r>
              <a:rPr lang="en-US" sz="1200" b="1" dirty="0">
                <a:solidFill>
                  <a:schemeClr val="accent1"/>
                </a:solidFill>
              </a:rPr>
              <a:t>WHY A PIPELINE</a:t>
            </a:r>
            <a:endParaRPr lang="en-US" sz="1200" dirty="0"/>
          </a:p>
        </p:txBody>
      </p:sp>
      <p:sp>
        <p:nvSpPr>
          <p:cNvPr id="3" name="Text 1"/>
          <p:cNvSpPr/>
          <p:nvPr>
            <p:ph idx="101" type="title" hasCustomPrompt="1"/>
          </p:nvPr>
        </p:nvSpPr>
        <p:spPr>
          <a:xfrm>
            <a:off x="548640" y="365760"/>
            <a:ext cx="11064240" cy="685800"/>
          </a:xfrm>
          <a:prstGeom prst="rect">
            <a:avLst/>
          </a:prstGeom>
          <a:noFill/>
          <a:ln/>
        </p:spPr>
        <p:txBody>
          <a:bodyPr wrap="square" lIns="1016" tIns="1016" rIns="1016" bIns="1016"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The product runs on one request record</a:t>
            </a:r>
            <a:endParaRPr lang="en-US" sz="3000" dirty="0"/>
          </a:p>
        </p:txBody>
      </p:sp>
      <p:sp>
        <p:nvSpPr>
          <p:cNvPr id="4" name="Text 2"/>
          <p:cNvSpPr txBox="1"/>
          <p:nvPr/>
        </p:nvSpPr>
        <p:spPr>
          <a:xfrm>
            <a:off x="548640" y="1143000"/>
            <a:ext cx="11064240" cy="822960"/>
          </a:xfrm>
          <a:prstGeom prst="rect">
            <a:avLst/>
          </a:prstGeom>
          <a:noFill/>
          <a:ln/>
        </p:spPr>
        <p:txBody>
          <a:bodyPr wrap="square" lIns="1016" tIns="1016" rIns="1016" bIns="1016" rtlCol="0" anchor="t"/>
          <a:lstStyle/>
          <a:p>
            <a:pPr indent="0" marL="0">
              <a:buNone/>
            </a:pPr>
            <a:r>
              <a:rPr lang="en-US" sz="1600" dirty="0">
                <a:solidFill>
                  <a:schemeClr val="tx1"/>
                </a:solidFill>
                <a:latin typeface="Calibri" pitchFamily="34" charset="0"/>
                <a:ea typeface="Calibri" pitchFamily="34" charset="-122"/>
                <a:cs typeface="Calibri" pitchFamily="34" charset="-120"/>
              </a:rPr>
              <a:t>Today a request is scattered across WORTS, email, Teams, spreadsheets and paper, so nobody can answer "what is happening with my request?". PRISM Furniture Request makes the request a single record that can be followed.</a:t>
            </a:r>
            <a:endParaRPr lang="en-US" sz="1600" dirty="0"/>
          </a:p>
        </p:txBody>
      </p:sp>
      <p:sp>
        <p:nvSpPr>
          <p:cNvPr id="5" name="outcome0"/>
          <p:cNvSpPr/>
          <p:nvPr/>
        </p:nvSpPr>
        <p:spPr>
          <a:xfrm>
            <a:off x="548640" y="2194560"/>
            <a:ext cx="3520440" cy="2743200"/>
          </a:xfrm>
          <a:prstGeom prst="roundRect">
            <a:avLst>
              <a:gd name="adj" fmla="val 2667"/>
            </a:avLst>
          </a:prstGeom>
          <a:solidFill>
            <a:srgbClr val="EEF4F3"/>
          </a:solidFill>
          <a:ln/>
        </p:spPr>
      </p:sp>
      <p:sp>
        <p:nvSpPr>
          <p:cNvPr id="6" name="Shape 4"/>
          <p:cNvSpPr/>
          <p:nvPr/>
        </p:nvSpPr>
        <p:spPr>
          <a:xfrm>
            <a:off x="777240" y="2377440"/>
            <a:ext cx="384048" cy="384048"/>
          </a:xfrm>
          <a:prstGeom prst="ellipse">
            <a:avLst/>
          </a:prstGeom>
          <a:solidFill>
            <a:schemeClr val="accent1"/>
          </a:solidFill>
          <a:ln/>
        </p:spPr>
      </p:sp>
      <p:sp>
        <p:nvSpPr>
          <p:cNvPr id="7" name="Text 5"/>
          <p:cNvSpPr txBox="1"/>
          <p:nvPr/>
        </p:nvSpPr>
        <p:spPr>
          <a:xfrm>
            <a:off x="777240" y="237744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8" name="Text 6"/>
          <p:cNvSpPr txBox="1"/>
          <p:nvPr/>
        </p:nvSpPr>
        <p:spPr>
          <a:xfrm>
            <a:off x="1280160" y="2331720"/>
            <a:ext cx="2697480" cy="594360"/>
          </a:xfrm>
          <a:prstGeom prst="rect">
            <a:avLst/>
          </a:prstGeom>
          <a:noFill/>
          <a:ln/>
        </p:spPr>
        <p:txBody>
          <a:bodyPr wrap="square" lIns="1016" tIns="1016" rIns="1016" bIns="1016"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Right first time</a:t>
            </a:r>
            <a:endParaRPr lang="en-US" sz="1800" dirty="0"/>
          </a:p>
        </p:txBody>
      </p:sp>
      <p:sp>
        <p:nvSpPr>
          <p:cNvPr id="9" name="Text 7"/>
          <p:cNvSpPr txBox="1"/>
          <p:nvPr/>
        </p:nvSpPr>
        <p:spPr>
          <a:xfrm>
            <a:off x="777240" y="2971800"/>
            <a:ext cx="3108960" cy="822960"/>
          </a:xfrm>
          <a:prstGeom prst="rect">
            <a:avLst/>
          </a:prstGeom>
          <a:noFill/>
          <a:ln/>
        </p:spPr>
        <p:txBody>
          <a:bodyPr wrap="square" lIns="1016" tIns="1016" rIns="1016" bIns="1016" rtlCol="0" anchor="t"/>
          <a:lstStyle/>
          <a:p>
            <a:pPr indent="0" marL="0">
              <a:buNone/>
            </a:pPr>
            <a:r>
              <a:rPr lang="en-US" sz="1500" dirty="0">
                <a:solidFill>
                  <a:schemeClr val="tx1"/>
                </a:solidFill>
                <a:latin typeface="Calibri" pitchFamily="34" charset="0"/>
                <a:ea typeface="Calibri" pitchFamily="34" charset="-122"/>
                <a:cs typeface="Calibri" pitchFamily="34" charset="-120"/>
              </a:rPr>
              <a:t>A request is prepared correctly before it is submitted</a:t>
            </a:r>
            <a:endParaRPr lang="en-US" sz="1500" dirty="0"/>
          </a:p>
        </p:txBody>
      </p:sp>
      <p:sp>
        <p:nvSpPr>
          <p:cNvPr id="10" name="Text 8"/>
          <p:cNvSpPr txBox="1"/>
          <p:nvPr/>
        </p:nvSpPr>
        <p:spPr>
          <a:xfrm>
            <a:off x="777240" y="3931920"/>
            <a:ext cx="3108960" cy="822960"/>
          </a:xfrm>
          <a:prstGeom prst="rect">
            <a:avLst/>
          </a:prstGeom>
          <a:noFill/>
          <a:ln/>
        </p:spPr>
        <p:txBody>
          <a:bodyPr wrap="square" lIns="1016" tIns="1016" rIns="1016" bIns="1016" rtlCol="0" anchor="t"/>
          <a:lstStyle/>
          <a:p>
            <a:pPr indent="0" marL="0">
              <a:buNone/>
            </a:pPr>
            <a:r>
              <a:rPr lang="en-US" sz="1400" i="1" dirty="0">
                <a:solidFill>
                  <a:schemeClr val="accent1"/>
                </a:solidFill>
                <a:latin typeface="Calibri" pitchFamily="34" charset="0"/>
                <a:ea typeface="Calibri" pitchFamily="34" charset="-122"/>
                <a:cs typeface="Calibri" pitchFamily="34" charset="-120"/>
              </a:rPr>
              <a:t>Needs: checklist, request-type rules, pre-filled reference data</a:t>
            </a:r>
            <a:endParaRPr lang="en-US" sz="1400" dirty="0"/>
          </a:p>
        </p:txBody>
      </p:sp>
      <p:sp>
        <p:nvSpPr>
          <p:cNvPr id="11" name="outcome1"/>
          <p:cNvSpPr/>
          <p:nvPr/>
        </p:nvSpPr>
        <p:spPr>
          <a:xfrm>
            <a:off x="4297680" y="2194560"/>
            <a:ext cx="3520440" cy="2743200"/>
          </a:xfrm>
          <a:prstGeom prst="roundRect">
            <a:avLst>
              <a:gd name="adj" fmla="val 2667"/>
            </a:avLst>
          </a:prstGeom>
          <a:solidFill>
            <a:srgbClr val="EEF4F3"/>
          </a:solidFill>
          <a:ln/>
        </p:spPr>
      </p:sp>
      <p:sp>
        <p:nvSpPr>
          <p:cNvPr id="12" name="Shape 10"/>
          <p:cNvSpPr/>
          <p:nvPr/>
        </p:nvSpPr>
        <p:spPr>
          <a:xfrm>
            <a:off x="4526280" y="2377440"/>
            <a:ext cx="384048" cy="384048"/>
          </a:xfrm>
          <a:prstGeom prst="ellipse">
            <a:avLst/>
          </a:prstGeom>
          <a:solidFill>
            <a:schemeClr val="accent1"/>
          </a:solidFill>
          <a:ln/>
        </p:spPr>
      </p:sp>
      <p:sp>
        <p:nvSpPr>
          <p:cNvPr id="13" name="Text 11"/>
          <p:cNvSpPr txBox="1"/>
          <p:nvPr/>
        </p:nvSpPr>
        <p:spPr>
          <a:xfrm>
            <a:off x="4526280" y="237744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4" name="Text 12"/>
          <p:cNvSpPr txBox="1"/>
          <p:nvPr/>
        </p:nvSpPr>
        <p:spPr>
          <a:xfrm>
            <a:off x="5029200" y="2331720"/>
            <a:ext cx="2697480" cy="594360"/>
          </a:xfrm>
          <a:prstGeom prst="rect">
            <a:avLst/>
          </a:prstGeom>
          <a:noFill/>
          <a:ln/>
        </p:spPr>
        <p:txBody>
          <a:bodyPr wrap="square" lIns="1016" tIns="1016" rIns="1016" bIns="1016"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Followed without chasing</a:t>
            </a:r>
            <a:endParaRPr lang="en-US" sz="1800" dirty="0"/>
          </a:p>
        </p:txBody>
      </p:sp>
      <p:sp>
        <p:nvSpPr>
          <p:cNvPr id="15" name="Text 13"/>
          <p:cNvSpPr txBox="1"/>
          <p:nvPr/>
        </p:nvSpPr>
        <p:spPr>
          <a:xfrm>
            <a:off x="4526280" y="2971800"/>
            <a:ext cx="3108960" cy="822960"/>
          </a:xfrm>
          <a:prstGeom prst="rect">
            <a:avLst/>
          </a:prstGeom>
          <a:noFill/>
          <a:ln/>
        </p:spPr>
        <p:txBody>
          <a:bodyPr wrap="square" lIns="1016" tIns="1016" rIns="1016" bIns="1016" rtlCol="0" anchor="t"/>
          <a:lstStyle/>
          <a:p>
            <a:pPr indent="0" marL="0">
              <a:buNone/>
            </a:pPr>
            <a:r>
              <a:rPr lang="en-US" sz="1500" dirty="0">
                <a:solidFill>
                  <a:schemeClr val="tx1"/>
                </a:solidFill>
                <a:latin typeface="Calibri" pitchFamily="34" charset="0"/>
                <a:ea typeface="Calibri" pitchFamily="34" charset="-122"/>
                <a:cs typeface="Calibri" pitchFamily="34" charset="-120"/>
              </a:rPr>
              <a:t>Status, owner and next step are visible to the requester</a:t>
            </a:r>
            <a:endParaRPr lang="en-US" sz="1500" dirty="0"/>
          </a:p>
        </p:txBody>
      </p:sp>
      <p:sp>
        <p:nvSpPr>
          <p:cNvPr id="16" name="Text 14"/>
          <p:cNvSpPr txBox="1"/>
          <p:nvPr/>
        </p:nvSpPr>
        <p:spPr>
          <a:xfrm>
            <a:off x="4526280" y="3931920"/>
            <a:ext cx="3108960" cy="822960"/>
          </a:xfrm>
          <a:prstGeom prst="rect">
            <a:avLst/>
          </a:prstGeom>
          <a:noFill/>
          <a:ln/>
        </p:spPr>
        <p:txBody>
          <a:bodyPr wrap="square" lIns="1016" tIns="1016" rIns="1016" bIns="1016" rtlCol="0" anchor="t"/>
          <a:lstStyle/>
          <a:p>
            <a:pPr indent="0" marL="0">
              <a:buNone/>
            </a:pPr>
            <a:r>
              <a:rPr lang="en-US" sz="1400" i="1" dirty="0">
                <a:solidFill>
                  <a:schemeClr val="accent1"/>
                </a:solidFill>
                <a:latin typeface="Calibri" pitchFamily="34" charset="0"/>
                <a:ea typeface="Calibri" pitchFamily="34" charset="-122"/>
                <a:cs typeface="Calibri" pitchFamily="34" charset="-120"/>
              </a:rPr>
              <a:t>Needs: every update and stage change on the record</a:t>
            </a:r>
            <a:endParaRPr lang="en-US" sz="1400" dirty="0"/>
          </a:p>
        </p:txBody>
      </p:sp>
      <p:sp>
        <p:nvSpPr>
          <p:cNvPr id="17" name="outcome2"/>
          <p:cNvSpPr/>
          <p:nvPr/>
        </p:nvSpPr>
        <p:spPr>
          <a:xfrm>
            <a:off x="8046720" y="2194560"/>
            <a:ext cx="3520440" cy="2743200"/>
          </a:xfrm>
          <a:prstGeom prst="roundRect">
            <a:avLst>
              <a:gd name="adj" fmla="val 2667"/>
            </a:avLst>
          </a:prstGeom>
          <a:solidFill>
            <a:srgbClr val="EEF4F3"/>
          </a:solidFill>
          <a:ln/>
        </p:spPr>
      </p:sp>
      <p:sp>
        <p:nvSpPr>
          <p:cNvPr id="18" name="Shape 16"/>
          <p:cNvSpPr/>
          <p:nvPr/>
        </p:nvSpPr>
        <p:spPr>
          <a:xfrm>
            <a:off x="8275320" y="2377440"/>
            <a:ext cx="384048" cy="384048"/>
          </a:xfrm>
          <a:prstGeom prst="ellipse">
            <a:avLst/>
          </a:prstGeom>
          <a:solidFill>
            <a:schemeClr val="accent1"/>
          </a:solidFill>
          <a:ln/>
        </p:spPr>
      </p:sp>
      <p:sp>
        <p:nvSpPr>
          <p:cNvPr id="19" name="Text 17"/>
          <p:cNvSpPr txBox="1"/>
          <p:nvPr/>
        </p:nvSpPr>
        <p:spPr>
          <a:xfrm>
            <a:off x="8275320" y="237744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0" name="Text 18"/>
          <p:cNvSpPr txBox="1"/>
          <p:nvPr/>
        </p:nvSpPr>
        <p:spPr>
          <a:xfrm>
            <a:off x="8778240" y="2331720"/>
            <a:ext cx="2697480" cy="594360"/>
          </a:xfrm>
          <a:prstGeom prst="rect">
            <a:avLst/>
          </a:prstGeom>
          <a:noFill/>
          <a:ln/>
        </p:spPr>
        <p:txBody>
          <a:bodyPr wrap="square" lIns="1016" tIns="1016" rIns="1016" bIns="1016"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Understood later</a:t>
            </a:r>
            <a:endParaRPr lang="en-US" sz="1800" dirty="0"/>
          </a:p>
        </p:txBody>
      </p:sp>
      <p:sp>
        <p:nvSpPr>
          <p:cNvPr id="21" name="Text 19"/>
          <p:cNvSpPr txBox="1"/>
          <p:nvPr/>
        </p:nvSpPr>
        <p:spPr>
          <a:xfrm>
            <a:off x="8275320" y="2971800"/>
            <a:ext cx="3108960" cy="822960"/>
          </a:xfrm>
          <a:prstGeom prst="rect">
            <a:avLst/>
          </a:prstGeom>
          <a:noFill/>
          <a:ln/>
        </p:spPr>
        <p:txBody>
          <a:bodyPr wrap="square" lIns="1016" tIns="1016" rIns="1016" bIns="1016" rtlCol="0" anchor="t"/>
          <a:lstStyle/>
          <a:p>
            <a:pPr indent="0" marL="0">
              <a:buNone/>
            </a:pPr>
            <a:r>
              <a:rPr lang="en-US" sz="1500" dirty="0">
                <a:solidFill>
                  <a:schemeClr val="tx1"/>
                </a:solidFill>
                <a:latin typeface="Calibri" pitchFamily="34" charset="0"/>
                <a:ea typeface="Calibri" pitchFamily="34" charset="-122"/>
                <a:cs typeface="Calibri" pitchFamily="34" charset="-120"/>
              </a:rPr>
              <a:t>Someone not involved can read the request's story years on</a:t>
            </a:r>
            <a:endParaRPr lang="en-US" sz="1500" dirty="0"/>
          </a:p>
        </p:txBody>
      </p:sp>
      <p:sp>
        <p:nvSpPr>
          <p:cNvPr id="22" name="Text 20"/>
          <p:cNvSpPr txBox="1"/>
          <p:nvPr/>
        </p:nvSpPr>
        <p:spPr>
          <a:xfrm>
            <a:off x="8275320" y="3931920"/>
            <a:ext cx="3108960" cy="822960"/>
          </a:xfrm>
          <a:prstGeom prst="rect">
            <a:avLst/>
          </a:prstGeom>
          <a:noFill/>
          <a:ln/>
        </p:spPr>
        <p:txBody>
          <a:bodyPr wrap="square" lIns="1016" tIns="1016" rIns="1016" bIns="1016" rtlCol="0" anchor="t"/>
          <a:lstStyle/>
          <a:p>
            <a:pPr indent="0" marL="0">
              <a:buNone/>
            </a:pPr>
            <a:r>
              <a:rPr lang="en-US" sz="1400" i="1" dirty="0">
                <a:solidFill>
                  <a:schemeClr val="accent1"/>
                </a:solidFill>
                <a:latin typeface="Calibri" pitchFamily="34" charset="0"/>
                <a:ea typeface="Calibri" pitchFamily="34" charset="-122"/>
                <a:cs typeface="Calibri" pitchFamily="34" charset="-120"/>
              </a:rPr>
              <a:t>Needs: the original kept, full history, retention</a:t>
            </a:r>
            <a:endParaRPr lang="en-US" sz="1400" dirty="0"/>
          </a:p>
        </p:txBody>
      </p:sp>
      <p:sp>
        <p:nvSpPr>
          <p:cNvPr id="23" name="sinkfirst"/>
          <p:cNvSpPr/>
          <p:nvPr/>
        </p:nvSpPr>
        <p:spPr>
          <a:xfrm>
            <a:off x="548640" y="5212080"/>
            <a:ext cx="11064240" cy="868680"/>
          </a:xfrm>
          <a:prstGeom prst="roundRect">
            <a:avLst>
              <a:gd name="adj" fmla="val 8421"/>
            </a:avLst>
          </a:prstGeom>
          <a:solidFill>
            <a:srgbClr val="FFF6B6"/>
          </a:solidFill>
          <a:ln/>
        </p:spPr>
      </p:sp>
      <p:sp>
        <p:nvSpPr>
          <p:cNvPr id="24" name="Text 22"/>
          <p:cNvSpPr txBox="1"/>
          <p:nvPr/>
        </p:nvSpPr>
        <p:spPr>
          <a:xfrm>
            <a:off x="731520" y="5257800"/>
            <a:ext cx="10698480" cy="777240"/>
          </a:xfrm>
          <a:prstGeom prst="rect">
            <a:avLst/>
          </a:prstGeom>
          <a:noFill/>
          <a:ln/>
        </p:spPr>
        <p:txBody>
          <a:bodyPr wrap="square" lIns="1016" tIns="1016" rIns="1016" bIns="1016"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Designed from the sink. </a:t>
            </a:r>
            <a:pPr indent="0" marL="0">
              <a:buNone/>
            </a:pPr>
            <a:r>
              <a:rPr lang="en-US" sz="1500" dirty="0">
                <a:solidFill>
                  <a:schemeClr val="tx1"/>
                </a:solidFill>
                <a:latin typeface="Calibri" pitchFamily="34" charset="0"/>
                <a:ea typeface="Calibri" pitchFamily="34" charset="-122"/>
                <a:cs typeface="Calibri" pitchFamily="34" charset="-120"/>
              </a:rPr>
              <a:t>These three outcomes, from the purpose in our Requirements Document, define the measurement sink. We worked back from them to the data each stage must carry.</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B7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body" hasCustomPrompt="1"/>
          </p:nvPr>
        </p:nvSpPr>
        <p:spPr>
          <a:xfrm>
            <a:off x="548640" y="91440"/>
            <a:ext cx="11064240" cy="320040"/>
          </a:xfrm>
          <a:prstGeom prst="rect">
            <a:avLst/>
          </a:prstGeom>
          <a:noFill/>
          <a:ln/>
        </p:spPr>
        <p:txBody>
          <a:bodyPr wrap="square" lIns="1016" tIns="1016" rIns="1016" bIns="1016" rtlCol="0" anchor="b"/>
          <a:lstStyle/>
          <a:p>
            <a:pPr indent="0" marL="0">
              <a:buNone/>
            </a:pPr>
            <a:r>
              <a:rPr lang="en-US" sz="1200" b="1" dirty="0">
                <a:solidFill>
                  <a:schemeClr val="accent1"/>
                </a:solidFill>
              </a:rPr>
              <a:t>STEP ONE  |  DATA SOURCES</a:t>
            </a:r>
            <a:endParaRPr lang="en-US" sz="1200" dirty="0"/>
          </a:p>
        </p:txBody>
      </p:sp>
      <p:sp>
        <p:nvSpPr>
          <p:cNvPr id="3" name="Text 1"/>
          <p:cNvSpPr/>
          <p:nvPr>
            <p:ph idx="101" type="title" hasCustomPrompt="1"/>
          </p:nvPr>
        </p:nvSpPr>
        <p:spPr>
          <a:xfrm>
            <a:off x="548640" y="365760"/>
            <a:ext cx="11064240" cy="685800"/>
          </a:xfrm>
          <a:prstGeom prst="rect">
            <a:avLst/>
          </a:prstGeom>
          <a:noFill/>
          <a:ln/>
        </p:spPr>
        <p:txBody>
          <a:bodyPr wrap="square" lIns="1016" tIns="1016" rIns="1016" bIns="1016"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Twelve sources, and where each one is born</a:t>
            </a:r>
            <a:endParaRPr lang="en-US" sz="3000" dirty="0"/>
          </a:p>
        </p:txBody>
      </p:sp>
      <p:sp>
        <p:nvSpPr>
          <p:cNvPr id="4" name="cat0"/>
          <p:cNvSpPr/>
          <p:nvPr/>
        </p:nvSpPr>
        <p:spPr>
          <a:xfrm>
            <a:off x="548640" y="1188720"/>
            <a:ext cx="3520440" cy="457200"/>
          </a:xfrm>
          <a:prstGeom prst="roundRect">
            <a:avLst>
              <a:gd name="adj" fmla="val 16000"/>
            </a:avLst>
          </a:prstGeom>
          <a:solidFill>
            <a:srgbClr val="1B6F6A"/>
          </a:solidFill>
          <a:ln/>
        </p:spPr>
      </p:sp>
      <p:sp>
        <p:nvSpPr>
          <p:cNvPr id="5" name="Text 3"/>
          <p:cNvSpPr txBox="1"/>
          <p:nvPr/>
        </p:nvSpPr>
        <p:spPr>
          <a:xfrm>
            <a:off x="548640" y="1188720"/>
            <a:ext cx="3520440" cy="457200"/>
          </a:xfrm>
          <a:prstGeom prst="rect">
            <a:avLst/>
          </a:prstGeom>
          <a:noFill/>
          <a:ln/>
        </p:spPr>
        <p:txBody>
          <a:bodyPr wrap="square" lIns="1016" tIns="1016" rIns="1016" bIns="1016"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People and workflow</a:t>
            </a:r>
            <a:endParaRPr lang="en-US" sz="1600" dirty="0"/>
          </a:p>
        </p:txBody>
      </p:sp>
      <p:sp>
        <p:nvSpPr>
          <p:cNvPr id="6" name="src00"/>
          <p:cNvSpPr/>
          <p:nvPr/>
        </p:nvSpPr>
        <p:spPr>
          <a:xfrm>
            <a:off x="548640" y="1783080"/>
            <a:ext cx="3520440" cy="1024128"/>
          </a:xfrm>
          <a:prstGeom prst="roundRect">
            <a:avLst>
              <a:gd name="adj" fmla="val 7143"/>
            </a:avLst>
          </a:prstGeom>
          <a:solidFill>
            <a:srgbClr val="C6DCFF"/>
          </a:solidFill>
          <a:ln/>
        </p:spPr>
      </p:sp>
      <p:sp>
        <p:nvSpPr>
          <p:cNvPr id="7" name="Text 5"/>
          <p:cNvSpPr txBox="1"/>
          <p:nvPr/>
        </p:nvSpPr>
        <p:spPr>
          <a:xfrm>
            <a:off x="640080" y="1819656"/>
            <a:ext cx="3337560" cy="950976"/>
          </a:xfrm>
          <a:prstGeom prst="rect">
            <a:avLst/>
          </a:prstGeom>
          <a:noFill/>
          <a:ln/>
        </p:spPr>
        <p:txBody>
          <a:bodyPr wrap="square" lIns="1016" tIns="1016" rIns="1016" bIns="1016" rtlCol="0" anchor="t"/>
          <a:lstStyle/>
          <a:p>
            <a:pPr indent="0" marL="0">
              <a:buNone/>
            </a:pPr>
            <a:r>
              <a:rPr lang="en-US" sz="1250" b="1" dirty="0">
                <a:solidFill>
                  <a:schemeClr val="tx1"/>
                </a:solidFill>
                <a:latin typeface="Calibri" pitchFamily="34" charset="0"/>
                <a:ea typeface="Calibri" pitchFamily="34" charset="-122"/>
                <a:cs typeface="Calibri" pitchFamily="34" charset="-120"/>
              </a:rPr>
              <a:t>Original requester</a:t>
            </a:r>
            <a:endParaRPr lang="en-US" sz="1250" dirty="0"/>
          </a:p>
          <a:p>
            <a:pPr indent="0" marL="0">
              <a:buNone/>
            </a:pPr>
            <a:r>
              <a:rPr lang="en-US" sz="1250" dirty="0">
                <a:solidFill>
                  <a:schemeClr val="tx1"/>
                </a:solidFill>
                <a:latin typeface="Calibri" pitchFamily="34" charset="0"/>
                <a:ea typeface="Calibri" pitchFamily="34" charset="-122"/>
                <a:cs typeface="Calibri" pitchFamily="34" charset="-120"/>
              </a:rPr>
              <a:t>Need, reason, intended location</a:t>
            </a:r>
            <a:endParaRPr lang="en-US" sz="1250" dirty="0"/>
          </a:p>
          <a:p>
            <a:pPr indent="0" marL="0">
              <a:buNone/>
            </a:pPr>
            <a:r>
              <a:rPr lang="en-US" sz="1250" i="1" dirty="0">
                <a:solidFill>
                  <a:srgbClr val="3D5252"/>
                </a:solidFill>
                <a:latin typeface="Calibri" pitchFamily="34" charset="0"/>
                <a:ea typeface="Calibri" pitchFamily="34" charset="-122"/>
                <a:cs typeface="Calibri" pitchFamily="34" charset="-120"/>
              </a:rPr>
              <a:t>Born: In the office, passed to the CMAC by email, Teams or phone</a:t>
            </a:r>
            <a:endParaRPr lang="en-US" sz="1250" dirty="0"/>
          </a:p>
        </p:txBody>
      </p:sp>
      <p:sp>
        <p:nvSpPr>
          <p:cNvPr id="8" name="src01"/>
          <p:cNvSpPr/>
          <p:nvPr/>
        </p:nvSpPr>
        <p:spPr>
          <a:xfrm>
            <a:off x="548640" y="2898648"/>
            <a:ext cx="3520440" cy="1024128"/>
          </a:xfrm>
          <a:prstGeom prst="roundRect">
            <a:avLst>
              <a:gd name="adj" fmla="val 7143"/>
            </a:avLst>
          </a:prstGeom>
          <a:solidFill>
            <a:srgbClr val="C6DCFF"/>
          </a:solidFill>
          <a:ln/>
        </p:spPr>
      </p:sp>
      <p:sp>
        <p:nvSpPr>
          <p:cNvPr id="9" name="Text 7"/>
          <p:cNvSpPr txBox="1"/>
          <p:nvPr/>
        </p:nvSpPr>
        <p:spPr>
          <a:xfrm>
            <a:off x="640080" y="2935224"/>
            <a:ext cx="3337560" cy="950976"/>
          </a:xfrm>
          <a:prstGeom prst="rect">
            <a:avLst/>
          </a:prstGeom>
          <a:noFill/>
          <a:ln/>
        </p:spPr>
        <p:txBody>
          <a:bodyPr wrap="square" lIns="1016" tIns="1016" rIns="1016" bIns="1016" rtlCol="0" anchor="t"/>
          <a:lstStyle/>
          <a:p>
            <a:pPr indent="0" marL="0">
              <a:buNone/>
            </a:pPr>
            <a:r>
              <a:rPr lang="en-US" sz="1250" b="1" dirty="0">
                <a:solidFill>
                  <a:schemeClr val="tx1"/>
                </a:solidFill>
                <a:latin typeface="Calibri" pitchFamily="34" charset="0"/>
                <a:ea typeface="Calibri" pitchFamily="34" charset="-122"/>
                <a:cs typeface="Calibri" pitchFamily="34" charset="-120"/>
              </a:rPr>
              <a:t>CMAC</a:t>
            </a:r>
            <a:endParaRPr lang="en-US" sz="1250" dirty="0"/>
          </a:p>
          <a:p>
            <a:pPr indent="0" marL="0">
              <a:buNone/>
            </a:pPr>
            <a:r>
              <a:rPr lang="en-US" sz="1250" dirty="0">
                <a:solidFill>
                  <a:schemeClr val="tx1"/>
                </a:solidFill>
                <a:latin typeface="Calibri" pitchFamily="34" charset="0"/>
                <a:ea typeface="Calibri" pitchFamily="34" charset="-122"/>
                <a:cs typeface="Calibri" pitchFamily="34" charset="-120"/>
              </a:rPr>
              <a:t>Request details, ministry, documents, submission</a:t>
            </a:r>
            <a:endParaRPr lang="en-US" sz="1250" dirty="0"/>
          </a:p>
          <a:p>
            <a:pPr indent="0" marL="0">
              <a:buNone/>
            </a:pPr>
            <a:r>
              <a:rPr lang="en-US" sz="1250" i="1" dirty="0">
                <a:solidFill>
                  <a:srgbClr val="3D5252"/>
                </a:solidFill>
                <a:latin typeface="Calibri" pitchFamily="34" charset="0"/>
                <a:ea typeface="Calibri" pitchFamily="34" charset="-122"/>
                <a:cs typeface="Calibri" pitchFamily="34" charset="-120"/>
              </a:rPr>
              <a:t>Born: Request form at submission</a:t>
            </a:r>
            <a:endParaRPr lang="en-US" sz="1250" dirty="0"/>
          </a:p>
        </p:txBody>
      </p:sp>
      <p:sp>
        <p:nvSpPr>
          <p:cNvPr id="10" name="src02"/>
          <p:cNvSpPr/>
          <p:nvPr/>
        </p:nvSpPr>
        <p:spPr>
          <a:xfrm>
            <a:off x="548640" y="4014216"/>
            <a:ext cx="3520440" cy="1024128"/>
          </a:xfrm>
          <a:prstGeom prst="roundRect">
            <a:avLst>
              <a:gd name="adj" fmla="val 7143"/>
            </a:avLst>
          </a:prstGeom>
          <a:solidFill>
            <a:srgbClr val="C6DCFF"/>
          </a:solidFill>
          <a:ln/>
        </p:spPr>
      </p:sp>
      <p:sp>
        <p:nvSpPr>
          <p:cNvPr id="11" name="Text 9"/>
          <p:cNvSpPr txBox="1"/>
          <p:nvPr/>
        </p:nvSpPr>
        <p:spPr>
          <a:xfrm>
            <a:off x="640080" y="4050792"/>
            <a:ext cx="3337560" cy="950976"/>
          </a:xfrm>
          <a:prstGeom prst="rect">
            <a:avLst/>
          </a:prstGeom>
          <a:noFill/>
          <a:ln/>
        </p:spPr>
        <p:txBody>
          <a:bodyPr wrap="square" lIns="1016" tIns="1016" rIns="1016" bIns="1016" rtlCol="0" anchor="t"/>
          <a:lstStyle/>
          <a:p>
            <a:pPr indent="0" marL="0">
              <a:buNone/>
            </a:pPr>
            <a:r>
              <a:rPr lang="en-US" sz="1250" b="1" dirty="0">
                <a:solidFill>
                  <a:schemeClr val="tx1"/>
                </a:solidFill>
                <a:latin typeface="Calibri" pitchFamily="34" charset="0"/>
                <a:ea typeface="Calibri" pitchFamily="34" charset="-122"/>
                <a:cs typeface="Calibri" pitchFamily="34" charset="-120"/>
              </a:rPr>
              <a:t>Infrastructure coordinators</a:t>
            </a:r>
            <a:endParaRPr lang="en-US" sz="1250" dirty="0"/>
          </a:p>
          <a:p>
            <a:pPr indent="0" marL="0">
              <a:buNone/>
            </a:pPr>
            <a:r>
              <a:rPr lang="en-US" sz="1250" dirty="0">
                <a:solidFill>
                  <a:schemeClr val="tx1"/>
                </a:solidFill>
                <a:latin typeface="Calibri" pitchFamily="34" charset="0"/>
                <a:ea typeface="Calibri" pitchFamily="34" charset="-122"/>
                <a:cs typeface="Calibri" pitchFamily="34" charset="-120"/>
              </a:rPr>
              <a:t>Review decision, assignment, clarifications, status, next action</a:t>
            </a:r>
            <a:endParaRPr lang="en-US" sz="1250" dirty="0"/>
          </a:p>
          <a:p>
            <a:pPr indent="0" marL="0">
              <a:buNone/>
            </a:pPr>
            <a:r>
              <a:rPr lang="en-US" sz="1250" i="1" dirty="0">
                <a:solidFill>
                  <a:srgbClr val="3D5252"/>
                </a:solidFill>
                <a:latin typeface="Calibri" pitchFamily="34" charset="0"/>
                <a:ea typeface="Calibri" pitchFamily="34" charset="-122"/>
                <a:cs typeface="Calibri" pitchFamily="34" charset="-120"/>
              </a:rPr>
              <a:t>Born: Review and coordination</a:t>
            </a:r>
            <a:endParaRPr lang="en-US" sz="1250" dirty="0"/>
          </a:p>
        </p:txBody>
      </p:sp>
      <p:sp>
        <p:nvSpPr>
          <p:cNvPr id="12" name="src03"/>
          <p:cNvSpPr/>
          <p:nvPr/>
        </p:nvSpPr>
        <p:spPr>
          <a:xfrm>
            <a:off x="548640" y="5129784"/>
            <a:ext cx="3520440" cy="1024128"/>
          </a:xfrm>
          <a:prstGeom prst="roundRect">
            <a:avLst>
              <a:gd name="adj" fmla="val 7143"/>
            </a:avLst>
          </a:prstGeom>
          <a:solidFill>
            <a:srgbClr val="C6DCFF"/>
          </a:solidFill>
          <a:ln/>
        </p:spPr>
      </p:sp>
      <p:sp>
        <p:nvSpPr>
          <p:cNvPr id="13" name="Text 11"/>
          <p:cNvSpPr txBox="1"/>
          <p:nvPr/>
        </p:nvSpPr>
        <p:spPr>
          <a:xfrm>
            <a:off x="640080" y="5166360"/>
            <a:ext cx="3337560" cy="950976"/>
          </a:xfrm>
          <a:prstGeom prst="rect">
            <a:avLst/>
          </a:prstGeom>
          <a:noFill/>
          <a:ln/>
        </p:spPr>
        <p:txBody>
          <a:bodyPr wrap="square" lIns="1016" tIns="1016" rIns="1016" bIns="1016" rtlCol="0" anchor="t"/>
          <a:lstStyle/>
          <a:p>
            <a:pPr indent="0" marL="0">
              <a:buNone/>
            </a:pPr>
            <a:r>
              <a:rPr lang="en-US" sz="1250" b="1" dirty="0">
                <a:solidFill>
                  <a:schemeClr val="tx1"/>
                </a:solidFill>
                <a:latin typeface="Calibri" pitchFamily="34" charset="0"/>
                <a:ea typeface="Calibri" pitchFamily="34" charset="-122"/>
                <a:cs typeface="Calibri" pitchFamily="34" charset="-120"/>
              </a:rPr>
              <a:t>Vendor, mover, warehouse</a:t>
            </a:r>
            <a:endParaRPr lang="en-US" sz="1250" dirty="0"/>
          </a:p>
          <a:p>
            <a:pPr indent="0" marL="0">
              <a:buNone/>
            </a:pPr>
            <a:r>
              <a:rPr lang="en-US" sz="1250" dirty="0">
                <a:solidFill>
                  <a:schemeClr val="tx1"/>
                </a:solidFill>
                <a:latin typeface="Calibri" pitchFamily="34" charset="0"/>
                <a:ea typeface="Calibri" pitchFamily="34" charset="-122"/>
                <a:cs typeface="Calibri" pitchFamily="34" charset="-120"/>
              </a:rPr>
              <a:t>Delivery arrangements, progress, confirmation, issues</a:t>
            </a:r>
            <a:endParaRPr lang="en-US" sz="1250" dirty="0"/>
          </a:p>
          <a:p>
            <a:pPr indent="0" marL="0">
              <a:buNone/>
            </a:pPr>
            <a:r>
              <a:rPr lang="en-US" sz="1250" i="1" dirty="0">
                <a:solidFill>
                  <a:srgbClr val="3D5252"/>
                </a:solidFill>
                <a:latin typeface="Calibri" pitchFamily="34" charset="0"/>
                <a:ea typeface="Calibri" pitchFamily="34" charset="-122"/>
                <a:cs typeface="Calibri" pitchFamily="34" charset="-120"/>
              </a:rPr>
              <a:t>Born: On the day of picking or delivery</a:t>
            </a:r>
            <a:endParaRPr lang="en-US" sz="1250" dirty="0"/>
          </a:p>
        </p:txBody>
      </p:sp>
      <p:sp>
        <p:nvSpPr>
          <p:cNvPr id="14" name="cat1"/>
          <p:cNvSpPr/>
          <p:nvPr/>
        </p:nvSpPr>
        <p:spPr>
          <a:xfrm>
            <a:off x="4297680" y="1188720"/>
            <a:ext cx="3520440" cy="457200"/>
          </a:xfrm>
          <a:prstGeom prst="roundRect">
            <a:avLst>
              <a:gd name="adj" fmla="val 16000"/>
            </a:avLst>
          </a:prstGeom>
          <a:solidFill>
            <a:srgbClr val="0F3D3E"/>
          </a:solidFill>
          <a:ln/>
        </p:spPr>
      </p:sp>
      <p:sp>
        <p:nvSpPr>
          <p:cNvPr id="15" name="Text 13"/>
          <p:cNvSpPr txBox="1"/>
          <p:nvPr/>
        </p:nvSpPr>
        <p:spPr>
          <a:xfrm>
            <a:off x="4297680" y="1188720"/>
            <a:ext cx="3520440" cy="457200"/>
          </a:xfrm>
          <a:prstGeom prst="rect">
            <a:avLst/>
          </a:prstGeom>
          <a:noFill/>
          <a:ln/>
        </p:spPr>
        <p:txBody>
          <a:bodyPr wrap="square" lIns="1016" tIns="1016" rIns="1016" bIns="1016"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Systems and channels</a:t>
            </a:r>
            <a:endParaRPr lang="en-US" sz="1600" dirty="0"/>
          </a:p>
        </p:txBody>
      </p:sp>
      <p:sp>
        <p:nvSpPr>
          <p:cNvPr id="16" name="src10"/>
          <p:cNvSpPr/>
          <p:nvPr/>
        </p:nvSpPr>
        <p:spPr>
          <a:xfrm>
            <a:off x="4297680" y="1783080"/>
            <a:ext cx="3520440" cy="1024128"/>
          </a:xfrm>
          <a:prstGeom prst="roundRect">
            <a:avLst>
              <a:gd name="adj" fmla="val 7143"/>
            </a:avLst>
          </a:prstGeom>
          <a:solidFill>
            <a:srgbClr val="EEF4F3"/>
          </a:solidFill>
          <a:ln/>
        </p:spPr>
      </p:sp>
      <p:sp>
        <p:nvSpPr>
          <p:cNvPr id="17" name="Text 15"/>
          <p:cNvSpPr txBox="1"/>
          <p:nvPr/>
        </p:nvSpPr>
        <p:spPr>
          <a:xfrm>
            <a:off x="4389120" y="1819656"/>
            <a:ext cx="3337560" cy="950976"/>
          </a:xfrm>
          <a:prstGeom prst="rect">
            <a:avLst/>
          </a:prstGeom>
          <a:noFill/>
          <a:ln/>
        </p:spPr>
        <p:txBody>
          <a:bodyPr wrap="square" lIns="1016" tIns="1016" rIns="1016" bIns="1016" rtlCol="0" anchor="t"/>
          <a:lstStyle/>
          <a:p>
            <a:pPr indent="0" marL="0">
              <a:buNone/>
            </a:pPr>
            <a:r>
              <a:rPr lang="en-US" sz="1250" b="1" dirty="0">
                <a:solidFill>
                  <a:schemeClr val="tx1"/>
                </a:solidFill>
                <a:latin typeface="Calibri" pitchFamily="34" charset="0"/>
                <a:ea typeface="Calibri" pitchFamily="34" charset="-122"/>
                <a:cs typeface="Calibri" pitchFamily="34" charset="-120"/>
              </a:rPr>
              <a:t>WORTS</a:t>
            </a:r>
            <a:endParaRPr lang="en-US" sz="1250" dirty="0"/>
          </a:p>
          <a:p>
            <a:pPr indent="0" marL="0">
              <a:buNone/>
            </a:pPr>
            <a:r>
              <a:rPr lang="en-US" sz="1250" dirty="0">
                <a:solidFill>
                  <a:schemeClr val="tx1"/>
                </a:solidFill>
                <a:latin typeface="Calibri" pitchFamily="34" charset="0"/>
                <a:ea typeface="Calibri" pitchFamily="34" charset="-122"/>
                <a:cs typeface="Calibri" pitchFamily="34" charset="-120"/>
              </a:rPr>
              <a:t>Existing records, statuses, comments, attachments</a:t>
            </a:r>
            <a:endParaRPr lang="en-US" sz="1250" dirty="0"/>
          </a:p>
          <a:p>
            <a:pPr indent="0" marL="0">
              <a:buNone/>
            </a:pPr>
            <a:r>
              <a:rPr lang="en-US" sz="1250" i="1" dirty="0">
                <a:solidFill>
                  <a:srgbClr val="3D5252"/>
                </a:solidFill>
                <a:latin typeface="Calibri" pitchFamily="34" charset="0"/>
                <a:ea typeface="Calibri" pitchFamily="34" charset="-122"/>
                <a:cs typeface="Calibri" pitchFamily="34" charset="-120"/>
              </a:rPr>
              <a:t>Born: Tracking and reporting today</a:t>
            </a:r>
            <a:endParaRPr lang="en-US" sz="1250" dirty="0"/>
          </a:p>
        </p:txBody>
      </p:sp>
      <p:sp>
        <p:nvSpPr>
          <p:cNvPr id="18" name="src11"/>
          <p:cNvSpPr/>
          <p:nvPr/>
        </p:nvSpPr>
        <p:spPr>
          <a:xfrm>
            <a:off x="4297680" y="2898648"/>
            <a:ext cx="3520440" cy="1024128"/>
          </a:xfrm>
          <a:prstGeom prst="roundRect">
            <a:avLst>
              <a:gd name="adj" fmla="val 7143"/>
            </a:avLst>
          </a:prstGeom>
          <a:solidFill>
            <a:srgbClr val="EEF4F3"/>
          </a:solidFill>
          <a:ln/>
        </p:spPr>
      </p:sp>
      <p:sp>
        <p:nvSpPr>
          <p:cNvPr id="19" name="Text 17"/>
          <p:cNvSpPr txBox="1"/>
          <p:nvPr/>
        </p:nvSpPr>
        <p:spPr>
          <a:xfrm>
            <a:off x="4389120" y="2935224"/>
            <a:ext cx="3337560" cy="950976"/>
          </a:xfrm>
          <a:prstGeom prst="rect">
            <a:avLst/>
          </a:prstGeom>
          <a:noFill/>
          <a:ln/>
        </p:spPr>
        <p:txBody>
          <a:bodyPr wrap="square" lIns="1016" tIns="1016" rIns="1016" bIns="1016" rtlCol="0" anchor="t"/>
          <a:lstStyle/>
          <a:p>
            <a:pPr indent="0" marL="0">
              <a:buNone/>
            </a:pPr>
            <a:r>
              <a:rPr lang="en-US" sz="1250" b="1" dirty="0">
                <a:solidFill>
                  <a:schemeClr val="tx1"/>
                </a:solidFill>
                <a:latin typeface="Calibri" pitchFamily="34" charset="0"/>
                <a:ea typeface="Calibri" pitchFamily="34" charset="-122"/>
                <a:cs typeface="Calibri" pitchFamily="34" charset="-120"/>
              </a:rPr>
              <a:t>Outlook shared inbox, Teams</a:t>
            </a:r>
            <a:endParaRPr lang="en-US" sz="1250" dirty="0"/>
          </a:p>
          <a:p>
            <a:pPr indent="0" marL="0">
              <a:buNone/>
            </a:pPr>
            <a:r>
              <a:rPr lang="en-US" sz="1250" dirty="0">
                <a:solidFill>
                  <a:schemeClr val="tx1"/>
                </a:solidFill>
                <a:latin typeface="Calibri" pitchFamily="34" charset="0"/>
                <a:ea typeface="Calibri" pitchFamily="34" charset="-122"/>
                <a:cs typeface="Calibri" pitchFamily="34" charset="-120"/>
              </a:rPr>
              <a:t>Original messages, clarifications, supporting files</a:t>
            </a:r>
            <a:endParaRPr lang="en-US" sz="1250" dirty="0"/>
          </a:p>
          <a:p>
            <a:pPr indent="0" marL="0">
              <a:buNone/>
            </a:pPr>
            <a:r>
              <a:rPr lang="en-US" sz="1250" i="1" dirty="0">
                <a:solidFill>
                  <a:srgbClr val="3D5252"/>
                </a:solidFill>
                <a:latin typeface="Calibri" pitchFamily="34" charset="0"/>
                <a:ea typeface="Calibri" pitchFamily="34" charset="-122"/>
                <a:cs typeface="Calibri" pitchFamily="34" charset="-120"/>
              </a:rPr>
              <a:t>Born: Outside any request record</a:t>
            </a:r>
            <a:endParaRPr lang="en-US" sz="1250" dirty="0"/>
          </a:p>
        </p:txBody>
      </p:sp>
      <p:sp>
        <p:nvSpPr>
          <p:cNvPr id="20" name="src12"/>
          <p:cNvSpPr/>
          <p:nvPr/>
        </p:nvSpPr>
        <p:spPr>
          <a:xfrm>
            <a:off x="4297680" y="4014216"/>
            <a:ext cx="3520440" cy="1024128"/>
          </a:xfrm>
          <a:prstGeom prst="roundRect">
            <a:avLst>
              <a:gd name="adj" fmla="val 7143"/>
            </a:avLst>
          </a:prstGeom>
          <a:solidFill>
            <a:srgbClr val="EEF4F3"/>
          </a:solidFill>
          <a:ln/>
        </p:spPr>
      </p:sp>
      <p:sp>
        <p:nvSpPr>
          <p:cNvPr id="21" name="Text 19"/>
          <p:cNvSpPr txBox="1"/>
          <p:nvPr/>
        </p:nvSpPr>
        <p:spPr>
          <a:xfrm>
            <a:off x="4389120" y="4050792"/>
            <a:ext cx="3337560" cy="950976"/>
          </a:xfrm>
          <a:prstGeom prst="rect">
            <a:avLst/>
          </a:prstGeom>
          <a:noFill/>
          <a:ln/>
        </p:spPr>
        <p:txBody>
          <a:bodyPr wrap="square" lIns="1016" tIns="1016" rIns="1016" bIns="1016" rtlCol="0" anchor="t"/>
          <a:lstStyle/>
          <a:p>
            <a:pPr indent="0" marL="0">
              <a:buNone/>
            </a:pPr>
            <a:r>
              <a:rPr lang="en-US" sz="1250" b="1" dirty="0">
                <a:solidFill>
                  <a:schemeClr val="tx1"/>
                </a:solidFill>
                <a:latin typeface="Calibri" pitchFamily="34" charset="0"/>
                <a:ea typeface="Calibri" pitchFamily="34" charset="-122"/>
                <a:cs typeface="Calibri" pitchFamily="34" charset="-120"/>
              </a:rPr>
              <a:t>SnapTracker (to validate)</a:t>
            </a:r>
            <a:endParaRPr lang="en-US" sz="1250" dirty="0"/>
          </a:p>
          <a:p>
            <a:pPr indent="0" marL="0">
              <a:buNone/>
            </a:pPr>
            <a:r>
              <a:rPr lang="en-US" sz="1250" dirty="0">
                <a:solidFill>
                  <a:schemeClr val="tx1"/>
                </a:solidFill>
                <a:latin typeface="Calibri" pitchFamily="34" charset="0"/>
                <a:ea typeface="Calibri" pitchFamily="34" charset="-122"/>
                <a:cs typeface="Calibri" pitchFamily="34" charset="-120"/>
              </a:rPr>
              <a:t>Inventory availability, delivery estimates</a:t>
            </a:r>
            <a:endParaRPr lang="en-US" sz="1250" dirty="0"/>
          </a:p>
          <a:p>
            <a:pPr indent="0" marL="0">
              <a:buNone/>
            </a:pPr>
            <a:r>
              <a:rPr lang="en-US" sz="1250" i="1" dirty="0">
                <a:solidFill>
                  <a:srgbClr val="3D5252"/>
                </a:solidFill>
                <a:latin typeface="Calibri" pitchFamily="34" charset="0"/>
                <a:ea typeface="Calibri" pitchFamily="34" charset="-122"/>
                <a:cs typeface="Calibri" pitchFamily="34" charset="-120"/>
              </a:rPr>
              <a:t>Born: Inventory system</a:t>
            </a:r>
            <a:endParaRPr lang="en-US" sz="1250" dirty="0"/>
          </a:p>
        </p:txBody>
      </p:sp>
      <p:sp>
        <p:nvSpPr>
          <p:cNvPr id="22" name="src13"/>
          <p:cNvSpPr/>
          <p:nvPr/>
        </p:nvSpPr>
        <p:spPr>
          <a:xfrm>
            <a:off x="4297680" y="5129784"/>
            <a:ext cx="3520440" cy="1024128"/>
          </a:xfrm>
          <a:prstGeom prst="roundRect">
            <a:avLst>
              <a:gd name="adj" fmla="val 7143"/>
            </a:avLst>
          </a:prstGeom>
          <a:solidFill>
            <a:srgbClr val="EEF4F3"/>
          </a:solidFill>
          <a:ln/>
        </p:spPr>
      </p:sp>
      <p:sp>
        <p:nvSpPr>
          <p:cNvPr id="23" name="Text 21"/>
          <p:cNvSpPr txBox="1"/>
          <p:nvPr/>
        </p:nvSpPr>
        <p:spPr>
          <a:xfrm>
            <a:off x="4389120" y="5166360"/>
            <a:ext cx="3337560" cy="950976"/>
          </a:xfrm>
          <a:prstGeom prst="rect">
            <a:avLst/>
          </a:prstGeom>
          <a:noFill/>
          <a:ln/>
        </p:spPr>
        <p:txBody>
          <a:bodyPr wrap="square" lIns="1016" tIns="1016" rIns="1016" bIns="1016" rtlCol="0" anchor="t"/>
          <a:lstStyle/>
          <a:p>
            <a:pPr indent="0" marL="0">
              <a:buNone/>
            </a:pPr>
            <a:r>
              <a:rPr lang="en-US" sz="1250" b="1" dirty="0">
                <a:solidFill>
                  <a:schemeClr val="tx1"/>
                </a:solidFill>
                <a:latin typeface="Calibri" pitchFamily="34" charset="0"/>
                <a:ea typeface="Calibri" pitchFamily="34" charset="-122"/>
                <a:cs typeface="Calibri" pitchFamily="34" charset="-120"/>
              </a:rPr>
              <a:t>OneGX / SAP (to validate)</a:t>
            </a:r>
            <a:endParaRPr lang="en-US" sz="1250" dirty="0"/>
          </a:p>
          <a:p>
            <a:pPr indent="0" marL="0">
              <a:buNone/>
            </a:pPr>
            <a:r>
              <a:rPr lang="en-US" sz="1250" dirty="0">
                <a:solidFill>
                  <a:schemeClr val="tx1"/>
                </a:solidFill>
                <a:latin typeface="Calibri" pitchFamily="34" charset="0"/>
                <a:ea typeface="Calibri" pitchFamily="34" charset="-122"/>
                <a:cs typeface="Calibri" pitchFamily="34" charset="-120"/>
              </a:rPr>
              <a:t>Purchasing references, procurement status</a:t>
            </a:r>
            <a:endParaRPr lang="en-US" sz="1250" dirty="0"/>
          </a:p>
          <a:p>
            <a:pPr indent="0" marL="0">
              <a:buNone/>
            </a:pPr>
            <a:r>
              <a:rPr lang="en-US" sz="1250" i="1" dirty="0">
                <a:solidFill>
                  <a:srgbClr val="3D5252"/>
                </a:solidFill>
                <a:latin typeface="Calibri" pitchFamily="34" charset="0"/>
                <a:ea typeface="Calibri" pitchFamily="34" charset="-122"/>
                <a:cs typeface="Calibri" pitchFamily="34" charset="-120"/>
              </a:rPr>
              <a:t>Born: Procurement</a:t>
            </a:r>
            <a:endParaRPr lang="en-US" sz="1250" dirty="0"/>
          </a:p>
        </p:txBody>
      </p:sp>
      <p:sp>
        <p:nvSpPr>
          <p:cNvPr id="24" name="cat2"/>
          <p:cNvSpPr/>
          <p:nvPr/>
        </p:nvSpPr>
        <p:spPr>
          <a:xfrm>
            <a:off x="8046720" y="1188720"/>
            <a:ext cx="3520440" cy="457200"/>
          </a:xfrm>
          <a:prstGeom prst="roundRect">
            <a:avLst>
              <a:gd name="adj" fmla="val 16000"/>
            </a:avLst>
          </a:prstGeom>
          <a:solidFill>
            <a:srgbClr val="E8A33D"/>
          </a:solidFill>
          <a:ln/>
        </p:spPr>
      </p:sp>
      <p:sp>
        <p:nvSpPr>
          <p:cNvPr id="25" name="Text 23"/>
          <p:cNvSpPr txBox="1"/>
          <p:nvPr/>
        </p:nvSpPr>
        <p:spPr>
          <a:xfrm>
            <a:off x="8046720" y="1188720"/>
            <a:ext cx="3520440" cy="457200"/>
          </a:xfrm>
          <a:prstGeom prst="rect">
            <a:avLst/>
          </a:prstGeom>
          <a:noFill/>
          <a:ln/>
        </p:spPr>
        <p:txBody>
          <a:bodyPr wrap="square" lIns="1016" tIns="1016" rIns="1016" bIns="1016" rtlCol="0" anchor="ctr"/>
          <a:lstStyle/>
          <a:p>
            <a:pPr algn="ctr" indent="0" marL="0">
              <a:buNone/>
            </a:pPr>
            <a:r>
              <a:rPr lang="en-US" sz="1600" b="1" dirty="0">
                <a:solidFill>
                  <a:srgbClr val="1A1A1A"/>
                </a:solidFill>
                <a:latin typeface="Calibri" pitchFamily="34" charset="0"/>
                <a:ea typeface="Calibri" pitchFamily="34" charset="-122"/>
                <a:cs typeface="Calibri" pitchFamily="34" charset="-120"/>
              </a:rPr>
              <a:t>Reference data</a:t>
            </a:r>
            <a:endParaRPr lang="en-US" sz="1600" dirty="0"/>
          </a:p>
        </p:txBody>
      </p:sp>
      <p:sp>
        <p:nvSpPr>
          <p:cNvPr id="26" name="src20"/>
          <p:cNvSpPr/>
          <p:nvPr/>
        </p:nvSpPr>
        <p:spPr>
          <a:xfrm>
            <a:off x="8046720" y="1783080"/>
            <a:ext cx="3520440" cy="1024128"/>
          </a:xfrm>
          <a:prstGeom prst="roundRect">
            <a:avLst>
              <a:gd name="adj" fmla="val 7143"/>
            </a:avLst>
          </a:prstGeom>
          <a:solidFill>
            <a:srgbClr val="FFE2B8"/>
          </a:solidFill>
          <a:ln/>
        </p:spPr>
      </p:sp>
      <p:sp>
        <p:nvSpPr>
          <p:cNvPr id="27" name="Text 25"/>
          <p:cNvSpPr txBox="1"/>
          <p:nvPr/>
        </p:nvSpPr>
        <p:spPr>
          <a:xfrm>
            <a:off x="8138160" y="1819656"/>
            <a:ext cx="3337560" cy="950976"/>
          </a:xfrm>
          <a:prstGeom prst="rect">
            <a:avLst/>
          </a:prstGeom>
          <a:noFill/>
          <a:ln/>
        </p:spPr>
        <p:txBody>
          <a:bodyPr wrap="square" lIns="1016" tIns="1016" rIns="1016" bIns="1016" rtlCol="0" anchor="t"/>
          <a:lstStyle/>
          <a:p>
            <a:pPr indent="0" marL="0">
              <a:buNone/>
            </a:pPr>
            <a:r>
              <a:rPr lang="en-US" sz="1250" b="1" dirty="0">
                <a:solidFill>
                  <a:schemeClr val="tx1"/>
                </a:solidFill>
                <a:latin typeface="Calibri" pitchFamily="34" charset="0"/>
                <a:ea typeface="Calibri" pitchFamily="34" charset="-122"/>
                <a:cs typeface="Calibri" pitchFamily="34" charset="-120"/>
              </a:rPr>
              <a:t>Building and facility (PRISM Core)</a:t>
            </a:r>
            <a:endParaRPr lang="en-US" sz="1250" dirty="0"/>
          </a:p>
          <a:p>
            <a:pPr indent="0" marL="0">
              <a:buNone/>
            </a:pPr>
            <a:r>
              <a:rPr lang="en-US" sz="1250" dirty="0">
                <a:solidFill>
                  <a:schemeClr val="tx1"/>
                </a:solidFill>
                <a:latin typeface="Calibri" pitchFamily="34" charset="0"/>
                <a:ea typeface="Calibri" pitchFamily="34" charset="-122"/>
                <a:cs typeface="Calibri" pitchFamily="34" charset="-120"/>
              </a:rPr>
              <a:t>Building code, address, floors, contacts, occupants</a:t>
            </a:r>
            <a:endParaRPr lang="en-US" sz="1250" dirty="0"/>
          </a:p>
          <a:p>
            <a:pPr indent="0" marL="0">
              <a:buNone/>
            </a:pPr>
            <a:r>
              <a:rPr lang="en-US" sz="1250" i="1" dirty="0">
                <a:solidFill>
                  <a:srgbClr val="3D5252"/>
                </a:solidFill>
                <a:latin typeface="Calibri" pitchFamily="34" charset="0"/>
                <a:ea typeface="Calibri" pitchFamily="34" charset="-122"/>
                <a:cs typeface="Calibri" pitchFamily="34" charset="-120"/>
              </a:rPr>
              <a:t>Born: Mastered in PRISM Core</a:t>
            </a:r>
            <a:endParaRPr lang="en-US" sz="1250" dirty="0"/>
          </a:p>
        </p:txBody>
      </p:sp>
      <p:sp>
        <p:nvSpPr>
          <p:cNvPr id="28" name="src21"/>
          <p:cNvSpPr/>
          <p:nvPr/>
        </p:nvSpPr>
        <p:spPr>
          <a:xfrm>
            <a:off x="8046720" y="2898648"/>
            <a:ext cx="3520440" cy="1024128"/>
          </a:xfrm>
          <a:prstGeom prst="roundRect">
            <a:avLst>
              <a:gd name="adj" fmla="val 7143"/>
            </a:avLst>
          </a:prstGeom>
          <a:solidFill>
            <a:srgbClr val="FFE2B8"/>
          </a:solidFill>
          <a:ln/>
        </p:spPr>
      </p:sp>
      <p:sp>
        <p:nvSpPr>
          <p:cNvPr id="29" name="Text 27"/>
          <p:cNvSpPr txBox="1"/>
          <p:nvPr/>
        </p:nvSpPr>
        <p:spPr>
          <a:xfrm>
            <a:off x="8138160" y="2935224"/>
            <a:ext cx="3337560" cy="950976"/>
          </a:xfrm>
          <a:prstGeom prst="rect">
            <a:avLst/>
          </a:prstGeom>
          <a:noFill/>
          <a:ln/>
        </p:spPr>
        <p:txBody>
          <a:bodyPr wrap="square" lIns="1016" tIns="1016" rIns="1016" bIns="1016" rtlCol="0" anchor="t"/>
          <a:lstStyle/>
          <a:p>
            <a:pPr indent="0" marL="0">
              <a:buNone/>
            </a:pPr>
            <a:r>
              <a:rPr lang="en-US" sz="1250" b="1" dirty="0">
                <a:solidFill>
                  <a:schemeClr val="tx1"/>
                </a:solidFill>
                <a:latin typeface="Calibri" pitchFamily="34" charset="0"/>
                <a:ea typeface="Calibri" pitchFamily="34" charset="-122"/>
                <a:cs typeface="Calibri" pitchFamily="34" charset="-120"/>
              </a:rPr>
              <a:t>Furniture and supply</a:t>
            </a:r>
            <a:endParaRPr lang="en-US" sz="1250" dirty="0"/>
          </a:p>
          <a:p>
            <a:pPr indent="0" marL="0">
              <a:buNone/>
            </a:pPr>
            <a:r>
              <a:rPr lang="en-US" sz="1250" dirty="0">
                <a:solidFill>
                  <a:schemeClr val="tx1"/>
                </a:solidFill>
                <a:latin typeface="Calibri" pitchFamily="34" charset="0"/>
                <a:ea typeface="Calibri" pitchFamily="34" charset="-122"/>
                <a:cs typeface="Calibri" pitchFamily="34" charset="-120"/>
              </a:rPr>
              <a:t>Categories, items, quantities, availability</a:t>
            </a:r>
            <a:endParaRPr lang="en-US" sz="1250" dirty="0"/>
          </a:p>
          <a:p>
            <a:pPr indent="0" marL="0">
              <a:buNone/>
            </a:pPr>
            <a:r>
              <a:rPr lang="en-US" sz="1250" i="1" dirty="0">
                <a:solidFill>
                  <a:srgbClr val="3D5252"/>
                </a:solidFill>
                <a:latin typeface="Calibri" pitchFamily="34" charset="0"/>
                <a:ea typeface="Calibri" pitchFamily="34" charset="-122"/>
                <a:cs typeface="Calibri" pitchFamily="34" charset="-120"/>
              </a:rPr>
              <a:t>Born: Inventory and catalogue</a:t>
            </a:r>
            <a:endParaRPr lang="en-US" sz="1250" dirty="0"/>
          </a:p>
        </p:txBody>
      </p:sp>
      <p:sp>
        <p:nvSpPr>
          <p:cNvPr id="30" name="src22"/>
          <p:cNvSpPr/>
          <p:nvPr/>
        </p:nvSpPr>
        <p:spPr>
          <a:xfrm>
            <a:off x="8046720" y="4014216"/>
            <a:ext cx="3520440" cy="1024128"/>
          </a:xfrm>
          <a:prstGeom prst="roundRect">
            <a:avLst>
              <a:gd name="adj" fmla="val 7143"/>
            </a:avLst>
          </a:prstGeom>
          <a:solidFill>
            <a:srgbClr val="FFE2B8"/>
          </a:solidFill>
          <a:ln/>
        </p:spPr>
      </p:sp>
      <p:sp>
        <p:nvSpPr>
          <p:cNvPr id="31" name="Text 29"/>
          <p:cNvSpPr txBox="1"/>
          <p:nvPr/>
        </p:nvSpPr>
        <p:spPr>
          <a:xfrm>
            <a:off x="8138160" y="4050792"/>
            <a:ext cx="3337560" cy="950976"/>
          </a:xfrm>
          <a:prstGeom prst="rect">
            <a:avLst/>
          </a:prstGeom>
          <a:noFill/>
          <a:ln/>
        </p:spPr>
        <p:txBody>
          <a:bodyPr wrap="square" lIns="1016" tIns="1016" rIns="1016" bIns="1016" rtlCol="0" anchor="t"/>
          <a:lstStyle/>
          <a:p>
            <a:pPr indent="0" marL="0">
              <a:buNone/>
            </a:pPr>
            <a:r>
              <a:rPr lang="en-US" sz="1250" b="1" dirty="0">
                <a:solidFill>
                  <a:schemeClr val="tx1"/>
                </a:solidFill>
                <a:latin typeface="Calibri" pitchFamily="34" charset="0"/>
                <a:ea typeface="Calibri" pitchFamily="34" charset="-122"/>
                <a:cs typeface="Calibri" pitchFamily="34" charset="-120"/>
              </a:rPr>
              <a:t>Request checklist</a:t>
            </a:r>
            <a:endParaRPr lang="en-US" sz="1250" dirty="0"/>
          </a:p>
          <a:p>
            <a:pPr indent="0" marL="0">
              <a:buNone/>
            </a:pPr>
            <a:r>
              <a:rPr lang="en-US" sz="1250" dirty="0">
                <a:solidFill>
                  <a:schemeClr val="tx1"/>
                </a:solidFill>
                <a:latin typeface="Calibri" pitchFamily="34" charset="0"/>
                <a:ea typeface="Calibri" pitchFamily="34" charset="-122"/>
                <a:cs typeface="Calibri" pitchFamily="34" charset="-120"/>
              </a:rPr>
              <a:t>Required documents and guidance by request type</a:t>
            </a:r>
            <a:endParaRPr lang="en-US" sz="1250" dirty="0"/>
          </a:p>
          <a:p>
            <a:pPr indent="0" marL="0">
              <a:buNone/>
            </a:pPr>
            <a:r>
              <a:rPr lang="en-US" sz="1250" i="1" dirty="0">
                <a:solidFill>
                  <a:srgbClr val="3D5252"/>
                </a:solidFill>
                <a:latin typeface="Calibri" pitchFamily="34" charset="0"/>
                <a:ea typeface="Calibri" pitchFamily="34" charset="-122"/>
                <a:cs typeface="Calibri" pitchFamily="34" charset="-120"/>
              </a:rPr>
              <a:t>Born: Completed outside the system today</a:t>
            </a:r>
            <a:endParaRPr lang="en-US" sz="1250" dirty="0"/>
          </a:p>
        </p:txBody>
      </p:sp>
      <p:sp>
        <p:nvSpPr>
          <p:cNvPr id="32" name="src23"/>
          <p:cNvSpPr/>
          <p:nvPr/>
        </p:nvSpPr>
        <p:spPr>
          <a:xfrm>
            <a:off x="8046720" y="5129784"/>
            <a:ext cx="3520440" cy="1024128"/>
          </a:xfrm>
          <a:prstGeom prst="roundRect">
            <a:avLst>
              <a:gd name="adj" fmla="val 7143"/>
            </a:avLst>
          </a:prstGeom>
          <a:solidFill>
            <a:srgbClr val="FFE2B8"/>
          </a:solidFill>
          <a:ln/>
        </p:spPr>
      </p:sp>
      <p:sp>
        <p:nvSpPr>
          <p:cNvPr id="33" name="Text 31"/>
          <p:cNvSpPr txBox="1"/>
          <p:nvPr/>
        </p:nvSpPr>
        <p:spPr>
          <a:xfrm>
            <a:off x="8138160" y="5166360"/>
            <a:ext cx="3337560" cy="950976"/>
          </a:xfrm>
          <a:prstGeom prst="rect">
            <a:avLst/>
          </a:prstGeom>
          <a:noFill/>
          <a:ln/>
        </p:spPr>
        <p:txBody>
          <a:bodyPr wrap="square" lIns="1016" tIns="1016" rIns="1016" bIns="1016" rtlCol="0" anchor="t"/>
          <a:lstStyle/>
          <a:p>
            <a:pPr indent="0" marL="0">
              <a:buNone/>
            </a:pPr>
            <a:r>
              <a:rPr lang="en-US" sz="1250" b="1" dirty="0">
                <a:solidFill>
                  <a:schemeClr val="tx1"/>
                </a:solidFill>
                <a:latin typeface="Calibri" pitchFamily="34" charset="0"/>
                <a:ea typeface="Calibri" pitchFamily="34" charset="-122"/>
                <a:cs typeface="Calibri" pitchFamily="34" charset="-120"/>
              </a:rPr>
              <a:t>Roles and authorization</a:t>
            </a:r>
            <a:endParaRPr lang="en-US" sz="1250" dirty="0"/>
          </a:p>
          <a:p>
            <a:pPr indent="0" marL="0">
              <a:buNone/>
            </a:pPr>
            <a:r>
              <a:rPr lang="en-US" sz="1250" dirty="0">
                <a:solidFill>
                  <a:schemeClr val="tx1"/>
                </a:solidFill>
                <a:latin typeface="Calibri" pitchFamily="34" charset="0"/>
                <a:ea typeface="Calibri" pitchFamily="34" charset="-122"/>
                <a:cs typeface="Calibri" pitchFamily="34" charset="-120"/>
              </a:rPr>
              <a:t>Eligible submitters, responsibilities, approvals</a:t>
            </a:r>
            <a:endParaRPr lang="en-US" sz="1250" dirty="0"/>
          </a:p>
          <a:p>
            <a:pPr indent="0" marL="0">
              <a:buNone/>
            </a:pPr>
            <a:r>
              <a:rPr lang="en-US" sz="1250" i="1" dirty="0">
                <a:solidFill>
                  <a:srgbClr val="3D5252"/>
                </a:solidFill>
                <a:latin typeface="Calibri" pitchFamily="34" charset="0"/>
                <a:ea typeface="Calibri" pitchFamily="34" charset="-122"/>
                <a:cs typeface="Calibri" pitchFamily="34" charset="-120"/>
              </a:rPr>
              <a:t>Born: Government of Alberta rules</a:t>
            </a:r>
            <a:endParaRPr lang="en-US" sz="125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B7B"/>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body" hasCustomPrompt="1"/>
          </p:nvPr>
        </p:nvSpPr>
        <p:spPr>
          <a:xfrm>
            <a:off x="548640" y="91440"/>
            <a:ext cx="11064240" cy="320040"/>
          </a:xfrm>
          <a:prstGeom prst="rect">
            <a:avLst/>
          </a:prstGeom>
          <a:noFill/>
          <a:ln/>
        </p:spPr>
        <p:txBody>
          <a:bodyPr wrap="square" lIns="1016" tIns="1016" rIns="1016" bIns="1016" rtlCol="0" anchor="b"/>
          <a:lstStyle/>
          <a:p>
            <a:pPr indent="0" marL="0">
              <a:buNone/>
            </a:pPr>
            <a:r>
              <a:rPr lang="en-US" sz="1200" b="1" dirty="0">
                <a:solidFill>
                  <a:schemeClr val="accent1"/>
                </a:solidFill>
              </a:rPr>
              <a:t>STEP ONE  |  SCOPE</a:t>
            </a:r>
            <a:endParaRPr lang="en-US" sz="1200" dirty="0"/>
          </a:p>
        </p:txBody>
      </p:sp>
      <p:sp>
        <p:nvSpPr>
          <p:cNvPr id="3" name="Text 1"/>
          <p:cNvSpPr/>
          <p:nvPr>
            <p:ph idx="101" type="title" hasCustomPrompt="1"/>
          </p:nvPr>
        </p:nvSpPr>
        <p:spPr>
          <a:xfrm>
            <a:off x="548640" y="365760"/>
            <a:ext cx="11064240" cy="685800"/>
          </a:xfrm>
          <a:prstGeom prst="rect">
            <a:avLst/>
          </a:prstGeom>
          <a:noFill/>
          <a:ln/>
        </p:spPr>
        <p:txBody>
          <a:bodyPr wrap="square" lIns="1016" tIns="1016" rIns="1016" bIns="1016"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Scope covers the request as a record, not the furniture work</a:t>
            </a:r>
            <a:endParaRPr lang="en-US" sz="3000" dirty="0"/>
          </a:p>
        </p:txBody>
      </p:sp>
      <p:sp>
        <p:nvSpPr>
          <p:cNvPr id="4" name="In scope"/>
          <p:cNvSpPr/>
          <p:nvPr/>
        </p:nvSpPr>
        <p:spPr>
          <a:xfrm>
            <a:off x="548640" y="1188720"/>
            <a:ext cx="5440680" cy="502920"/>
          </a:xfrm>
          <a:prstGeom prst="roundRect">
            <a:avLst>
              <a:gd name="adj" fmla="val 14545"/>
            </a:avLst>
          </a:prstGeom>
          <a:solidFill>
            <a:srgbClr val="1B6F6A"/>
          </a:solidFill>
          <a:ln/>
        </p:spPr>
      </p:sp>
      <p:sp>
        <p:nvSpPr>
          <p:cNvPr id="5" name="Text 3"/>
          <p:cNvSpPr txBox="1"/>
          <p:nvPr/>
        </p:nvSpPr>
        <p:spPr>
          <a:xfrm>
            <a:off x="548640" y="1188720"/>
            <a:ext cx="5440680" cy="502920"/>
          </a:xfrm>
          <a:prstGeom prst="rect">
            <a:avLst/>
          </a:prstGeom>
          <a:noFill/>
          <a:ln/>
        </p:spPr>
        <p:txBody>
          <a:bodyPr wrap="square" lIns="1016" tIns="1016" rIns="1016" bIns="1016"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In scope</a:t>
            </a:r>
            <a:endParaRPr lang="en-US" sz="1700" dirty="0"/>
          </a:p>
        </p:txBody>
      </p:sp>
      <p:sp>
        <p:nvSpPr>
          <p:cNvPr id="6" name="In scope0"/>
          <p:cNvSpPr/>
          <p:nvPr/>
        </p:nvSpPr>
        <p:spPr>
          <a:xfrm>
            <a:off x="548640" y="1828800"/>
            <a:ext cx="5440680" cy="868680"/>
          </a:xfrm>
          <a:prstGeom prst="roundRect">
            <a:avLst>
              <a:gd name="adj" fmla="val 8421"/>
            </a:avLst>
          </a:prstGeom>
          <a:solidFill>
            <a:srgbClr val="F4F7F7"/>
          </a:solidFill>
          <a:ln/>
        </p:spPr>
      </p:sp>
      <p:sp>
        <p:nvSpPr>
          <p:cNvPr id="7" name="Text 5"/>
          <p:cNvSpPr txBox="1"/>
          <p:nvPr/>
        </p:nvSpPr>
        <p:spPr>
          <a:xfrm>
            <a:off x="685800" y="1865376"/>
            <a:ext cx="5166360" cy="804672"/>
          </a:xfrm>
          <a:prstGeom prst="rect">
            <a:avLst/>
          </a:prstGeom>
          <a:noFill/>
          <a:ln/>
        </p:spPr>
        <p:txBody>
          <a:bodyPr wrap="square" lIns="1016" tIns="1016" rIns="1016" bIns="1016" rtlCol="0" anchor="t"/>
          <a:lstStyle/>
          <a:p>
            <a:pPr indent="0" marL="0">
              <a:buNone/>
            </a:pPr>
            <a:r>
              <a:rPr lang="en-US" sz="1400" b="1" dirty="0">
                <a:solidFill>
                  <a:schemeClr val="tx1"/>
                </a:solidFill>
                <a:latin typeface="Calibri" pitchFamily="34" charset="0"/>
                <a:ea typeface="Calibri" pitchFamily="34" charset="-122"/>
                <a:cs typeface="Calibri" pitchFamily="34" charset="-120"/>
              </a:rPr>
              <a:t>Request initiation and submission</a:t>
            </a:r>
            <a:endParaRPr lang="en-US" sz="1400" dirty="0"/>
          </a:p>
          <a:p>
            <a:pPr indent="0" marL="0">
              <a:buNone/>
            </a:pPr>
            <a:r>
              <a:rPr lang="en-US" sz="1400" dirty="0">
                <a:solidFill>
                  <a:srgbClr val="3D5252"/>
                </a:solidFill>
                <a:latin typeface="Calibri" pitchFamily="34" charset="0"/>
                <a:ea typeface="Calibri" pitchFamily="34" charset="-122"/>
                <a:cs typeface="Calibri" pitchFamily="34" charset="-120"/>
              </a:rPr>
              <a:t>Why: Needed to submit right first time (FR-01 to FR-12)</a:t>
            </a:r>
            <a:endParaRPr lang="en-US" sz="1400" dirty="0"/>
          </a:p>
        </p:txBody>
      </p:sp>
      <p:sp>
        <p:nvSpPr>
          <p:cNvPr id="8" name="In scope1"/>
          <p:cNvSpPr/>
          <p:nvPr/>
        </p:nvSpPr>
        <p:spPr>
          <a:xfrm>
            <a:off x="548640" y="2788920"/>
            <a:ext cx="5440680" cy="868680"/>
          </a:xfrm>
          <a:prstGeom prst="roundRect">
            <a:avLst>
              <a:gd name="adj" fmla="val 8421"/>
            </a:avLst>
          </a:prstGeom>
          <a:solidFill>
            <a:srgbClr val="F4F7F7"/>
          </a:solidFill>
          <a:ln/>
        </p:spPr>
      </p:sp>
      <p:sp>
        <p:nvSpPr>
          <p:cNvPr id="9" name="Text 7"/>
          <p:cNvSpPr txBox="1"/>
          <p:nvPr/>
        </p:nvSpPr>
        <p:spPr>
          <a:xfrm>
            <a:off x="685800" y="2825496"/>
            <a:ext cx="5166360" cy="804672"/>
          </a:xfrm>
          <a:prstGeom prst="rect">
            <a:avLst/>
          </a:prstGeom>
          <a:noFill/>
          <a:ln/>
        </p:spPr>
        <p:txBody>
          <a:bodyPr wrap="square" lIns="1016" tIns="1016" rIns="1016" bIns="1016" rtlCol="0" anchor="t"/>
          <a:lstStyle/>
          <a:p>
            <a:pPr indent="0" marL="0">
              <a:buNone/>
            </a:pPr>
            <a:r>
              <a:rPr lang="en-US" sz="1400" b="1" dirty="0">
                <a:solidFill>
                  <a:schemeClr val="tx1"/>
                </a:solidFill>
                <a:latin typeface="Calibri" pitchFamily="34" charset="0"/>
                <a:ea typeface="Calibri" pitchFamily="34" charset="-122"/>
                <a:cs typeface="Calibri" pitchFamily="34" charset="-120"/>
              </a:rPr>
              <a:t>Review and coordination</a:t>
            </a:r>
            <a:endParaRPr lang="en-US" sz="1400" dirty="0"/>
          </a:p>
          <a:p>
            <a:pPr indent="0" marL="0">
              <a:buNone/>
            </a:pPr>
            <a:r>
              <a:rPr lang="en-US" sz="1400" dirty="0">
                <a:solidFill>
                  <a:srgbClr val="3D5252"/>
                </a:solidFill>
                <a:latin typeface="Calibri" pitchFamily="34" charset="0"/>
                <a:ea typeface="Calibri" pitchFamily="34" charset="-122"/>
                <a:cs typeface="Calibri" pitchFamily="34" charset="-120"/>
              </a:rPr>
              <a:t>Why: Decisions, ownership and clarifications must stay with the request (FR-15, FR-16)</a:t>
            </a:r>
            <a:endParaRPr lang="en-US" sz="1400" dirty="0"/>
          </a:p>
        </p:txBody>
      </p:sp>
      <p:sp>
        <p:nvSpPr>
          <p:cNvPr id="10" name="In scope2"/>
          <p:cNvSpPr/>
          <p:nvPr/>
        </p:nvSpPr>
        <p:spPr>
          <a:xfrm>
            <a:off x="548640" y="3749040"/>
            <a:ext cx="5440680" cy="868680"/>
          </a:xfrm>
          <a:prstGeom prst="roundRect">
            <a:avLst>
              <a:gd name="adj" fmla="val 8421"/>
            </a:avLst>
          </a:prstGeom>
          <a:solidFill>
            <a:srgbClr val="F4F7F7"/>
          </a:solidFill>
          <a:ln/>
        </p:spPr>
      </p:sp>
      <p:sp>
        <p:nvSpPr>
          <p:cNvPr id="11" name="Text 9"/>
          <p:cNvSpPr txBox="1"/>
          <p:nvPr/>
        </p:nvSpPr>
        <p:spPr>
          <a:xfrm>
            <a:off x="685800" y="3785616"/>
            <a:ext cx="5166360" cy="804672"/>
          </a:xfrm>
          <a:prstGeom prst="rect">
            <a:avLst/>
          </a:prstGeom>
          <a:noFill/>
          <a:ln/>
        </p:spPr>
        <p:txBody>
          <a:bodyPr wrap="square" lIns="1016" tIns="1016" rIns="1016" bIns="1016" rtlCol="0" anchor="t"/>
          <a:lstStyle/>
          <a:p>
            <a:pPr indent="0" marL="0">
              <a:buNone/>
            </a:pPr>
            <a:r>
              <a:rPr lang="en-US" sz="1400" b="1" dirty="0">
                <a:solidFill>
                  <a:schemeClr val="tx1"/>
                </a:solidFill>
                <a:latin typeface="Calibri" pitchFamily="34" charset="0"/>
                <a:ea typeface="Calibri" pitchFamily="34" charset="-122"/>
                <a:cs typeface="Calibri" pitchFamily="34" charset="-120"/>
              </a:rPr>
              <a:t>Fulfilment and closure</a:t>
            </a:r>
            <a:endParaRPr lang="en-US" sz="1400" dirty="0"/>
          </a:p>
          <a:p>
            <a:pPr indent="0" marL="0">
              <a:buNone/>
            </a:pPr>
            <a:r>
              <a:rPr lang="en-US" sz="1400" dirty="0">
                <a:solidFill>
                  <a:srgbClr val="3D5252"/>
                </a:solidFill>
                <a:latin typeface="Calibri" pitchFamily="34" charset="0"/>
                <a:ea typeface="Calibri" pitchFamily="34" charset="-122"/>
                <a:cs typeface="Calibri" pitchFamily="34" charset="-120"/>
              </a:rPr>
              <a:t>Why: Progress is tracked, not performed (FR-17)</a:t>
            </a:r>
            <a:endParaRPr lang="en-US" sz="1400" dirty="0"/>
          </a:p>
        </p:txBody>
      </p:sp>
      <p:sp>
        <p:nvSpPr>
          <p:cNvPr id="12" name="In scope3"/>
          <p:cNvSpPr/>
          <p:nvPr/>
        </p:nvSpPr>
        <p:spPr>
          <a:xfrm>
            <a:off x="548640" y="4709160"/>
            <a:ext cx="5440680" cy="868680"/>
          </a:xfrm>
          <a:prstGeom prst="roundRect">
            <a:avLst>
              <a:gd name="adj" fmla="val 8421"/>
            </a:avLst>
          </a:prstGeom>
          <a:solidFill>
            <a:srgbClr val="F4F7F7"/>
          </a:solidFill>
          <a:ln/>
        </p:spPr>
      </p:sp>
      <p:sp>
        <p:nvSpPr>
          <p:cNvPr id="13" name="Text 11"/>
          <p:cNvSpPr txBox="1"/>
          <p:nvPr/>
        </p:nvSpPr>
        <p:spPr>
          <a:xfrm>
            <a:off x="685800" y="4745736"/>
            <a:ext cx="5166360" cy="804672"/>
          </a:xfrm>
          <a:prstGeom prst="rect">
            <a:avLst/>
          </a:prstGeom>
          <a:noFill/>
          <a:ln/>
        </p:spPr>
        <p:txBody>
          <a:bodyPr wrap="square" lIns="1016" tIns="1016" rIns="1016" bIns="1016" rtlCol="0" anchor="t"/>
          <a:lstStyle/>
          <a:p>
            <a:pPr indent="0" marL="0">
              <a:buNone/>
            </a:pPr>
            <a:r>
              <a:rPr lang="en-US" sz="1400" b="1" dirty="0">
                <a:solidFill>
                  <a:schemeClr val="tx1"/>
                </a:solidFill>
                <a:latin typeface="Calibri" pitchFamily="34" charset="0"/>
                <a:ea typeface="Calibri" pitchFamily="34" charset="-122"/>
                <a:cs typeface="Calibri" pitchFamily="34" charset="-120"/>
              </a:rPr>
              <a:t>Visibility and reporting</a:t>
            </a:r>
            <a:endParaRPr lang="en-US" sz="1400" dirty="0"/>
          </a:p>
          <a:p>
            <a:pPr indent="0" marL="0">
              <a:buNone/>
            </a:pPr>
            <a:r>
              <a:rPr lang="en-US" sz="1400" dirty="0">
                <a:solidFill>
                  <a:srgbClr val="3D5252"/>
                </a:solidFill>
                <a:latin typeface="Calibri" pitchFamily="34" charset="0"/>
                <a:ea typeface="Calibri" pitchFamily="34" charset="-122"/>
                <a:cs typeface="Calibri" pitchFamily="34" charset="-120"/>
              </a:rPr>
              <a:t>Why: Status, next step and service performance (FR-13, FR-24)</a:t>
            </a:r>
            <a:endParaRPr lang="en-US" sz="1400" dirty="0"/>
          </a:p>
        </p:txBody>
      </p:sp>
      <p:sp>
        <p:nvSpPr>
          <p:cNvPr id="14" name="Out of scope or deferred"/>
          <p:cNvSpPr/>
          <p:nvPr/>
        </p:nvSpPr>
        <p:spPr>
          <a:xfrm>
            <a:off x="6172200" y="1188720"/>
            <a:ext cx="5440680" cy="502920"/>
          </a:xfrm>
          <a:prstGeom prst="roundRect">
            <a:avLst>
              <a:gd name="adj" fmla="val 14545"/>
            </a:avLst>
          </a:prstGeom>
          <a:solidFill>
            <a:srgbClr val="FFC6C6"/>
          </a:solidFill>
          <a:ln/>
        </p:spPr>
      </p:sp>
      <p:sp>
        <p:nvSpPr>
          <p:cNvPr id="15" name="Text 13"/>
          <p:cNvSpPr txBox="1"/>
          <p:nvPr/>
        </p:nvSpPr>
        <p:spPr>
          <a:xfrm>
            <a:off x="6172200" y="1188720"/>
            <a:ext cx="5440680" cy="502920"/>
          </a:xfrm>
          <a:prstGeom prst="rect">
            <a:avLst/>
          </a:prstGeom>
          <a:noFill/>
          <a:ln/>
        </p:spPr>
        <p:txBody>
          <a:bodyPr wrap="square" lIns="1016" tIns="1016" rIns="1016" bIns="1016" rtlCol="0" anchor="ctr"/>
          <a:lstStyle/>
          <a:p>
            <a:pPr algn="ctr" indent="0" marL="0">
              <a:buNone/>
            </a:pPr>
            <a:r>
              <a:rPr lang="en-US" sz="1700" b="1" dirty="0">
                <a:solidFill>
                  <a:srgbClr val="1A1A1A"/>
                </a:solidFill>
                <a:latin typeface="Calibri" pitchFamily="34" charset="0"/>
                <a:ea typeface="Calibri" pitchFamily="34" charset="-122"/>
                <a:cs typeface="Calibri" pitchFamily="34" charset="-120"/>
              </a:rPr>
              <a:t>Out of scope or deferred</a:t>
            </a:r>
            <a:endParaRPr lang="en-US" sz="1700" dirty="0"/>
          </a:p>
        </p:txBody>
      </p:sp>
      <p:sp>
        <p:nvSpPr>
          <p:cNvPr id="16" name="Out of scope or deferred0"/>
          <p:cNvSpPr/>
          <p:nvPr/>
        </p:nvSpPr>
        <p:spPr>
          <a:xfrm>
            <a:off x="6172200" y="1828800"/>
            <a:ext cx="5440680" cy="868680"/>
          </a:xfrm>
          <a:prstGeom prst="roundRect">
            <a:avLst>
              <a:gd name="adj" fmla="val 8421"/>
            </a:avLst>
          </a:prstGeom>
          <a:solidFill>
            <a:srgbClr val="F4F7F7"/>
          </a:solidFill>
          <a:ln/>
        </p:spPr>
      </p:sp>
      <p:sp>
        <p:nvSpPr>
          <p:cNvPr id="17" name="Text 15"/>
          <p:cNvSpPr txBox="1"/>
          <p:nvPr/>
        </p:nvSpPr>
        <p:spPr>
          <a:xfrm>
            <a:off x="6309360" y="1865376"/>
            <a:ext cx="5166360" cy="804672"/>
          </a:xfrm>
          <a:prstGeom prst="rect">
            <a:avLst/>
          </a:prstGeom>
          <a:noFill/>
          <a:ln/>
        </p:spPr>
        <p:txBody>
          <a:bodyPr wrap="square" lIns="1016" tIns="1016" rIns="1016" bIns="1016" rtlCol="0" anchor="t"/>
          <a:lstStyle/>
          <a:p>
            <a:pPr indent="0" marL="0">
              <a:buNone/>
            </a:pPr>
            <a:r>
              <a:rPr lang="en-US" sz="1400" b="1" dirty="0">
                <a:solidFill>
                  <a:schemeClr val="tx1"/>
                </a:solidFill>
                <a:latin typeface="Calibri" pitchFamily="34" charset="0"/>
                <a:ea typeface="Calibri" pitchFamily="34" charset="-122"/>
                <a:cs typeface="Calibri" pitchFamily="34" charset="-120"/>
              </a:rPr>
              <a:t>Other WORTS services</a:t>
            </a:r>
            <a:endParaRPr lang="en-US" sz="1400" dirty="0"/>
          </a:p>
          <a:p>
            <a:pPr indent="0" marL="0">
              <a:buNone/>
            </a:pPr>
            <a:r>
              <a:rPr lang="en-US" sz="1400" dirty="0">
                <a:solidFill>
                  <a:srgbClr val="3D5252"/>
                </a:solidFill>
                <a:latin typeface="Calibri" pitchFamily="34" charset="0"/>
                <a:ea typeface="Calibri" pitchFamily="34" charset="-122"/>
                <a:cs typeface="Calibri" pitchFamily="34" charset="-120"/>
              </a:rPr>
              <a:t>Why: Mandated constraint: Furniture Request service only</a:t>
            </a:r>
            <a:endParaRPr lang="en-US" sz="1400" dirty="0"/>
          </a:p>
        </p:txBody>
      </p:sp>
      <p:sp>
        <p:nvSpPr>
          <p:cNvPr id="18" name="Out of scope or deferred1"/>
          <p:cNvSpPr/>
          <p:nvPr/>
        </p:nvSpPr>
        <p:spPr>
          <a:xfrm>
            <a:off x="6172200" y="2788920"/>
            <a:ext cx="5440680" cy="868680"/>
          </a:xfrm>
          <a:prstGeom prst="roundRect">
            <a:avLst>
              <a:gd name="adj" fmla="val 8421"/>
            </a:avLst>
          </a:prstGeom>
          <a:solidFill>
            <a:srgbClr val="F4F7F7"/>
          </a:solidFill>
          <a:ln/>
        </p:spPr>
      </p:sp>
      <p:sp>
        <p:nvSpPr>
          <p:cNvPr id="19" name="Text 17"/>
          <p:cNvSpPr txBox="1"/>
          <p:nvPr/>
        </p:nvSpPr>
        <p:spPr>
          <a:xfrm>
            <a:off x="6309360" y="2825496"/>
            <a:ext cx="5166360" cy="804672"/>
          </a:xfrm>
          <a:prstGeom prst="rect">
            <a:avLst/>
          </a:prstGeom>
          <a:noFill/>
          <a:ln/>
        </p:spPr>
        <p:txBody>
          <a:bodyPr wrap="square" lIns="1016" tIns="1016" rIns="1016" bIns="1016" rtlCol="0" anchor="t"/>
          <a:lstStyle/>
          <a:p>
            <a:pPr indent="0" marL="0">
              <a:buNone/>
            </a:pPr>
            <a:r>
              <a:rPr lang="en-US" sz="1400" b="1" dirty="0">
                <a:solidFill>
                  <a:schemeClr val="tx1"/>
                </a:solidFill>
                <a:latin typeface="Calibri" pitchFamily="34" charset="0"/>
                <a:ea typeface="Calibri" pitchFamily="34" charset="-122"/>
                <a:cs typeface="Calibri" pitchFamily="34" charset="-120"/>
              </a:rPr>
              <a:t>Direct SnapTracker and OneGX/SAP integrations</a:t>
            </a:r>
            <a:endParaRPr lang="en-US" sz="1400" dirty="0"/>
          </a:p>
          <a:p>
            <a:pPr indent="0" marL="0">
              <a:buNone/>
            </a:pPr>
            <a:r>
              <a:rPr lang="en-US" sz="1400" dirty="0">
                <a:solidFill>
                  <a:srgbClr val="3D5252"/>
                </a:solidFill>
                <a:latin typeface="Calibri" pitchFamily="34" charset="0"/>
                <a:ea typeface="Calibri" pitchFamily="34" charset="-122"/>
                <a:cs typeface="Calibri" pitchFamily="34" charset="-120"/>
              </a:rPr>
              <a:t>Why: Unconfirmed; the client will handle integration inside PRISM</a:t>
            </a:r>
            <a:endParaRPr lang="en-US" sz="1400" dirty="0"/>
          </a:p>
        </p:txBody>
      </p:sp>
      <p:sp>
        <p:nvSpPr>
          <p:cNvPr id="20" name="Out of scope or deferred2"/>
          <p:cNvSpPr/>
          <p:nvPr/>
        </p:nvSpPr>
        <p:spPr>
          <a:xfrm>
            <a:off x="6172200" y="3749040"/>
            <a:ext cx="5440680" cy="868680"/>
          </a:xfrm>
          <a:prstGeom prst="roundRect">
            <a:avLst>
              <a:gd name="adj" fmla="val 8421"/>
            </a:avLst>
          </a:prstGeom>
          <a:solidFill>
            <a:srgbClr val="F4F7F7"/>
          </a:solidFill>
          <a:ln/>
        </p:spPr>
      </p:sp>
      <p:sp>
        <p:nvSpPr>
          <p:cNvPr id="21" name="Text 19"/>
          <p:cNvSpPr txBox="1"/>
          <p:nvPr/>
        </p:nvSpPr>
        <p:spPr>
          <a:xfrm>
            <a:off x="6309360" y="3785616"/>
            <a:ext cx="5166360" cy="804672"/>
          </a:xfrm>
          <a:prstGeom prst="rect">
            <a:avLst/>
          </a:prstGeom>
          <a:noFill/>
          <a:ln/>
        </p:spPr>
        <p:txBody>
          <a:bodyPr wrap="square" lIns="1016" tIns="1016" rIns="1016" bIns="1016" rtlCol="0" anchor="t"/>
          <a:lstStyle/>
          <a:p>
            <a:pPr indent="0" marL="0">
              <a:buNone/>
            </a:pPr>
            <a:r>
              <a:rPr lang="en-US" sz="1400" b="1" dirty="0">
                <a:solidFill>
                  <a:schemeClr val="tx1"/>
                </a:solidFill>
                <a:latin typeface="Calibri" pitchFamily="34" charset="0"/>
                <a:ea typeface="Calibri" pitchFamily="34" charset="-122"/>
                <a:cs typeface="Calibri" pitchFamily="34" charset="-120"/>
              </a:rPr>
              <a:t>Historical WORTS migration</a:t>
            </a:r>
            <a:endParaRPr lang="en-US" sz="1400" dirty="0"/>
          </a:p>
          <a:p>
            <a:pPr indent="0" marL="0">
              <a:buNone/>
            </a:pPr>
            <a:r>
              <a:rPr lang="en-US" sz="1400" dirty="0">
                <a:solidFill>
                  <a:srgbClr val="3D5252"/>
                </a:solidFill>
                <a:latin typeface="Calibri" pitchFamily="34" charset="0"/>
                <a:ea typeface="Calibri" pitchFamily="34" charset="-122"/>
                <a:cs typeface="Calibri" pitchFamily="34" charset="-120"/>
              </a:rPr>
              <a:t>Why: Not confirmed by the client</a:t>
            </a:r>
            <a:endParaRPr lang="en-US" sz="1400" dirty="0"/>
          </a:p>
        </p:txBody>
      </p:sp>
      <p:sp>
        <p:nvSpPr>
          <p:cNvPr id="22" name="Out of scope or deferred3"/>
          <p:cNvSpPr/>
          <p:nvPr/>
        </p:nvSpPr>
        <p:spPr>
          <a:xfrm>
            <a:off x="6172200" y="4709160"/>
            <a:ext cx="5440680" cy="868680"/>
          </a:xfrm>
          <a:prstGeom prst="roundRect">
            <a:avLst>
              <a:gd name="adj" fmla="val 8421"/>
            </a:avLst>
          </a:prstGeom>
          <a:solidFill>
            <a:srgbClr val="F4F7F7"/>
          </a:solidFill>
          <a:ln/>
        </p:spPr>
      </p:sp>
      <p:sp>
        <p:nvSpPr>
          <p:cNvPr id="23" name="Text 21"/>
          <p:cNvSpPr txBox="1"/>
          <p:nvPr/>
        </p:nvSpPr>
        <p:spPr>
          <a:xfrm>
            <a:off x="6309360" y="4745736"/>
            <a:ext cx="5166360" cy="804672"/>
          </a:xfrm>
          <a:prstGeom prst="rect">
            <a:avLst/>
          </a:prstGeom>
          <a:noFill/>
          <a:ln/>
        </p:spPr>
        <p:txBody>
          <a:bodyPr wrap="square" lIns="1016" tIns="1016" rIns="1016" bIns="1016" rtlCol="0" anchor="t"/>
          <a:lstStyle/>
          <a:p>
            <a:pPr indent="0" marL="0">
              <a:buNone/>
            </a:pPr>
            <a:r>
              <a:rPr lang="en-US" sz="1400" b="1" dirty="0">
                <a:solidFill>
                  <a:schemeClr val="tx1"/>
                </a:solidFill>
                <a:latin typeface="Calibri" pitchFamily="34" charset="0"/>
                <a:ea typeface="Calibri" pitchFamily="34" charset="-122"/>
                <a:cs typeface="Calibri" pitchFamily="34" charset="-120"/>
              </a:rPr>
              <a:t>Vendor-facing workflow</a:t>
            </a:r>
            <a:endParaRPr lang="en-US" sz="1400" dirty="0"/>
          </a:p>
          <a:p>
            <a:pPr indent="0" marL="0">
              <a:buNone/>
            </a:pPr>
            <a:r>
              <a:rPr lang="en-US" sz="1400" dirty="0">
                <a:solidFill>
                  <a:srgbClr val="3D5252"/>
                </a:solidFill>
                <a:latin typeface="Calibri" pitchFamily="34" charset="0"/>
                <a:ea typeface="Calibri" pitchFamily="34" charset="-122"/>
                <a:cs typeface="Calibri" pitchFamily="34" charset="-120"/>
              </a:rPr>
              <a:t>Why: Suppliers and installers do not transact in the product</a:t>
            </a:r>
            <a:endParaRPr lang="en-US" sz="1400" dirty="0"/>
          </a:p>
        </p:txBody>
      </p:sp>
      <p:sp>
        <p:nvSpPr>
          <p:cNvPr id="24" name="principle"/>
          <p:cNvSpPr/>
          <p:nvPr/>
        </p:nvSpPr>
        <p:spPr>
          <a:xfrm>
            <a:off x="548640" y="5715000"/>
            <a:ext cx="11064240" cy="548640"/>
          </a:xfrm>
          <a:prstGeom prst="roundRect">
            <a:avLst>
              <a:gd name="adj" fmla="val 13333"/>
            </a:avLst>
          </a:prstGeom>
          <a:solidFill>
            <a:srgbClr val="FFF6B6"/>
          </a:solidFill>
          <a:ln/>
        </p:spPr>
      </p:sp>
      <p:sp>
        <p:nvSpPr>
          <p:cNvPr id="25" name="Text 23"/>
          <p:cNvSpPr txBox="1"/>
          <p:nvPr/>
        </p:nvSpPr>
        <p:spPr>
          <a:xfrm>
            <a:off x="685800" y="5715000"/>
            <a:ext cx="10789920" cy="548640"/>
          </a:xfrm>
          <a:prstGeom prst="rect">
            <a:avLst/>
          </a:prstGeom>
          <a:noFill/>
          <a:ln/>
        </p:spPr>
        <p:txBody>
          <a:bodyPr wrap="square" lIns="1016" tIns="1016" rIns="1016" bIns="1016"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Scope principle: </a:t>
            </a:r>
            <a:pPr indent="0" marL="0">
              <a:buNone/>
            </a:pPr>
            <a:r>
              <a:rPr lang="en-US" sz="1400" dirty="0">
                <a:solidFill>
                  <a:schemeClr val="tx1"/>
                </a:solidFill>
                <a:latin typeface="Calibri" pitchFamily="34" charset="0"/>
                <a:ea typeface="Calibri" pitchFamily="34" charset="-122"/>
                <a:cs typeface="Calibri" pitchFamily="34" charset="-120"/>
              </a:rPr>
              <a:t>include the data needed to submit, follow, manage, fulfil and measure Furniture Requests; acknowledge other systems without turning an unconfirmed integration into a requirement.</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B7B"/>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2" type="body" hasCustomPrompt="1"/>
          </p:nvPr>
        </p:nvSpPr>
        <p:spPr>
          <a:xfrm>
            <a:off x="548640" y="91440"/>
            <a:ext cx="11064240" cy="320040"/>
          </a:xfrm>
          <a:prstGeom prst="rect">
            <a:avLst/>
          </a:prstGeom>
          <a:noFill/>
          <a:ln/>
        </p:spPr>
        <p:txBody>
          <a:bodyPr wrap="square" lIns="1016" tIns="1016" rIns="1016" bIns="1016" rtlCol="0" anchor="b"/>
          <a:lstStyle/>
          <a:p>
            <a:pPr indent="0" marL="0">
              <a:buNone/>
            </a:pPr>
            <a:r>
              <a:rPr lang="en-US" sz="1200" b="1" dirty="0">
                <a:solidFill>
                  <a:schemeClr val="accent1"/>
                </a:solidFill>
              </a:rPr>
              <a:t>STEP TWO  |  THE PIPELINE END TO END</a:t>
            </a:r>
            <a:endParaRPr lang="en-US" sz="1200" dirty="0"/>
          </a:p>
        </p:txBody>
      </p:sp>
      <p:sp>
        <p:nvSpPr>
          <p:cNvPr id="3" name="Text 1"/>
          <p:cNvSpPr/>
          <p:nvPr>
            <p:ph idx="101" type="title" hasCustomPrompt="1"/>
          </p:nvPr>
        </p:nvSpPr>
        <p:spPr>
          <a:xfrm>
            <a:off x="548640" y="365760"/>
            <a:ext cx="11064240" cy="685800"/>
          </a:xfrm>
          <a:prstGeom prst="rect">
            <a:avLst/>
          </a:prstGeom>
          <a:noFill/>
          <a:ln/>
        </p:spPr>
        <p:txBody>
          <a:bodyPr wrap="square" lIns="1016" tIns="1016" rIns="1016" bIns="1016"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Five stages from source to sink, each with an owner</a:t>
            </a:r>
            <a:endParaRPr lang="en-US" sz="3000" dirty="0"/>
          </a:p>
        </p:txBody>
      </p:sp>
      <p:pic>
        <p:nvPicPr>
          <p:cNvPr id="4" name="Miro pipeline image" descr="Pipeline from the Miro board: five stages, Generate, Collect, Keep and Shape, Store and Use, each with what it holds and its owner; Use feeds the product, business-value and measurement sinks; a dashed loop returns new data to Generate; the scope line sits underneath">    </p:cNvPr>
          <p:cNvPicPr>
            <a:picLocks noChangeAspect="1"/>
          </p:cNvPicPr>
          <p:nvPr/>
        </p:nvPicPr>
        <p:blipFill>
          <a:blip r:embed="rId1"/>
          <a:stretch>
            <a:fillRect/>
          </a:stretch>
        </p:blipFill>
        <p:spPr>
          <a:xfrm>
            <a:off x="548640" y="1188720"/>
            <a:ext cx="11064240" cy="3218688"/>
          </a:xfrm>
          <a:prstGeom prst="rect">
            <a:avLst/>
          </a:prstGeom>
        </p:spPr>
      </p:pic>
      <p:sp>
        <p:nvSpPr>
          <p:cNvPr id="5" name="key"/>
          <p:cNvSpPr txBox="1"/>
          <p:nvPr/>
        </p:nvSpPr>
        <p:spPr>
          <a:xfrm>
            <a:off x="548640" y="4517136"/>
            <a:ext cx="11064240" cy="292608"/>
          </a:xfrm>
          <a:prstGeom prst="rect">
            <a:avLst/>
          </a:prstGeom>
          <a:noFill/>
          <a:ln/>
        </p:spPr>
        <p:txBody>
          <a:bodyPr wrap="square" lIns="635" tIns="635" rIns="635" bIns="635" rtlCol="0" anchor="ctr"/>
          <a:lstStyle/>
          <a:p>
            <a:pPr indent="0" marL="0">
              <a:buNone/>
            </a:pPr>
            <a:r>
              <a:rPr lang="en-US" sz="1100" b="1" dirty="0">
                <a:solidFill>
                  <a:srgbClr val="3D5252"/>
                </a:solidFill>
              </a:rPr>
              <a:t>Key: </a:t>
            </a:r>
            <a:pPr indent="0" marL="0">
              <a:buNone/>
            </a:pPr>
            <a:r>
              <a:rPr lang="en-US" sz="1100" dirty="0">
                <a:solidFill>
                  <a:srgbClr val="3D5252"/>
                </a:solidFill>
              </a:rPr>
              <a:t>bronze, the request as submitted; silver, cleaned and made consistent; gold, aggregated for reports. Red: Proposed or Open, to confirm with the client.</a:t>
            </a:r>
            <a:endParaRPr lang="en-US" sz="1100" dirty="0"/>
          </a:p>
        </p:txBody>
      </p:sp>
      <p:sp>
        <p:nvSpPr>
          <p:cNvPr id="6" name="traced request"/>
          <p:cNvSpPr/>
          <p:nvPr/>
        </p:nvSpPr>
        <p:spPr>
          <a:xfrm>
            <a:off x="548640" y="4974336"/>
            <a:ext cx="11064240" cy="603504"/>
          </a:xfrm>
          <a:prstGeom prst="roundRect">
            <a:avLst>
              <a:gd name="adj" fmla="val 12121"/>
            </a:avLst>
          </a:prstGeom>
          <a:solidFill>
            <a:srgbClr val="FFF6B6"/>
          </a:solidFill>
          <a:ln/>
        </p:spPr>
      </p:sp>
      <p:sp>
        <p:nvSpPr>
          <p:cNvPr id="7" name="Text 4"/>
          <p:cNvSpPr txBox="1"/>
          <p:nvPr/>
        </p:nvSpPr>
        <p:spPr>
          <a:xfrm>
            <a:off x="685800" y="4974336"/>
            <a:ext cx="10789920" cy="603504"/>
          </a:xfrm>
          <a:prstGeom prst="rect">
            <a:avLst/>
          </a:prstGeom>
          <a:noFill/>
          <a:ln/>
        </p:spPr>
        <p:txBody>
          <a:bodyPr wrap="square" lIns="635" tIns="635" rIns="635" bIns="635" rtlCol="0" anchor="ctr"/>
          <a:lstStyle/>
          <a:p>
            <a:pPr indent="0" marL="0">
              <a:buNone/>
            </a:pPr>
            <a:r>
              <a:rPr lang="en-US" sz="1300" b="1" dirty="0">
                <a:solidFill>
                  <a:srgbClr val="000000"/>
                </a:solidFill>
              </a:rPr>
              <a:t>One request, traced through the stages: </a:t>
            </a:r>
            <a:pPr indent="0" marL="0">
              <a:buNone/>
            </a:pPr>
            <a:r>
              <a:rPr lang="en-US" sz="1300" dirty="0">
                <a:solidFill>
                  <a:srgbClr val="000000"/>
                </a:solidFill>
              </a:rPr>
              <a:t>a CMAC asks for 14 additional task chairs, recycled or new, for staff on the 2nd floor of McDougall Centre (the request tested in usability Task 1). The speaker notes follow it stage by stage.</a:t>
            </a:r>
            <a:endParaRPr lang="en-US" sz="1300" dirty="0"/>
          </a:p>
        </p:txBody>
      </p:sp>
      <p:sp>
        <p:nvSpPr>
          <p:cNvPr id="8" name="link"/>
          <p:cNvSpPr/>
          <p:nvPr/>
        </p:nvSpPr>
        <p:spPr>
          <a:xfrm>
            <a:off x="548640" y="5724144"/>
            <a:ext cx="11064240" cy="457200"/>
          </a:xfrm>
          <a:prstGeom prst="roundRect">
            <a:avLst>
              <a:gd name="adj" fmla="val 16000"/>
            </a:avLst>
          </a:prstGeom>
          <a:solidFill>
            <a:srgbClr val="EEF4F3"/>
          </a:solidFill>
          <a:ln/>
        </p:spPr>
      </p:sp>
      <p:sp>
        <p:nvSpPr>
          <p:cNvPr id="9" name="Text 6"/>
          <p:cNvSpPr txBox="1"/>
          <p:nvPr/>
        </p:nvSpPr>
        <p:spPr>
          <a:xfrm>
            <a:off x="685800" y="5724144"/>
            <a:ext cx="10789920" cy="457200"/>
          </a:xfrm>
          <a:prstGeom prst="rect">
            <a:avLst/>
          </a:prstGeom>
          <a:noFill/>
          <a:ln/>
        </p:spPr>
        <p:txBody>
          <a:bodyPr wrap="square" lIns="635" tIns="635" rIns="635" bIns="635" rtlCol="0" anchor="ctr"/>
          <a:lstStyle/>
          <a:p>
            <a:pPr indent="0" marL="0">
              <a:buNone/>
            </a:pPr>
            <a:r>
              <a:rPr lang="en-US" sz="1300" b="1" dirty="0">
                <a:solidFill>
                  <a:srgbClr val="000000"/>
                </a:solidFill>
              </a:rPr>
              <a:t>Miro board (view access for anyone with the link): </a:t>
            </a:r>
            <a:pPr indent="0" marL="0">
              <a:buNone/>
            </a:pPr>
            <a:r>
              <a:rPr lang="en-US" sz="1300" u="sng" dirty="0">
                <a:solidFill>
                  <a:schemeClr val="accent1"/>
                </a:solidFill>
                <a:hlinkClick r:id="rId2" invalidUrl="" action="" tgtFrame="" tooltip="" history="1" highlightClick="0" endSnd="0">
                  <a:extLst>
                    <a:ext uri="{A12FA001-AC4F-418D-AE19-62706E023703}">
                      <ahyp:hlinkClr xmlns:ahyp="http://schemas.microsoft.com/office/drawing/2018/hyperlinkcolor" val="tx"/>
                    </a:ext>
                  </a:extLst>
                </a:hlinkClick>
              </a:rPr>
              <a:t>https://miro.com/app/board/uXjVHidlV4o=/</a:t>
            </a:r>
            <a:pPr indent="0" marL="0">
              <a:buNone/>
            </a:pPr>
            <a:r>
              <a:rPr lang="en-US" sz="1300" dirty="0">
                <a:solidFill>
                  <a:srgbClr val="000000"/>
                </a:solidFill>
              </a:rPr>
              <a:t>   |   Frame: Pipeline Mapping (Ade): Source to Sink</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B7B"/>
                </a:solidFill>
              </a:defRPr>
            </a:lvl1pPr>
          </a:lstStyle>
          <a:p>
            <a:pPr algn="r"/>
            <a:fld id="{F7021451-1387-4CA6-816F-3879F97B5CBC}" type="slidenum">
              <a:rPr b="0" lang="en-US"/>
              <a:t>1</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body" hasCustomPrompt="1"/>
          </p:nvPr>
        </p:nvSpPr>
        <p:spPr>
          <a:xfrm>
            <a:off x="548640" y="91440"/>
            <a:ext cx="11064240" cy="320040"/>
          </a:xfrm>
          <a:prstGeom prst="rect">
            <a:avLst/>
          </a:prstGeom>
          <a:noFill/>
          <a:ln/>
        </p:spPr>
        <p:txBody>
          <a:bodyPr wrap="square" lIns="1016" tIns="1016" rIns="1016" bIns="1016" rtlCol="0" anchor="b"/>
          <a:lstStyle/>
          <a:p>
            <a:pPr indent="0" marL="0">
              <a:buNone/>
            </a:pPr>
            <a:r>
              <a:rPr lang="en-US" sz="1200" b="1" dirty="0">
                <a:solidFill>
                  <a:schemeClr val="accent1"/>
                </a:solidFill>
              </a:rPr>
              <a:t>STEP TWO  |  OWNERS, PREPARATION AND CONSTRAINTS</a:t>
            </a:r>
            <a:endParaRPr lang="en-US" sz="1200" dirty="0"/>
          </a:p>
        </p:txBody>
      </p:sp>
      <p:sp>
        <p:nvSpPr>
          <p:cNvPr id="3" name="Text 1"/>
          <p:cNvSpPr/>
          <p:nvPr>
            <p:ph idx="101" type="title" hasCustomPrompt="1"/>
          </p:nvPr>
        </p:nvSpPr>
        <p:spPr>
          <a:xfrm>
            <a:off x="548640" y="365760"/>
            <a:ext cx="11064240" cy="685800"/>
          </a:xfrm>
          <a:prstGeom prst="rect">
            <a:avLst/>
          </a:prstGeom>
          <a:noFill/>
          <a:ln/>
        </p:spPr>
        <p:txBody>
          <a:bodyPr wrap="square" lIns="1016" tIns="1016" rIns="1016" bIns="1016"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Every stage has an owner; two owners are still open</a:t>
            </a:r>
            <a:endParaRPr lang="en-US" sz="3000" dirty="0"/>
          </a:p>
        </p:txBody>
      </p:sp>
      <p:graphicFrame>
        <p:nvGraphicFramePr>
          <p:cNvPr id="3" name="stage table"/>
          <p:cNvGraphicFramePr>
            <a:graphicFrameLocks noGrp="1"/>
          </p:cNvGraphicFramePr>
          <p:nvPr>
            <p:extLst>
              <p:ext uri="{D42A27DB-BD31-4B8C-83A1-F6EECF244321}">
                <p14:modId xmlns:p14="http://schemas.microsoft.com/office/powerpoint/2010/main" val="1579011935"/>
              </p:ext>
            </p:extLst>
          </p:nvPr>
        </p:nvGraphicFramePr>
        <p:xfrm>
          <a:off x="548640" y="1188720"/>
          <a:ext cx="8046720" cy="914400"/>
        </p:xfrm>
        <a:graphic>
          <a:graphicData uri="http://schemas.openxmlformats.org/drawingml/2006/table">
            <a:tbl>
              <a:tblPr/>
              <a:tblGrid>
                <a:gridCol w="1234440"/>
                <a:gridCol w="2148840"/>
                <a:gridCol w="2514600"/>
                <a:gridCol w="214884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Stage</a:t>
                      </a:r>
                      <a:endParaRPr lang="en-US" sz="1200" dirty="0">
                        <a:latin typeface="Calibri" charset="0"/>
                        <a:ea typeface="Calibri" charset="0"/>
                        <a:cs typeface="Calibri" charset="0"/>
                      </a:endParaRPr>
                    </a:p>
                  </a:txBody>
                  <a:tcPr marL="54864" marR="54864" marT="54864" marB="54864"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F3D3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Owner</a:t>
                      </a:r>
                      <a:endParaRPr lang="en-US" sz="1200" dirty="0">
                        <a:latin typeface="Calibri" charset="0"/>
                        <a:ea typeface="Calibri" charset="0"/>
                        <a:cs typeface="Calibri" charset="0"/>
                      </a:endParaRPr>
                    </a:p>
                  </a:txBody>
                  <a:tcPr marL="54864" marR="54864" marT="54864" marB="54864"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F3D3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Preparation: what it must achieve</a:t>
                      </a:r>
                      <a:endParaRPr lang="en-US" sz="1200" dirty="0">
                        <a:latin typeface="Calibri" charset="0"/>
                        <a:ea typeface="Calibri" charset="0"/>
                        <a:cs typeface="Calibri" charset="0"/>
                      </a:endParaRPr>
                    </a:p>
                  </a:txBody>
                  <a:tcPr marL="54864" marR="54864" marT="54864" marB="54864"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F3D3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Constraints</a:t>
                      </a:r>
                      <a:endParaRPr lang="en-US" sz="1200" dirty="0">
                        <a:latin typeface="Calibri" charset="0"/>
                        <a:ea typeface="Calibri" charset="0"/>
                        <a:cs typeface="Calibri" charset="0"/>
                      </a:endParaRPr>
                    </a:p>
                  </a:txBody>
                  <a:tcPr marL="54864" marR="54864" marT="54864" marB="54864"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F3D3E"/>
                    </a:solidFill>
                  </a:tcPr>
                </a:tc>
              </a:tr>
              <a:tr h="868680">
                <a:tc>
                  <a:txBody>
                    <a:bodyPr/>
                    <a:lstStyle/>
                    <a:p>
                      <a:pPr indent="0" marL="0">
                        <a:buNone/>
                      </a:pPr>
                      <a:r>
                        <a:rPr lang="en-US" sz="1150" b="1" dirty="0">
                          <a:solidFill>
                            <a:srgbClr val="1A1A1A"/>
                          </a:solidFill>
                          <a:latin typeface="Calibri" pitchFamily="34" charset="0"/>
                          <a:ea typeface="Calibri" pitchFamily="34" charset="-122"/>
                          <a:cs typeface="Calibri" pitchFamily="34" charset="-120"/>
                        </a:rPr>
                        <a:t>1  Generate</a:t>
                      </a:r>
                      <a:endParaRPr lang="en-US" sz="1150" dirty="0">
                        <a:latin typeface="Calibri" charset="0"/>
                        <a:ea typeface="Calibri" charset="0"/>
                        <a:cs typeface="Calibri" charset="0"/>
                      </a:endParaRPr>
                    </a:p>
                  </a:txBody>
                  <a:tcPr marL="54864" marR="54864" marT="54864" marB="54864"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6DCFF"/>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Each creator, for what they state: requester, CMAC, coordinators, vendor or mover</a:t>
                      </a:r>
                      <a:endParaRPr lang="en-US" sz="1150" dirty="0">
                        <a:latin typeface="Calibri" charset="0"/>
                        <a:ea typeface="Calibri" charset="0"/>
                        <a:cs typeface="Calibri" charset="0"/>
                      </a:endParaRPr>
                    </a:p>
                  </a:txBody>
                  <a:tcPr marL="54864" marR="54864" marT="54864" marB="54864"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E2B8"/>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None: the data is created here, so it must be captured where the work happens</a:t>
                      </a:r>
                      <a:endParaRPr lang="en-US" sz="1150" dirty="0">
                        <a:latin typeface="Calibri" charset="0"/>
                        <a:ea typeface="Calibri" charset="0"/>
                        <a:cs typeface="Calibri" charset="0"/>
                      </a:endParaRPr>
                    </a:p>
                  </a:txBody>
                  <a:tcPr marL="54864" marR="54864" marT="54864" marB="54864"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Intermittent, one request at a time; born in email, Teams, phone and hand-drawn floor plans</a:t>
                      </a:r>
                      <a:endParaRPr lang="en-US" sz="1150" dirty="0">
                        <a:latin typeface="Calibri" charset="0"/>
                        <a:ea typeface="Calibri" charset="0"/>
                        <a:cs typeface="Calibri" charset="0"/>
                      </a:endParaRPr>
                    </a:p>
                  </a:txBody>
                  <a:tcPr marL="54864" marR="54864" marT="54864" marB="54864"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7F7"/>
                    </a:solidFill>
                  </a:tcPr>
                </a:tc>
              </a:tr>
              <a:tr h="868680">
                <a:tc>
                  <a:txBody>
                    <a:bodyPr/>
                    <a:lstStyle/>
                    <a:p>
                      <a:pPr indent="0" marL="0">
                        <a:buNone/>
                      </a:pPr>
                      <a:r>
                        <a:rPr lang="en-US" sz="1150" b="1" dirty="0">
                          <a:solidFill>
                            <a:srgbClr val="1A1A1A"/>
                          </a:solidFill>
                          <a:latin typeface="Calibri" pitchFamily="34" charset="0"/>
                          <a:ea typeface="Calibri" pitchFamily="34" charset="-122"/>
                          <a:cs typeface="Calibri" pitchFamily="34" charset="-120"/>
                        </a:rPr>
                        <a:t>2  Collect</a:t>
                      </a:r>
                      <a:endParaRPr lang="en-US" sz="1150" dirty="0">
                        <a:latin typeface="Calibri" charset="0"/>
                        <a:ea typeface="Calibri" charset="0"/>
                        <a:cs typeface="Calibri" charset="0"/>
                      </a:endParaRPr>
                    </a:p>
                  </a:txBody>
                  <a:tcPr marL="54864" marR="54864" marT="54864" marB="54864"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6DCFF"/>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CMAC for the details submitted (Proposed); PRISM Core owner for pre-filled data (Open)</a:t>
                      </a:r>
                      <a:endParaRPr lang="en-US" sz="1150" dirty="0">
                        <a:latin typeface="Calibri" charset="0"/>
                        <a:ea typeface="Calibri" charset="0"/>
                        <a:cs typeface="Calibri" charset="0"/>
                      </a:endParaRPr>
                    </a:p>
                  </a:txBody>
                  <a:tcPr marL="54864" marR="54864" marT="54864" marB="54864"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C6C6"/>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Guided form: required fields and attachments set by request type; requester and building pre-filled; original kept as submitted (bronze)</a:t>
                      </a:r>
                      <a:endParaRPr lang="en-US" sz="1150" dirty="0">
                        <a:latin typeface="Calibri" charset="0"/>
                        <a:ea typeface="Calibri" charset="0"/>
                        <a:cs typeface="Calibri" charset="0"/>
                      </a:endParaRPr>
                    </a:p>
                  </a:txBody>
                  <a:tcPr marL="54864" marR="54864" marT="54864" marB="54864"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Event-driven; files up to 10MB, replies up to 5MB; email, Teams and phone updates are lost unless re-entered</a:t>
                      </a:r>
                      <a:endParaRPr lang="en-US" sz="1150" dirty="0">
                        <a:latin typeface="Calibri" charset="0"/>
                        <a:ea typeface="Calibri" charset="0"/>
                        <a:cs typeface="Calibri" charset="0"/>
                      </a:endParaRPr>
                    </a:p>
                  </a:txBody>
                  <a:tcPr marL="54864" marR="54864" marT="54864" marB="54864"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7F7"/>
                    </a:solidFill>
                  </a:tcPr>
                </a:tc>
              </a:tr>
              <a:tr h="868680">
                <a:tc>
                  <a:txBody>
                    <a:bodyPr/>
                    <a:lstStyle/>
                    <a:p>
                      <a:pPr indent="0" marL="0">
                        <a:buNone/>
                      </a:pPr>
                      <a:r>
                        <a:rPr lang="en-US" sz="1150" b="1" dirty="0">
                          <a:solidFill>
                            <a:srgbClr val="1A1A1A"/>
                          </a:solidFill>
                          <a:latin typeface="Calibri" pitchFamily="34" charset="0"/>
                          <a:ea typeface="Calibri" pitchFamily="34" charset="-122"/>
                          <a:cs typeface="Calibri" pitchFamily="34" charset="-120"/>
                        </a:rPr>
                        <a:t>3  Keep and Shape</a:t>
                      </a:r>
                      <a:endParaRPr lang="en-US" sz="1150" dirty="0">
                        <a:latin typeface="Calibri" charset="0"/>
                        <a:ea typeface="Calibri" charset="0"/>
                        <a:cs typeface="Calibri" charset="0"/>
                      </a:endParaRPr>
                    </a:p>
                  </a:txBody>
                  <a:tcPr marL="54864" marR="54864" marT="54864" marB="54864"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6DCFF"/>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Open. Proposed: Furniture Request Coordinator</a:t>
                      </a:r>
                      <a:endParaRPr lang="en-US" sz="1150" dirty="0">
                        <a:latin typeface="Calibri" charset="0"/>
                        <a:ea typeface="Calibri" charset="0"/>
                        <a:cs typeface="Calibri" charset="0"/>
                      </a:endParaRPr>
                    </a:p>
                  </a:txBody>
                  <a:tcPr marL="54864" marR="54864" marT="54864" marB="54864"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C6C6"/>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Check, then shape one consistent, trusted record (silver) using the six rules on the right</a:t>
                      </a:r>
                      <a:endParaRPr lang="en-US" sz="1150" dirty="0">
                        <a:latin typeface="Calibri" charset="0"/>
                        <a:ea typeface="Calibri" charset="0"/>
                        <a:cs typeface="Calibri" charset="0"/>
                      </a:endParaRPr>
                    </a:p>
                  </a:txBody>
                  <a:tcPr marL="54864" marR="54864" marT="54864" marB="54864"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No agreed match key for duplicates; the prototype shows conflicting status labels</a:t>
                      </a:r>
                      <a:endParaRPr lang="en-US" sz="1150" dirty="0">
                        <a:latin typeface="Calibri" charset="0"/>
                        <a:ea typeface="Calibri" charset="0"/>
                        <a:cs typeface="Calibri" charset="0"/>
                      </a:endParaRPr>
                    </a:p>
                  </a:txBody>
                  <a:tcPr marL="54864" marR="54864" marT="54864" marB="54864"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7F7"/>
                    </a:solidFill>
                  </a:tcPr>
                </a:tc>
              </a:tr>
              <a:tr h="868680">
                <a:tc>
                  <a:txBody>
                    <a:bodyPr/>
                    <a:lstStyle/>
                    <a:p>
                      <a:pPr indent="0" marL="0">
                        <a:buNone/>
                      </a:pPr>
                      <a:r>
                        <a:rPr lang="en-US" sz="1150" b="1" dirty="0">
                          <a:solidFill>
                            <a:srgbClr val="1A1A1A"/>
                          </a:solidFill>
                          <a:latin typeface="Calibri" pitchFamily="34" charset="0"/>
                          <a:ea typeface="Calibri" pitchFamily="34" charset="-122"/>
                          <a:cs typeface="Calibri" pitchFamily="34" charset="-120"/>
                        </a:rPr>
                        <a:t>4  Store</a:t>
                      </a:r>
                      <a:endParaRPr lang="en-US" sz="1150" dirty="0">
                        <a:latin typeface="Calibri" charset="0"/>
                        <a:ea typeface="Calibri" charset="0"/>
                        <a:cs typeface="Calibri" charset="0"/>
                      </a:endParaRPr>
                    </a:p>
                  </a:txBody>
                  <a:tcPr marL="54864" marR="54864" marT="54864" marB="54864"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6DCFF"/>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Data owner: Open, to confirm with the client</a:t>
                      </a:r>
                      <a:endParaRPr lang="en-US" sz="1150" dirty="0">
                        <a:latin typeface="Calibri" charset="0"/>
                        <a:ea typeface="Calibri" charset="0"/>
                        <a:cs typeface="Calibri" charset="0"/>
                      </a:endParaRPr>
                    </a:p>
                  </a:txBody>
                  <a:tcPr marL="54864" marR="54864" marT="54864" marB="54864"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C6C6"/>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One shared request record; every change time-stamped and attributed; the original never overwritten</a:t>
                      </a:r>
                      <a:endParaRPr lang="en-US" sz="1150" dirty="0">
                        <a:latin typeface="Calibri" charset="0"/>
                        <a:ea typeface="Calibri" charset="0"/>
                        <a:cs typeface="Calibri" charset="0"/>
                      </a:endParaRPr>
                    </a:p>
                  </a:txBody>
                  <a:tcPr marL="54864" marR="54864" marT="54864" marB="54864"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Role-based access; retention per the Government of Alberta records schedule, to confirm; no historical migration</a:t>
                      </a:r>
                      <a:endParaRPr lang="en-US" sz="1150" dirty="0">
                        <a:latin typeface="Calibri" charset="0"/>
                        <a:ea typeface="Calibri" charset="0"/>
                        <a:cs typeface="Calibri" charset="0"/>
                      </a:endParaRPr>
                    </a:p>
                  </a:txBody>
                  <a:tcPr marL="54864" marR="54864" marT="54864" marB="54864"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7F7"/>
                    </a:solidFill>
                  </a:tcPr>
                </a:tc>
              </a:tr>
              <a:tr h="868680">
                <a:tc>
                  <a:txBody>
                    <a:bodyPr/>
                    <a:lstStyle/>
                    <a:p>
                      <a:pPr indent="0" marL="0">
                        <a:buNone/>
                      </a:pPr>
                      <a:r>
                        <a:rPr lang="en-US" sz="1150" b="1" dirty="0">
                          <a:solidFill>
                            <a:srgbClr val="1A1A1A"/>
                          </a:solidFill>
                          <a:latin typeface="Calibri" pitchFamily="34" charset="0"/>
                          <a:ea typeface="Calibri" pitchFamily="34" charset="-122"/>
                          <a:cs typeface="Calibri" pitchFamily="34" charset="-120"/>
                        </a:rPr>
                        <a:t>5  Use</a:t>
                      </a:r>
                      <a:endParaRPr lang="en-US" sz="1150" dirty="0">
                        <a:latin typeface="Calibri" charset="0"/>
                        <a:ea typeface="Calibri" charset="0"/>
                        <a:cs typeface="Calibri" charset="0"/>
                      </a:endParaRPr>
                    </a:p>
                  </a:txBody>
                  <a:tcPr marL="54864" marR="54864" marT="54864" marB="54864"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6DCFF"/>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Data owner for what the views show; report owners Open</a:t>
                      </a:r>
                      <a:endParaRPr lang="en-US" sz="1150" dirty="0">
                        <a:latin typeface="Calibri" charset="0"/>
                        <a:ea typeface="Calibri" charset="0"/>
                        <a:cs typeface="Calibri" charset="0"/>
                      </a:endParaRPr>
                    </a:p>
                  </a:txBody>
                  <a:tcPr marL="54864" marR="54864" marT="54864" marB="54864"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C6C6"/>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Product views read silver; management reports read gold (aggregated)</a:t>
                      </a:r>
                      <a:endParaRPr lang="en-US" sz="1150" dirty="0">
                        <a:latin typeface="Calibri" charset="0"/>
                        <a:ea typeface="Calibri" charset="0"/>
                        <a:cs typeface="Calibri" charset="0"/>
                      </a:endParaRPr>
                    </a:p>
                  </a:txBody>
                  <a:tcPr marL="54864" marR="54864" marT="54864" marB="54864"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Proposed: a CMAC sees only their own requests; report frequency to confirm</a:t>
                      </a:r>
                      <a:endParaRPr lang="en-US" sz="1150" dirty="0">
                        <a:latin typeface="Calibri" charset="0"/>
                        <a:ea typeface="Calibri" charset="0"/>
                        <a:cs typeface="Calibri" charset="0"/>
                      </a:endParaRPr>
                    </a:p>
                  </a:txBody>
                  <a:tcPr marL="54864" marR="54864" marT="54864" marB="54864"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7F7"/>
                    </a:solidFill>
                  </a:tcPr>
                </a:tc>
              </a:tr>
            </a:tbl>
          </a:graphicData>
        </a:graphic>
      </p:graphicFrame>
      <p:sp>
        <p:nvSpPr>
          <p:cNvPr id="5" name="clean"/>
          <p:cNvSpPr/>
          <p:nvPr/>
        </p:nvSpPr>
        <p:spPr>
          <a:xfrm>
            <a:off x="8823960" y="1188720"/>
            <a:ext cx="2788920" cy="4727448"/>
          </a:xfrm>
          <a:prstGeom prst="roundRect">
            <a:avLst>
              <a:gd name="adj" fmla="val 2623"/>
            </a:avLst>
          </a:prstGeom>
          <a:solidFill>
            <a:srgbClr val="EEF4F3"/>
          </a:solidFill>
          <a:ln/>
        </p:spPr>
      </p:sp>
      <p:sp>
        <p:nvSpPr>
          <p:cNvPr id="6" name="clean rules"/>
          <p:cNvSpPr txBox="1"/>
          <p:nvPr/>
        </p:nvSpPr>
        <p:spPr>
          <a:xfrm>
            <a:off x="8961120" y="1325880"/>
            <a:ext cx="2560320" cy="4526280"/>
          </a:xfrm>
          <a:prstGeom prst="rect">
            <a:avLst/>
          </a:prstGeom>
          <a:noFill/>
          <a:ln/>
        </p:spPr>
        <p:txBody>
          <a:bodyPr wrap="square" lIns="635" tIns="635" rIns="635" bIns="635" rtlCol="0" anchor="t"/>
          <a:lstStyle/>
          <a:p>
            <a:pPr indent="0" marL="0">
              <a:spcAft>
                <a:spcPts val="600"/>
              </a:spcAft>
              <a:buNone/>
            </a:pPr>
            <a:r>
              <a:rPr lang="en-US" sz="1500" b="1" dirty="0">
                <a:solidFill>
                  <a:schemeClr val="tx2"/>
                </a:solidFill>
                <a:latin typeface="Cambria" pitchFamily="34" charset="0"/>
                <a:ea typeface="Cambria" pitchFamily="34" charset="-122"/>
                <a:cs typeface="Cambria" pitchFamily="34" charset="-120"/>
              </a:rPr>
              <a:t>What “clean” means here</a:t>
            </a:r>
            <a:endParaRPr lang="en-US" sz="1350" dirty="0"/>
          </a:p>
          <a:p>
            <a:pPr marL="342900" indent="-342900">
              <a:spcAft>
                <a:spcPts val="700"/>
              </a:spcAft>
              <a:buSzPct val="100000"/>
              <a:buFont typeface="+mj-lt"/>
              <a:buAutoNum type="arabicPeriod" startAt="1"/>
            </a:pPr>
            <a:r>
              <a:rPr lang="en-US" sz="1350" dirty="0">
                <a:solidFill>
                  <a:schemeClr val="tx1"/>
                </a:solidFill>
              </a:rPr>
              <a:t>One Work Order ID, with every update linked to it</a:t>
            </a:r>
            <a:endParaRPr lang="en-US" sz="1350" dirty="0"/>
          </a:p>
          <a:p>
            <a:pPr marL="342900" indent="-342900">
              <a:spcAft>
                <a:spcPts val="700"/>
              </a:spcAft>
              <a:buSzPct val="100000"/>
              <a:buFont typeface="+mj-lt"/>
              <a:buAutoNum type="arabicPeriod" startAt="1"/>
            </a:pPr>
            <a:r>
              <a:rPr lang="en-US" sz="1350" dirty="0">
                <a:solidFill>
                  <a:schemeClr val="tx1"/>
                </a:solidFill>
              </a:rPr>
              <a:t>One status from a standard list</a:t>
            </a:r>
            <a:endParaRPr lang="en-US" sz="1350" dirty="0"/>
          </a:p>
          <a:p>
            <a:pPr marL="342900" indent="-342900">
              <a:spcAft>
                <a:spcPts val="700"/>
              </a:spcAft>
              <a:buSzPct val="100000"/>
              <a:buFont typeface="+mj-lt"/>
              <a:buAutoNum type="arabicPeriod" startAt="1"/>
            </a:pPr>
            <a:r>
              <a:rPr lang="en-US" sz="1350" dirty="0">
                <a:solidFill>
                  <a:schemeClr val="tx1"/>
                </a:solidFill>
              </a:rPr>
              <a:t>A named, valid owner at every stage</a:t>
            </a:r>
            <a:endParaRPr lang="en-US" sz="1350" dirty="0"/>
          </a:p>
          <a:p>
            <a:pPr marL="342900" indent="-342900">
              <a:spcAft>
                <a:spcPts val="700"/>
              </a:spcAft>
              <a:buSzPct val="100000"/>
              <a:buFont typeface="+mj-lt"/>
              <a:buAutoNum type="arabicPeriod" startAt="1"/>
            </a:pPr>
            <a:r>
              <a:rPr lang="en-US" sz="1350" dirty="0">
                <a:solidFill>
                  <a:schemeClr val="tx1"/>
                </a:solidFill>
              </a:rPr>
              <a:t>Required fields complete before review</a:t>
            </a:r>
            <a:endParaRPr lang="en-US" sz="1350" dirty="0"/>
          </a:p>
          <a:p>
            <a:pPr marL="342900" indent="-342900">
              <a:spcAft>
                <a:spcPts val="700"/>
              </a:spcAft>
              <a:buSzPct val="100000"/>
              <a:buFont typeface="+mj-lt"/>
              <a:buAutoNum type="arabicPeriod" startAt="1"/>
            </a:pPr>
            <a:r>
              <a:rPr lang="en-US" sz="1350" dirty="0">
                <a:solidFill>
                  <a:schemeClr val="tx1"/>
                </a:solidFill>
              </a:rPr>
              <a:t>Dates in one format and in true order</a:t>
            </a:r>
            <a:endParaRPr lang="en-US" sz="1350" dirty="0"/>
          </a:p>
          <a:p>
            <a:pPr marL="342900" indent="-342900">
              <a:spcAft>
                <a:spcPts val="700"/>
              </a:spcAft>
              <a:buSzPct val="100000"/>
              <a:buFont typeface="+mj-lt"/>
              <a:buAutoNum type="arabicPeriod" startAt="1"/>
            </a:pPr>
            <a:r>
              <a:rPr lang="en-US" sz="1350" dirty="0">
                <a:solidFill>
                  <a:schemeClr val="tx1"/>
                </a:solidFill>
              </a:rPr>
              <a:t>Duplicates checked on an agreed match key</a:t>
            </a:r>
            <a:endParaRPr lang="en-US" sz="1350" dirty="0"/>
          </a:p>
          <a:p>
            <a:pPr indent="0" marL="0">
              <a:spcBef>
                <a:spcPts val="1000"/>
              </a:spcBef>
              <a:spcAft>
                <a:spcPts val="700"/>
              </a:spcAft>
              <a:buNone/>
            </a:pPr>
            <a:r>
              <a:rPr lang="en-US" sz="1350" i="1" dirty="0">
                <a:solidFill>
                  <a:schemeClr val="tx1"/>
                </a:solidFill>
              </a:rPr>
              <a:t>If a request fails, it goes back to the CMAC in the request thread and is checked again.</a:t>
            </a:r>
            <a:endParaRPr lang="en-US" sz="1350" dirty="0"/>
          </a:p>
          <a:p>
            <a:pPr indent="0" marL="0">
              <a:buNone/>
            </a:pPr>
            <a:r>
              <a:rPr lang="en-US" sz="1350" i="1" dirty="0">
                <a:solidFill>
                  <a:schemeClr val="tx1"/>
                </a:solidFill>
              </a:rPr>
              <a:t>Clean is a product decision, not a technical one (Session Three). The method is not specified.</a:t>
            </a:r>
            <a:endParaRPr lang="en-US" sz="1350" dirty="0"/>
          </a:p>
        </p:txBody>
      </p:sp>
      <p:sp>
        <p:nvSpPr>
          <p:cNvPr id="7" name="footnote"/>
          <p:cNvSpPr txBox="1"/>
          <p:nvPr/>
        </p:nvSpPr>
        <p:spPr>
          <a:xfrm>
            <a:off x="548640" y="6035040"/>
            <a:ext cx="8046720" cy="292608"/>
          </a:xfrm>
          <a:prstGeom prst="rect">
            <a:avLst/>
          </a:prstGeom>
          <a:noFill/>
          <a:ln/>
        </p:spPr>
        <p:txBody>
          <a:bodyPr wrap="square" lIns="635" tIns="635" rIns="635" bIns="635" rtlCol="0" anchor="ctr"/>
          <a:lstStyle/>
          <a:p>
            <a:pPr indent="0" marL="0">
              <a:buNone/>
            </a:pPr>
            <a:r>
              <a:rPr lang="en-US" sz="1050" b="1" dirty="0">
                <a:solidFill>
                  <a:srgbClr val="3D5252"/>
                </a:solidFill>
              </a:rPr>
              <a:t>Red: </a:t>
            </a:r>
            <a:pPr indent="0" marL="0">
              <a:buNone/>
            </a:pPr>
            <a:r>
              <a:rPr lang="en-US" sz="1050" dirty="0">
                <a:solidFill>
                  <a:srgbClr val="3D5252"/>
                </a:solidFill>
              </a:rPr>
              <a:t>Proposed or Open, to confirm with the client. Detail by stage, governance and data lineage: Miro frame “Working 2: Pipeline Stages and Data Ownership”.</a:t>
            </a:r>
            <a:endParaRPr lang="en-US" sz="105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B7B"/>
                </a:solidFill>
              </a:defRPr>
            </a:lvl1pPr>
          </a:lstStyle>
          <a:p>
            <a:pPr algn="r"/>
            <a:fld id="{F7021451-1387-4CA6-816F-3879F97B5CBC}" type="slidenum">
              <a:rPr b="0" lang="en-US"/>
              <a:t>2</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body" hasCustomPrompt="1"/>
          </p:nvPr>
        </p:nvSpPr>
        <p:spPr>
          <a:xfrm>
            <a:off x="548640" y="91440"/>
            <a:ext cx="11064240" cy="320040"/>
          </a:xfrm>
          <a:prstGeom prst="rect">
            <a:avLst/>
          </a:prstGeom>
          <a:noFill/>
          <a:ln/>
        </p:spPr>
        <p:txBody>
          <a:bodyPr wrap="square" lIns="1016" tIns="1016" rIns="1016" bIns="1016" rtlCol="0" anchor="b"/>
          <a:lstStyle/>
          <a:p>
            <a:pPr indent="0" marL="0">
              <a:buNone/>
            </a:pPr>
            <a:r>
              <a:rPr lang="en-US" sz="1200" b="1" dirty="0">
                <a:solidFill>
                  <a:schemeClr val="accent1"/>
                </a:solidFill>
              </a:rPr>
              <a:t>STEP THREE  |  SINKS AND VALUE</a:t>
            </a:r>
            <a:endParaRPr lang="en-US" sz="1200" dirty="0"/>
          </a:p>
        </p:txBody>
      </p:sp>
      <p:sp>
        <p:nvSpPr>
          <p:cNvPr id="3" name="Text 1"/>
          <p:cNvSpPr/>
          <p:nvPr>
            <p:ph idx="101" type="title" hasCustomPrompt="1"/>
          </p:nvPr>
        </p:nvSpPr>
        <p:spPr>
          <a:xfrm>
            <a:off x="548640" y="365760"/>
            <a:ext cx="11064240" cy="685800"/>
          </a:xfrm>
          <a:prstGeom prst="rect">
            <a:avLst/>
          </a:prstGeom>
          <a:noFill/>
          <a:ln/>
        </p:spPr>
        <p:txBody>
          <a:bodyPr wrap="square" lIns="1016" tIns="1016" rIns="1016" bIns="1016"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Sinks: three for the product, one to measure, four beyond it</a:t>
            </a:r>
            <a:endParaRPr lang="en-US" sz="3000" dirty="0"/>
          </a:p>
        </p:txBody>
      </p:sp>
      <p:sp>
        <p:nvSpPr>
          <p:cNvPr id="4" name="Text 2"/>
          <p:cNvSpPr txBox="1"/>
          <p:nvPr/>
        </p:nvSpPr>
        <p:spPr>
          <a:xfrm>
            <a:off x="548640" y="1143000"/>
            <a:ext cx="3611880" cy="365760"/>
          </a:xfrm>
          <a:prstGeom prst="rect">
            <a:avLst/>
          </a:prstGeom>
          <a:noFill/>
          <a:ln/>
        </p:spPr>
        <p:txBody>
          <a:bodyPr wrap="square" lIns="1016" tIns="1016" rIns="1016" bIns="1016" rtlCol="0" anchor="t"/>
          <a:lstStyle/>
          <a:p>
            <a:pPr indent="0" marL="0">
              <a:buNone/>
            </a:pPr>
            <a:r>
              <a:rPr lang="en-US" sz="1500" b="1" dirty="0">
                <a:solidFill>
                  <a:schemeClr val="accent1"/>
                </a:solidFill>
                <a:latin typeface="Calibri" pitchFamily="34" charset="0"/>
                <a:ea typeface="Calibri" pitchFamily="34" charset="-122"/>
                <a:cs typeface="Calibri" pitchFamily="34" charset="-120"/>
              </a:rPr>
              <a:t>Product sinks</a:t>
            </a:r>
            <a:endParaRPr lang="en-US" sz="1500" dirty="0"/>
          </a:p>
        </p:txBody>
      </p:sp>
      <p:sp>
        <p:nvSpPr>
          <p:cNvPr id="5" name="Guided submission"/>
          <p:cNvSpPr/>
          <p:nvPr/>
        </p:nvSpPr>
        <p:spPr>
          <a:xfrm>
            <a:off x="548640" y="1554480"/>
            <a:ext cx="3611880" cy="944880"/>
          </a:xfrm>
          <a:prstGeom prst="roundRect">
            <a:avLst>
              <a:gd name="adj" fmla="val 7742"/>
            </a:avLst>
          </a:prstGeom>
          <a:solidFill>
            <a:srgbClr val="C6DCFF"/>
          </a:solidFill>
          <a:ln/>
        </p:spPr>
      </p:sp>
      <p:sp>
        <p:nvSpPr>
          <p:cNvPr id="6" name="Text 4"/>
          <p:cNvSpPr txBox="1"/>
          <p:nvPr/>
        </p:nvSpPr>
        <p:spPr>
          <a:xfrm>
            <a:off x="621792" y="1572768"/>
            <a:ext cx="3465576" cy="908304"/>
          </a:xfrm>
          <a:prstGeom prst="rect">
            <a:avLst/>
          </a:prstGeom>
          <a:noFill/>
          <a:ln/>
        </p:spPr>
        <p:txBody>
          <a:bodyPr wrap="square" lIns="1016" tIns="1016" rIns="1016" bIns="1016" rtlCol="0" anchor="t"/>
          <a:lstStyle/>
          <a:p>
            <a:pPr indent="0" marL="0">
              <a:buNone/>
            </a:pPr>
            <a:r>
              <a:rPr lang="en-US" sz="1200" b="1" dirty="0">
                <a:solidFill>
                  <a:schemeClr val="tx1"/>
                </a:solidFill>
                <a:latin typeface="Calibri" pitchFamily="34" charset="0"/>
                <a:ea typeface="Calibri" pitchFamily="34" charset="-122"/>
                <a:cs typeface="Calibri" pitchFamily="34" charset="-120"/>
              </a:rPr>
              <a:t>Guided submission</a:t>
            </a:r>
            <a:endParaRPr lang="en-US" sz="1200" dirty="0"/>
          </a:p>
          <a:p>
            <a:pPr indent="0" marL="0">
              <a:buNone/>
            </a:pPr>
            <a:r>
              <a:rPr lang="en-US" sz="1200" dirty="0">
                <a:solidFill>
                  <a:schemeClr val="tx1"/>
                </a:solidFill>
                <a:latin typeface="Calibri" pitchFamily="34" charset="0"/>
                <a:ea typeface="Calibri" pitchFamily="34" charset="-122"/>
                <a:cs typeface="Calibri" pitchFamily="34" charset="-120"/>
              </a:rPr>
              <a:t>Checklist, required attachments by request type, pre-filled requester and facility data. the request is right the first time</a:t>
            </a:r>
            <a:endParaRPr lang="en-US" sz="1200" dirty="0"/>
          </a:p>
        </p:txBody>
      </p:sp>
      <p:sp>
        <p:nvSpPr>
          <p:cNvPr id="7" name="Request tracking"/>
          <p:cNvSpPr/>
          <p:nvPr/>
        </p:nvSpPr>
        <p:spPr>
          <a:xfrm>
            <a:off x="548640" y="2590800"/>
            <a:ext cx="3611880" cy="944880"/>
          </a:xfrm>
          <a:prstGeom prst="roundRect">
            <a:avLst>
              <a:gd name="adj" fmla="val 7742"/>
            </a:avLst>
          </a:prstGeom>
          <a:solidFill>
            <a:srgbClr val="C6DCFF"/>
          </a:solidFill>
          <a:ln/>
        </p:spPr>
      </p:sp>
      <p:sp>
        <p:nvSpPr>
          <p:cNvPr id="8" name="Text 6"/>
          <p:cNvSpPr txBox="1"/>
          <p:nvPr/>
        </p:nvSpPr>
        <p:spPr>
          <a:xfrm>
            <a:off x="621792" y="2609088"/>
            <a:ext cx="3465576" cy="908304"/>
          </a:xfrm>
          <a:prstGeom prst="rect">
            <a:avLst/>
          </a:prstGeom>
          <a:noFill/>
          <a:ln/>
        </p:spPr>
        <p:txBody>
          <a:bodyPr wrap="square" lIns="1016" tIns="1016" rIns="1016" bIns="1016" rtlCol="0" anchor="t"/>
          <a:lstStyle/>
          <a:p>
            <a:pPr indent="0" marL="0">
              <a:buNone/>
            </a:pPr>
            <a:r>
              <a:rPr lang="en-US" sz="1200" b="1" dirty="0">
                <a:solidFill>
                  <a:schemeClr val="tx1"/>
                </a:solidFill>
                <a:latin typeface="Calibri" pitchFamily="34" charset="0"/>
                <a:ea typeface="Calibri" pitchFamily="34" charset="-122"/>
                <a:cs typeface="Calibri" pitchFamily="34" charset="-120"/>
              </a:rPr>
              <a:t>Request tracking</a:t>
            </a:r>
            <a:endParaRPr lang="en-US" sz="1200" dirty="0"/>
          </a:p>
          <a:p>
            <a:pPr indent="0" marL="0">
              <a:buNone/>
            </a:pPr>
            <a:r>
              <a:rPr lang="en-US" sz="1200" dirty="0">
                <a:solidFill>
                  <a:schemeClr val="tx1"/>
                </a:solidFill>
                <a:latin typeface="Calibri" pitchFamily="34" charset="0"/>
                <a:ea typeface="Calibri" pitchFamily="34" charset="-122"/>
                <a:cs typeface="Calibri" pitchFamily="34" charset="-120"/>
              </a:rPr>
              <a:t>CMAC sees status, stage, owner or group, next step, history and messages. followed without chasing</a:t>
            </a:r>
            <a:endParaRPr lang="en-US" sz="1200" dirty="0"/>
          </a:p>
        </p:txBody>
      </p:sp>
      <p:sp>
        <p:nvSpPr>
          <p:cNvPr id="9" name="Coordinator queue"/>
          <p:cNvSpPr/>
          <p:nvPr/>
        </p:nvSpPr>
        <p:spPr>
          <a:xfrm>
            <a:off x="548640" y="3627120"/>
            <a:ext cx="3611880" cy="944880"/>
          </a:xfrm>
          <a:prstGeom prst="roundRect">
            <a:avLst>
              <a:gd name="adj" fmla="val 7742"/>
            </a:avLst>
          </a:prstGeom>
          <a:solidFill>
            <a:srgbClr val="C6DCFF"/>
          </a:solidFill>
          <a:ln/>
        </p:spPr>
      </p:sp>
      <p:sp>
        <p:nvSpPr>
          <p:cNvPr id="10" name="Text 8"/>
          <p:cNvSpPr txBox="1"/>
          <p:nvPr/>
        </p:nvSpPr>
        <p:spPr>
          <a:xfrm>
            <a:off x="621792" y="3645408"/>
            <a:ext cx="3465576" cy="908304"/>
          </a:xfrm>
          <a:prstGeom prst="rect">
            <a:avLst/>
          </a:prstGeom>
          <a:noFill/>
          <a:ln/>
        </p:spPr>
        <p:txBody>
          <a:bodyPr wrap="square" lIns="1016" tIns="1016" rIns="1016" bIns="1016" rtlCol="0" anchor="t"/>
          <a:lstStyle/>
          <a:p>
            <a:pPr indent="0" marL="0">
              <a:buNone/>
            </a:pPr>
            <a:r>
              <a:rPr lang="en-US" sz="1200" b="1" dirty="0">
                <a:solidFill>
                  <a:schemeClr val="tx1"/>
                </a:solidFill>
                <a:latin typeface="Calibri" pitchFamily="34" charset="0"/>
                <a:ea typeface="Calibri" pitchFamily="34" charset="-122"/>
                <a:cs typeface="Calibri" pitchFamily="34" charset="-120"/>
              </a:rPr>
              <a:t>Coordinator queue</a:t>
            </a:r>
            <a:endParaRPr lang="en-US" sz="1200" dirty="0"/>
          </a:p>
          <a:p>
            <a:pPr indent="0" marL="0">
              <a:buNone/>
            </a:pPr>
            <a:r>
              <a:rPr lang="en-US" sz="1200" dirty="0">
                <a:solidFill>
                  <a:schemeClr val="tx1"/>
                </a:solidFill>
                <a:latin typeface="Calibri" pitchFamily="34" charset="0"/>
                <a:ea typeface="Calibri" pitchFamily="34" charset="-122"/>
                <a:cs typeface="Calibri" pitchFamily="34" charset="-120"/>
              </a:rPr>
              <a:t>Incomplete and duplicate requests flagged; self-assign. actionable the day it arrives</a:t>
            </a:r>
            <a:endParaRPr lang="en-US" sz="1200" dirty="0"/>
          </a:p>
        </p:txBody>
      </p:sp>
      <p:sp>
        <p:nvSpPr>
          <p:cNvPr id="11" name="Text 9"/>
          <p:cNvSpPr txBox="1"/>
          <p:nvPr/>
        </p:nvSpPr>
        <p:spPr>
          <a:xfrm>
            <a:off x="4297680" y="1143000"/>
            <a:ext cx="2743200" cy="365760"/>
          </a:xfrm>
          <a:prstGeom prst="rect">
            <a:avLst/>
          </a:prstGeom>
          <a:noFill/>
          <a:ln/>
        </p:spPr>
        <p:txBody>
          <a:bodyPr wrap="square" lIns="1016" tIns="1016" rIns="1016" bIns="1016" rtlCol="0" anchor="t"/>
          <a:lstStyle/>
          <a:p>
            <a:pPr indent="0" marL="0">
              <a:buNone/>
            </a:pPr>
            <a:r>
              <a:rPr lang="en-US" sz="1500" b="1" dirty="0">
                <a:solidFill>
                  <a:schemeClr val="accent1"/>
                </a:solidFill>
                <a:latin typeface="Calibri" pitchFamily="34" charset="0"/>
                <a:ea typeface="Calibri" pitchFamily="34" charset="-122"/>
                <a:cs typeface="Calibri" pitchFamily="34" charset="-120"/>
              </a:rPr>
              <a:t>Measurement sink</a:t>
            </a:r>
            <a:endParaRPr lang="en-US" sz="1500" dirty="0"/>
          </a:p>
        </p:txBody>
      </p:sp>
      <p:sp>
        <p:nvSpPr>
          <p:cNvPr id="12" name="Outcome measurement"/>
          <p:cNvSpPr/>
          <p:nvPr/>
        </p:nvSpPr>
        <p:spPr>
          <a:xfrm>
            <a:off x="4297680" y="1554480"/>
            <a:ext cx="2743200" cy="3017520"/>
          </a:xfrm>
          <a:prstGeom prst="roundRect">
            <a:avLst>
              <a:gd name="adj" fmla="val 2667"/>
            </a:avLst>
          </a:prstGeom>
          <a:solidFill>
            <a:srgbClr val="FFE2B8"/>
          </a:solidFill>
          <a:ln/>
        </p:spPr>
      </p:sp>
      <p:sp>
        <p:nvSpPr>
          <p:cNvPr id="13" name="Text 11"/>
          <p:cNvSpPr txBox="1"/>
          <p:nvPr/>
        </p:nvSpPr>
        <p:spPr>
          <a:xfrm>
            <a:off x="4370832" y="1572768"/>
            <a:ext cx="2596896" cy="2980944"/>
          </a:xfrm>
          <a:prstGeom prst="rect">
            <a:avLst/>
          </a:prstGeom>
          <a:noFill/>
          <a:ln/>
        </p:spPr>
        <p:txBody>
          <a:bodyPr wrap="square" lIns="1016" tIns="1016" rIns="1016" bIns="1016" rtlCol="0" anchor="t"/>
          <a:lstStyle/>
          <a:p>
            <a:pPr indent="0" marL="0">
              <a:buNone/>
            </a:pPr>
            <a:r>
              <a:rPr lang="en-US" sz="1400" b="1" dirty="0">
                <a:solidFill>
                  <a:schemeClr val="tx1"/>
                </a:solidFill>
                <a:latin typeface="Calibri" pitchFamily="34" charset="0"/>
                <a:ea typeface="Calibri" pitchFamily="34" charset="-122"/>
                <a:cs typeface="Calibri" pitchFamily="34" charset="-120"/>
              </a:rPr>
              <a:t>Outcome measurement</a:t>
            </a:r>
            <a:endParaRPr lang="en-US" sz="1400" dirty="0"/>
          </a:p>
          <a:p>
            <a:pPr indent="0" marL="0">
              <a:buNone/>
            </a:pPr>
            <a:r>
              <a:rPr lang="en-US" sz="1400" dirty="0">
                <a:solidFill>
                  <a:schemeClr val="tx1"/>
                </a:solidFill>
                <a:latin typeface="Calibri" pitchFamily="34" charset="0"/>
                <a:ea typeface="Calibri" pitchFamily="34" charset="-122"/>
                <a:cs typeface="Calibri" pitchFamily="34" charset="-120"/>
              </a:rPr>
              <a:t>Requests complete at first submission; CMAC follow-ups per request; time in each stage and to first assignment; late updates; duplicates found</a:t>
            </a:r>
            <a:endParaRPr lang="en-US" sz="1400" dirty="0"/>
          </a:p>
        </p:txBody>
      </p:sp>
      <p:sp>
        <p:nvSpPr>
          <p:cNvPr id="14" name="Text 12"/>
          <p:cNvSpPr txBox="1"/>
          <p:nvPr/>
        </p:nvSpPr>
        <p:spPr>
          <a:xfrm>
            <a:off x="7178040" y="1143000"/>
            <a:ext cx="4434840" cy="365760"/>
          </a:xfrm>
          <a:prstGeom prst="rect">
            <a:avLst/>
          </a:prstGeom>
          <a:noFill/>
          <a:ln/>
        </p:spPr>
        <p:txBody>
          <a:bodyPr wrap="square" lIns="1016" tIns="1016" rIns="1016" bIns="1016" rtlCol="0" anchor="t"/>
          <a:lstStyle/>
          <a:p>
            <a:pPr indent="0" marL="0">
              <a:buNone/>
            </a:pPr>
            <a:r>
              <a:rPr lang="en-US" sz="1500" b="1" dirty="0">
                <a:solidFill>
                  <a:schemeClr val="accent1"/>
                </a:solidFill>
                <a:latin typeface="Calibri" pitchFamily="34" charset="0"/>
                <a:ea typeface="Calibri" pitchFamily="34" charset="-122"/>
                <a:cs typeface="Calibri" pitchFamily="34" charset="-120"/>
              </a:rPr>
              <a:t>Business-value sinks</a:t>
            </a:r>
            <a:endParaRPr lang="en-US" sz="1500" dirty="0"/>
          </a:p>
        </p:txBody>
      </p:sp>
      <p:sp>
        <p:nvSpPr>
          <p:cNvPr id="15" name="Infrastructure reporting"/>
          <p:cNvSpPr/>
          <p:nvPr/>
        </p:nvSpPr>
        <p:spPr>
          <a:xfrm>
            <a:off x="7178040" y="1554480"/>
            <a:ext cx="4434840" cy="685800"/>
          </a:xfrm>
          <a:prstGeom prst="roundRect">
            <a:avLst>
              <a:gd name="adj" fmla="val 10667"/>
            </a:avLst>
          </a:prstGeom>
          <a:solidFill>
            <a:srgbClr val="ADF0C7"/>
          </a:solidFill>
          <a:ln/>
        </p:spPr>
      </p:sp>
      <p:sp>
        <p:nvSpPr>
          <p:cNvPr id="16" name="Text 14"/>
          <p:cNvSpPr txBox="1"/>
          <p:nvPr/>
        </p:nvSpPr>
        <p:spPr>
          <a:xfrm>
            <a:off x="7251192" y="1572768"/>
            <a:ext cx="4288536" cy="649224"/>
          </a:xfrm>
          <a:prstGeom prst="rect">
            <a:avLst/>
          </a:prstGeom>
          <a:noFill/>
          <a:ln/>
        </p:spPr>
        <p:txBody>
          <a:bodyPr wrap="square" lIns="1016" tIns="1016" rIns="1016" bIns="1016" rtlCol="0" anchor="t"/>
          <a:lstStyle/>
          <a:p>
            <a:pPr indent="0" marL="0">
              <a:buNone/>
            </a:pPr>
            <a:r>
              <a:rPr lang="en-US" sz="1200" b="1" dirty="0">
                <a:solidFill>
                  <a:schemeClr val="tx1"/>
                </a:solidFill>
                <a:latin typeface="Calibri" pitchFamily="34" charset="0"/>
                <a:ea typeface="Calibri" pitchFamily="34" charset="-122"/>
                <a:cs typeface="Calibri" pitchFamily="34" charset="-120"/>
              </a:rPr>
              <a:t>Infrastructure reporting</a:t>
            </a:r>
            <a:endParaRPr lang="en-US" sz="1200" dirty="0"/>
          </a:p>
          <a:p>
            <a:pPr indent="0" marL="0">
              <a:buNone/>
            </a:pPr>
            <a:r>
              <a:rPr lang="en-US" sz="1200" dirty="0">
                <a:solidFill>
                  <a:schemeClr val="tx1"/>
                </a:solidFill>
                <a:latin typeface="Calibri" pitchFamily="34" charset="0"/>
                <a:ea typeface="Calibri" pitchFamily="34" charset="-122"/>
                <a:cs typeface="Calibri" pitchFamily="34" charset="-120"/>
              </a:rPr>
              <a:t>Workload, delays and bottlenecks by location, status and period (FR-24)</a:t>
            </a:r>
            <a:endParaRPr lang="en-US" sz="1200" dirty="0"/>
          </a:p>
        </p:txBody>
      </p:sp>
      <p:sp>
        <p:nvSpPr>
          <p:cNvPr id="17" name="Recycle program"/>
          <p:cNvSpPr/>
          <p:nvPr/>
        </p:nvSpPr>
        <p:spPr>
          <a:xfrm>
            <a:off x="7178040" y="2331720"/>
            <a:ext cx="4434840" cy="685800"/>
          </a:xfrm>
          <a:prstGeom prst="roundRect">
            <a:avLst>
              <a:gd name="adj" fmla="val 10667"/>
            </a:avLst>
          </a:prstGeom>
          <a:solidFill>
            <a:srgbClr val="ADF0C7"/>
          </a:solidFill>
          <a:ln/>
        </p:spPr>
      </p:sp>
      <p:sp>
        <p:nvSpPr>
          <p:cNvPr id="18" name="Text 16"/>
          <p:cNvSpPr txBox="1"/>
          <p:nvPr/>
        </p:nvSpPr>
        <p:spPr>
          <a:xfrm>
            <a:off x="7251192" y="2350008"/>
            <a:ext cx="4288536" cy="649224"/>
          </a:xfrm>
          <a:prstGeom prst="rect">
            <a:avLst/>
          </a:prstGeom>
          <a:noFill/>
          <a:ln/>
        </p:spPr>
        <p:txBody>
          <a:bodyPr wrap="square" lIns="1016" tIns="1016" rIns="1016" bIns="1016" rtlCol="0" anchor="t"/>
          <a:lstStyle/>
          <a:p>
            <a:pPr indent="0" marL="0">
              <a:buNone/>
            </a:pPr>
            <a:r>
              <a:rPr lang="en-US" sz="1200" b="1" dirty="0">
                <a:solidFill>
                  <a:schemeClr val="tx1"/>
                </a:solidFill>
                <a:latin typeface="Calibri" pitchFamily="34" charset="0"/>
                <a:ea typeface="Calibri" pitchFamily="34" charset="-122"/>
                <a:cs typeface="Calibri" pitchFamily="34" charset="-120"/>
              </a:rPr>
              <a:t>Recycle program</a:t>
            </a:r>
            <a:endParaRPr lang="en-US" sz="1200" dirty="0"/>
          </a:p>
          <a:p>
            <a:pPr indent="0" marL="0">
              <a:buNone/>
            </a:pPr>
            <a:r>
              <a:rPr lang="en-US" sz="1200" dirty="0">
                <a:solidFill>
                  <a:schemeClr val="tx1"/>
                </a:solidFill>
                <a:latin typeface="Calibri" pitchFamily="34" charset="0"/>
                <a:ea typeface="Calibri" pitchFamily="34" charset="-122"/>
                <a:cs typeface="Calibri" pitchFamily="34" charset="-120"/>
              </a:rPr>
              <a:t>Recycled versus new decisions inform inventory planning and cost avoidance (FR-11, FR-12)</a:t>
            </a:r>
            <a:endParaRPr lang="en-US" sz="1200" dirty="0"/>
          </a:p>
        </p:txBody>
      </p:sp>
      <p:sp>
        <p:nvSpPr>
          <p:cNvPr id="19" name="Asset and warranty history"/>
          <p:cNvSpPr/>
          <p:nvPr/>
        </p:nvSpPr>
        <p:spPr>
          <a:xfrm>
            <a:off x="7178040" y="3108960"/>
            <a:ext cx="4434840" cy="685800"/>
          </a:xfrm>
          <a:prstGeom prst="roundRect">
            <a:avLst>
              <a:gd name="adj" fmla="val 10667"/>
            </a:avLst>
          </a:prstGeom>
          <a:solidFill>
            <a:srgbClr val="ADF0C7"/>
          </a:solidFill>
          <a:ln/>
        </p:spPr>
      </p:sp>
      <p:sp>
        <p:nvSpPr>
          <p:cNvPr id="20" name="Text 18"/>
          <p:cNvSpPr txBox="1"/>
          <p:nvPr/>
        </p:nvSpPr>
        <p:spPr>
          <a:xfrm>
            <a:off x="7251192" y="3127248"/>
            <a:ext cx="4288536" cy="649224"/>
          </a:xfrm>
          <a:prstGeom prst="rect">
            <a:avLst/>
          </a:prstGeom>
          <a:noFill/>
          <a:ln/>
        </p:spPr>
        <p:txBody>
          <a:bodyPr wrap="square" lIns="1016" tIns="1016" rIns="1016" bIns="1016" rtlCol="0" anchor="t"/>
          <a:lstStyle/>
          <a:p>
            <a:pPr indent="0" marL="0">
              <a:buNone/>
            </a:pPr>
            <a:r>
              <a:rPr lang="en-US" sz="1200" b="1" dirty="0">
                <a:solidFill>
                  <a:schemeClr val="tx1"/>
                </a:solidFill>
                <a:latin typeface="Calibri" pitchFamily="34" charset="0"/>
                <a:ea typeface="Calibri" pitchFamily="34" charset="-122"/>
                <a:cs typeface="Calibri" pitchFamily="34" charset="-120"/>
              </a:rPr>
              <a:t>Asset and warranty history</a:t>
            </a:r>
            <a:endParaRPr lang="en-US" sz="1200" dirty="0"/>
          </a:p>
          <a:p>
            <a:pPr indent="0" marL="0">
              <a:buNone/>
            </a:pPr>
            <a:r>
              <a:rPr lang="en-US" sz="1200" dirty="0">
                <a:solidFill>
                  <a:schemeClr val="tx1"/>
                </a:solidFill>
                <a:latin typeface="Calibri" pitchFamily="34" charset="0"/>
                <a:ea typeface="Calibri" pitchFamily="34" charset="-122"/>
                <a:cs typeface="Calibri" pitchFamily="34" charset="-120"/>
              </a:rPr>
              <a:t>Completed requests found years later for claims and replacements (FR-18, FR-21)</a:t>
            </a:r>
            <a:endParaRPr lang="en-US" sz="1200" dirty="0"/>
          </a:p>
        </p:txBody>
      </p:sp>
      <p:sp>
        <p:nvSpPr>
          <p:cNvPr id="21" name="PRISM Facilities"/>
          <p:cNvSpPr/>
          <p:nvPr/>
        </p:nvSpPr>
        <p:spPr>
          <a:xfrm>
            <a:off x="7178040" y="3886200"/>
            <a:ext cx="4434840" cy="685800"/>
          </a:xfrm>
          <a:prstGeom prst="roundRect">
            <a:avLst>
              <a:gd name="adj" fmla="val 10667"/>
            </a:avLst>
          </a:prstGeom>
          <a:solidFill>
            <a:srgbClr val="ADF0C7"/>
          </a:solidFill>
          <a:ln/>
        </p:spPr>
      </p:sp>
      <p:sp>
        <p:nvSpPr>
          <p:cNvPr id="22" name="Text 20"/>
          <p:cNvSpPr txBox="1"/>
          <p:nvPr/>
        </p:nvSpPr>
        <p:spPr>
          <a:xfrm>
            <a:off x="7251192" y="3904488"/>
            <a:ext cx="4288536" cy="649224"/>
          </a:xfrm>
          <a:prstGeom prst="rect">
            <a:avLst/>
          </a:prstGeom>
          <a:noFill/>
          <a:ln/>
        </p:spPr>
        <p:txBody>
          <a:bodyPr wrap="square" lIns="1016" tIns="1016" rIns="1016" bIns="1016" rtlCol="0" anchor="t"/>
          <a:lstStyle/>
          <a:p>
            <a:pPr indent="0" marL="0">
              <a:buNone/>
            </a:pPr>
            <a:r>
              <a:rPr lang="en-US" sz="1200" b="1" dirty="0">
                <a:solidFill>
                  <a:schemeClr val="tx1"/>
                </a:solidFill>
                <a:latin typeface="Calibri" pitchFamily="34" charset="0"/>
                <a:ea typeface="Calibri" pitchFamily="34" charset="-122"/>
                <a:cs typeface="Calibri" pitchFamily="34" charset="-120"/>
              </a:rPr>
              <a:t>PRISM Facilities</a:t>
            </a:r>
            <a:endParaRPr lang="en-US" sz="1200" dirty="0"/>
          </a:p>
          <a:p>
            <a:pPr indent="0" marL="0">
              <a:buNone/>
            </a:pPr>
            <a:r>
              <a:rPr lang="en-US" sz="1200" dirty="0">
                <a:solidFill>
                  <a:schemeClr val="tx1"/>
                </a:solidFill>
                <a:latin typeface="Calibri" pitchFamily="34" charset="0"/>
                <a:ea typeface="Calibri" pitchFamily="34" charset="-122"/>
                <a:cs typeface="Calibri" pitchFamily="34" charset="-120"/>
              </a:rPr>
              <a:t>The client reuses the flows and data definitions to build staff-facing and external views</a:t>
            </a:r>
            <a:endParaRPr lang="en-US" sz="1200" dirty="0"/>
          </a:p>
        </p:txBody>
      </p:sp>
      <p:sp>
        <p:nvSpPr>
          <p:cNvPr id="23" name="Text 21"/>
          <p:cNvSpPr txBox="1"/>
          <p:nvPr/>
        </p:nvSpPr>
        <p:spPr>
          <a:xfrm>
            <a:off x="548640" y="4681728"/>
            <a:ext cx="11064240" cy="365760"/>
          </a:xfrm>
          <a:prstGeom prst="rect">
            <a:avLst/>
          </a:prstGeom>
          <a:noFill/>
          <a:ln/>
        </p:spPr>
        <p:txBody>
          <a:bodyPr wrap="square" lIns="1016" tIns="1016" rIns="1016" bIns="1016" rtlCol="0" anchor="t"/>
          <a:lstStyle/>
          <a:p>
            <a:pPr indent="0" marL="0">
              <a:buNone/>
            </a:pPr>
            <a:r>
              <a:rPr lang="en-US" sz="1500" b="1" dirty="0">
                <a:solidFill>
                  <a:schemeClr val="tx2"/>
                </a:solidFill>
                <a:latin typeface="Calibri" pitchFamily="34" charset="0"/>
                <a:ea typeface="Calibri" pitchFamily="34" charset="-122"/>
                <a:cs typeface="Calibri" pitchFamily="34" charset="-120"/>
              </a:rPr>
              <a:t>Storage and access requirements the sinks imply (input to Milestone 3)</a:t>
            </a:r>
            <a:endParaRPr lang="en-US" sz="1500" dirty="0"/>
          </a:p>
        </p:txBody>
      </p:sp>
      <p:sp>
        <p:nvSpPr>
          <p:cNvPr id="24" name="How fresh"/>
          <p:cNvSpPr/>
          <p:nvPr/>
        </p:nvSpPr>
        <p:spPr>
          <a:xfrm>
            <a:off x="548640" y="5074920"/>
            <a:ext cx="2697480" cy="1188720"/>
          </a:xfrm>
          <a:prstGeom prst="roundRect">
            <a:avLst>
              <a:gd name="adj" fmla="val 6154"/>
            </a:avLst>
          </a:prstGeom>
          <a:solidFill>
            <a:srgbClr val="EEF4F3"/>
          </a:solidFill>
          <a:ln/>
        </p:spPr>
      </p:sp>
      <p:sp>
        <p:nvSpPr>
          <p:cNvPr id="25" name="Text 23"/>
          <p:cNvSpPr txBox="1"/>
          <p:nvPr/>
        </p:nvSpPr>
        <p:spPr>
          <a:xfrm>
            <a:off x="603504" y="5102352"/>
            <a:ext cx="2587752" cy="1143000"/>
          </a:xfrm>
          <a:prstGeom prst="rect">
            <a:avLst/>
          </a:prstGeom>
          <a:noFill/>
          <a:ln/>
        </p:spPr>
        <p:txBody>
          <a:bodyPr wrap="square" lIns="1016" tIns="1016" rIns="1016" bIns="1016" rtlCol="0" anchor="t"/>
          <a:lstStyle/>
          <a:p>
            <a:pPr indent="0" marL="0">
              <a:buNone/>
            </a:pPr>
            <a:r>
              <a:rPr lang="en-US" sz="1200" b="1" dirty="0">
                <a:solidFill>
                  <a:schemeClr val="tx1"/>
                </a:solidFill>
                <a:latin typeface="Calibri" pitchFamily="34" charset="0"/>
                <a:ea typeface="Calibri" pitchFamily="34" charset="-122"/>
                <a:cs typeface="Calibri" pitchFamily="34" charset="-120"/>
              </a:rPr>
              <a:t>How fresh</a:t>
            </a:r>
            <a:endParaRPr lang="en-US" sz="1200" dirty="0"/>
          </a:p>
          <a:p>
            <a:pPr indent="0" marL="0">
              <a:buNone/>
            </a:pPr>
            <a:r>
              <a:rPr lang="en-US" sz="1200" dirty="0">
                <a:solidFill>
                  <a:schemeClr val="tx1"/>
                </a:solidFill>
                <a:latin typeface="Calibri" pitchFamily="34" charset="0"/>
                <a:ea typeface="Calibri" pitchFamily="34" charset="-122"/>
                <a:cs typeface="Calibri" pitchFamily="34" charset="-120"/>
              </a:rPr>
              <a:t>Product views at every stage change; reports on a set period (to confirm)</a:t>
            </a:r>
            <a:endParaRPr lang="en-US" sz="1200" dirty="0"/>
          </a:p>
        </p:txBody>
      </p:sp>
      <p:sp>
        <p:nvSpPr>
          <p:cNvPr id="26" name="How complete"/>
          <p:cNvSpPr/>
          <p:nvPr/>
        </p:nvSpPr>
        <p:spPr>
          <a:xfrm>
            <a:off x="3337560" y="5074920"/>
            <a:ext cx="2697480" cy="1188720"/>
          </a:xfrm>
          <a:prstGeom prst="roundRect">
            <a:avLst>
              <a:gd name="adj" fmla="val 6154"/>
            </a:avLst>
          </a:prstGeom>
          <a:solidFill>
            <a:srgbClr val="EEF4F3"/>
          </a:solidFill>
          <a:ln/>
        </p:spPr>
      </p:sp>
      <p:sp>
        <p:nvSpPr>
          <p:cNvPr id="27" name="Text 25"/>
          <p:cNvSpPr txBox="1"/>
          <p:nvPr/>
        </p:nvSpPr>
        <p:spPr>
          <a:xfrm>
            <a:off x="3392424" y="5102352"/>
            <a:ext cx="2587752" cy="1143000"/>
          </a:xfrm>
          <a:prstGeom prst="rect">
            <a:avLst/>
          </a:prstGeom>
          <a:noFill/>
          <a:ln/>
        </p:spPr>
        <p:txBody>
          <a:bodyPr wrap="square" lIns="1016" tIns="1016" rIns="1016" bIns="1016" rtlCol="0" anchor="t"/>
          <a:lstStyle/>
          <a:p>
            <a:pPr indent="0" marL="0">
              <a:buNone/>
            </a:pPr>
            <a:r>
              <a:rPr lang="en-US" sz="1200" b="1" dirty="0">
                <a:solidFill>
                  <a:schemeClr val="tx1"/>
                </a:solidFill>
                <a:latin typeface="Calibri" pitchFamily="34" charset="0"/>
                <a:ea typeface="Calibri" pitchFamily="34" charset="-122"/>
                <a:cs typeface="Calibri" pitchFamily="34" charset="-120"/>
              </a:rPr>
              <a:t>How complete</a:t>
            </a:r>
            <a:endParaRPr lang="en-US" sz="1200" dirty="0"/>
          </a:p>
          <a:p>
            <a:pPr indent="0" marL="0">
              <a:buNone/>
            </a:pPr>
            <a:r>
              <a:rPr lang="en-US" sz="1200" dirty="0">
                <a:solidFill>
                  <a:schemeClr val="tx1"/>
                </a:solidFill>
                <a:latin typeface="Calibri" pitchFamily="34" charset="0"/>
                <a:ea typeface="Calibri" pitchFamily="34" charset="-122"/>
                <a:cs typeface="Calibri" pitchFamily="34" charset="-120"/>
              </a:rPr>
              <a:t>Full history from submission; the original kept; required fields enforced at intake</a:t>
            </a:r>
            <a:endParaRPr lang="en-US" sz="1200" dirty="0"/>
          </a:p>
        </p:txBody>
      </p:sp>
      <p:sp>
        <p:nvSpPr>
          <p:cNvPr id="28" name="In what form"/>
          <p:cNvSpPr/>
          <p:nvPr/>
        </p:nvSpPr>
        <p:spPr>
          <a:xfrm>
            <a:off x="6126480" y="5074920"/>
            <a:ext cx="2697480" cy="1188720"/>
          </a:xfrm>
          <a:prstGeom prst="roundRect">
            <a:avLst>
              <a:gd name="adj" fmla="val 6154"/>
            </a:avLst>
          </a:prstGeom>
          <a:solidFill>
            <a:srgbClr val="EEF4F3"/>
          </a:solidFill>
          <a:ln/>
        </p:spPr>
      </p:sp>
      <p:sp>
        <p:nvSpPr>
          <p:cNvPr id="29" name="Text 27"/>
          <p:cNvSpPr txBox="1"/>
          <p:nvPr/>
        </p:nvSpPr>
        <p:spPr>
          <a:xfrm>
            <a:off x="6181344" y="5102352"/>
            <a:ext cx="2587752" cy="1143000"/>
          </a:xfrm>
          <a:prstGeom prst="rect">
            <a:avLst/>
          </a:prstGeom>
          <a:noFill/>
          <a:ln/>
        </p:spPr>
        <p:txBody>
          <a:bodyPr wrap="square" lIns="1016" tIns="1016" rIns="1016" bIns="1016" rtlCol="0" anchor="t"/>
          <a:lstStyle/>
          <a:p>
            <a:pPr indent="0" marL="0">
              <a:buNone/>
            </a:pPr>
            <a:r>
              <a:rPr lang="en-US" sz="1200" b="1" dirty="0">
                <a:solidFill>
                  <a:schemeClr val="tx1"/>
                </a:solidFill>
                <a:latin typeface="Calibri" pitchFamily="34" charset="0"/>
                <a:ea typeface="Calibri" pitchFamily="34" charset="-122"/>
                <a:cs typeface="Calibri" pitchFamily="34" charset="-120"/>
              </a:rPr>
              <a:t>In what form</a:t>
            </a:r>
            <a:endParaRPr lang="en-US" sz="1200" dirty="0"/>
          </a:p>
          <a:p>
            <a:pPr indent="0" marL="0">
              <a:buNone/>
            </a:pPr>
            <a:r>
              <a:rPr lang="en-US" sz="1200" dirty="0">
                <a:solidFill>
                  <a:schemeClr val="tx1"/>
                </a:solidFill>
                <a:latin typeface="Calibri" pitchFamily="34" charset="0"/>
                <a:ea typeface="Calibri" pitchFamily="34" charset="-122"/>
                <a:cs typeface="Calibri" pitchFamily="34" charset="-120"/>
              </a:rPr>
              <a:t>One record per Work Order ID (silver) for the product; aggregates (gold) for reports</a:t>
            </a:r>
            <a:endParaRPr lang="en-US" sz="1200" dirty="0"/>
          </a:p>
        </p:txBody>
      </p:sp>
      <p:sp>
        <p:nvSpPr>
          <p:cNvPr id="30" name="Who may see it"/>
          <p:cNvSpPr/>
          <p:nvPr/>
        </p:nvSpPr>
        <p:spPr>
          <a:xfrm>
            <a:off x="8915400" y="5074920"/>
            <a:ext cx="2697480" cy="1188720"/>
          </a:xfrm>
          <a:prstGeom prst="roundRect">
            <a:avLst>
              <a:gd name="adj" fmla="val 6154"/>
            </a:avLst>
          </a:prstGeom>
          <a:solidFill>
            <a:srgbClr val="EEF4F3"/>
          </a:solidFill>
          <a:ln/>
        </p:spPr>
      </p:sp>
      <p:sp>
        <p:nvSpPr>
          <p:cNvPr id="31" name="Text 29"/>
          <p:cNvSpPr txBox="1"/>
          <p:nvPr/>
        </p:nvSpPr>
        <p:spPr>
          <a:xfrm>
            <a:off x="8970264" y="5102352"/>
            <a:ext cx="2587752" cy="1143000"/>
          </a:xfrm>
          <a:prstGeom prst="rect">
            <a:avLst/>
          </a:prstGeom>
          <a:noFill/>
          <a:ln/>
        </p:spPr>
        <p:txBody>
          <a:bodyPr wrap="square" lIns="1016" tIns="1016" rIns="1016" bIns="1016" rtlCol="0" anchor="t"/>
          <a:lstStyle/>
          <a:p>
            <a:pPr indent="0" marL="0">
              <a:buNone/>
            </a:pPr>
            <a:r>
              <a:rPr lang="en-US" sz="1200" b="1" dirty="0">
                <a:solidFill>
                  <a:schemeClr val="tx1"/>
                </a:solidFill>
                <a:latin typeface="Calibri" pitchFamily="34" charset="0"/>
                <a:ea typeface="Calibri" pitchFamily="34" charset="-122"/>
                <a:cs typeface="Calibri" pitchFamily="34" charset="-120"/>
              </a:rPr>
              <a:t>Who may see it</a:t>
            </a:r>
            <a:endParaRPr lang="en-US" sz="1200" dirty="0"/>
          </a:p>
          <a:p>
            <a:pPr indent="0" marL="0">
              <a:buNone/>
            </a:pPr>
            <a:r>
              <a:rPr lang="en-US" sz="1200" dirty="0">
                <a:solidFill>
                  <a:schemeClr val="tx1"/>
                </a:solidFill>
                <a:latin typeface="Calibri" pitchFamily="34" charset="0"/>
                <a:ea typeface="Calibri" pitchFamily="34" charset="-122"/>
                <a:cs typeface="Calibri" pitchFamily="34" charset="-120"/>
              </a:rPr>
              <a:t>Role-based: CMAC own requests; coordinators their queue; management aggregates; external requester a read-only status link</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B7B"/>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body" hasCustomPrompt="1"/>
          </p:nvPr>
        </p:nvSpPr>
        <p:spPr>
          <a:xfrm>
            <a:off x="548640" y="91440"/>
            <a:ext cx="11064240" cy="320040"/>
          </a:xfrm>
          <a:prstGeom prst="rect">
            <a:avLst/>
          </a:prstGeom>
          <a:noFill/>
          <a:ln/>
        </p:spPr>
        <p:txBody>
          <a:bodyPr wrap="square" lIns="1016" tIns="1016" rIns="1016" bIns="1016" rtlCol="0" anchor="b"/>
          <a:lstStyle/>
          <a:p>
            <a:pPr indent="0" marL="0">
              <a:buNone/>
            </a:pPr>
            <a:r>
              <a:rPr lang="en-US" sz="1200" b="1" dirty="0">
                <a:solidFill>
                  <a:schemeClr val="accent1"/>
                </a:solidFill>
              </a:rPr>
              <a:t>STEP FOUR  |  DATA THE PIPELINE GENERATES</a:t>
            </a:r>
            <a:endParaRPr lang="en-US" sz="1200" dirty="0"/>
          </a:p>
        </p:txBody>
      </p:sp>
      <p:sp>
        <p:nvSpPr>
          <p:cNvPr id="3" name="Text 1"/>
          <p:cNvSpPr/>
          <p:nvPr>
            <p:ph idx="101" type="title" hasCustomPrompt="1"/>
          </p:nvPr>
        </p:nvSpPr>
        <p:spPr>
          <a:xfrm>
            <a:off x="548640" y="365760"/>
            <a:ext cx="11064240" cy="685800"/>
          </a:xfrm>
          <a:prstGeom prst="rect">
            <a:avLst/>
          </a:prstGeom>
          <a:noFill/>
          <a:ln/>
        </p:spPr>
        <p:txBody>
          <a:bodyPr wrap="square" lIns="1016" tIns="1016" rIns="1016" bIns="1016"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Using the product creates the data that improves it</a:t>
            </a:r>
            <a:endParaRPr lang="en-US" sz="3000" dirty="0"/>
          </a:p>
        </p:txBody>
      </p:sp>
      <p:sp>
        <p:nvSpPr>
          <p:cNvPr id="4" name="loop0"/>
          <p:cNvSpPr/>
          <p:nvPr/>
        </p:nvSpPr>
        <p:spPr>
          <a:xfrm>
            <a:off x="1188720" y="1234440"/>
            <a:ext cx="3931920" cy="658368"/>
          </a:xfrm>
          <a:prstGeom prst="roundRect">
            <a:avLst>
              <a:gd name="adj" fmla="val 11111"/>
            </a:avLst>
          </a:prstGeom>
          <a:solidFill>
            <a:srgbClr val="1B6F6A"/>
          </a:solidFill>
          <a:ln/>
        </p:spPr>
      </p:sp>
      <p:sp>
        <p:nvSpPr>
          <p:cNvPr id="5" name="Text 3"/>
          <p:cNvSpPr txBox="1"/>
          <p:nvPr/>
        </p:nvSpPr>
        <p:spPr>
          <a:xfrm>
            <a:off x="1188720" y="1234440"/>
            <a:ext cx="3931920" cy="658368"/>
          </a:xfrm>
          <a:prstGeom prst="rect">
            <a:avLst/>
          </a:prstGeom>
          <a:noFill/>
          <a:ln/>
        </p:spPr>
        <p:txBody>
          <a:bodyPr wrap="square" lIns="635" tIns="635" rIns="635" bIns="635" rtlCol="0" anchor="ctr"/>
          <a:lstStyle/>
          <a:p>
            <a:pPr algn="ctr" indent="0" marL="0">
              <a:buNone/>
            </a:pPr>
            <a:r>
              <a:rPr lang="en-US" sz="1400" b="1" dirty="0">
                <a:solidFill>
                  <a:srgbClr val="FFFFFF"/>
                </a:solidFill>
              </a:rPr>
              <a:t>CMACs and coordinators use the product</a:t>
            </a:r>
            <a:endParaRPr lang="en-US" sz="1400" dirty="0"/>
          </a:p>
        </p:txBody>
      </p:sp>
      <p:sp>
        <p:nvSpPr>
          <p:cNvPr id="6" name="Shape 4"/>
          <p:cNvSpPr/>
          <p:nvPr/>
        </p:nvSpPr>
        <p:spPr>
          <a:xfrm>
            <a:off x="3035808" y="1920240"/>
            <a:ext cx="237744" cy="219456"/>
          </a:xfrm>
          <a:prstGeom prst="downArrow">
            <a:avLst/>
          </a:prstGeom>
          <a:solidFill>
            <a:srgbClr val="E8A33D"/>
          </a:solidFill>
          <a:ln/>
        </p:spPr>
      </p:sp>
      <p:sp>
        <p:nvSpPr>
          <p:cNvPr id="7" name="loop1"/>
          <p:cNvSpPr/>
          <p:nvPr/>
        </p:nvSpPr>
        <p:spPr>
          <a:xfrm>
            <a:off x="1188720" y="2167128"/>
            <a:ext cx="3931920" cy="658368"/>
          </a:xfrm>
          <a:prstGeom prst="roundRect">
            <a:avLst>
              <a:gd name="adj" fmla="val 11111"/>
            </a:avLst>
          </a:prstGeom>
          <a:solidFill>
            <a:srgbClr val="FFF6B6"/>
          </a:solidFill>
          <a:ln/>
        </p:spPr>
      </p:sp>
      <p:sp>
        <p:nvSpPr>
          <p:cNvPr id="8" name="Text 6"/>
          <p:cNvSpPr txBox="1"/>
          <p:nvPr/>
        </p:nvSpPr>
        <p:spPr>
          <a:xfrm>
            <a:off x="1188720" y="2167128"/>
            <a:ext cx="3931920" cy="658368"/>
          </a:xfrm>
          <a:prstGeom prst="rect">
            <a:avLst/>
          </a:prstGeom>
          <a:noFill/>
          <a:ln/>
        </p:spPr>
        <p:txBody>
          <a:bodyPr wrap="square" lIns="635" tIns="635" rIns="635" bIns="635" rtlCol="0" anchor="ctr"/>
          <a:lstStyle/>
          <a:p>
            <a:pPr algn="ctr" indent="0" marL="0">
              <a:buNone/>
            </a:pPr>
            <a:r>
              <a:rPr lang="en-US" sz="1400" dirty="0">
                <a:solidFill>
                  <a:srgbClr val="1A1A1A"/>
                </a:solidFill>
              </a:rPr>
              <a:t>New data is created on every action</a:t>
            </a:r>
            <a:endParaRPr lang="en-US" sz="1400" dirty="0"/>
          </a:p>
        </p:txBody>
      </p:sp>
      <p:sp>
        <p:nvSpPr>
          <p:cNvPr id="9" name="Shape 7"/>
          <p:cNvSpPr/>
          <p:nvPr/>
        </p:nvSpPr>
        <p:spPr>
          <a:xfrm>
            <a:off x="3035808" y="2852928"/>
            <a:ext cx="237744" cy="219456"/>
          </a:xfrm>
          <a:prstGeom prst="downArrow">
            <a:avLst/>
          </a:prstGeom>
          <a:solidFill>
            <a:srgbClr val="E8A33D"/>
          </a:solidFill>
          <a:ln/>
        </p:spPr>
      </p:sp>
      <p:sp>
        <p:nvSpPr>
          <p:cNvPr id="10" name="loop2"/>
          <p:cNvSpPr/>
          <p:nvPr/>
        </p:nvSpPr>
        <p:spPr>
          <a:xfrm>
            <a:off x="1188720" y="3099816"/>
            <a:ext cx="3931920" cy="658368"/>
          </a:xfrm>
          <a:prstGeom prst="roundRect">
            <a:avLst>
              <a:gd name="adj" fmla="val 11111"/>
            </a:avLst>
          </a:prstGeom>
          <a:solidFill>
            <a:srgbClr val="FFF6B6"/>
          </a:solidFill>
          <a:ln/>
        </p:spPr>
      </p:sp>
      <p:sp>
        <p:nvSpPr>
          <p:cNvPr id="11" name="Text 9"/>
          <p:cNvSpPr txBox="1"/>
          <p:nvPr/>
        </p:nvSpPr>
        <p:spPr>
          <a:xfrm>
            <a:off x="1188720" y="3099816"/>
            <a:ext cx="3931920" cy="658368"/>
          </a:xfrm>
          <a:prstGeom prst="rect">
            <a:avLst/>
          </a:prstGeom>
          <a:noFill/>
          <a:ln/>
        </p:spPr>
        <p:txBody>
          <a:bodyPr wrap="square" lIns="635" tIns="635" rIns="635" bIns="635" rtlCol="0" anchor="ctr"/>
          <a:lstStyle/>
          <a:p>
            <a:pPr algn="ctr" indent="0" marL="0">
              <a:buNone/>
            </a:pPr>
            <a:r>
              <a:rPr lang="en-US" sz="1400" dirty="0">
                <a:solidFill>
                  <a:srgbClr val="1A1A1A"/>
                </a:solidFill>
              </a:rPr>
              <a:t>The product records it; an owner reviews it</a:t>
            </a:r>
            <a:endParaRPr lang="en-US" sz="1400" dirty="0"/>
          </a:p>
        </p:txBody>
      </p:sp>
      <p:sp>
        <p:nvSpPr>
          <p:cNvPr id="12" name="Shape 10"/>
          <p:cNvSpPr/>
          <p:nvPr/>
        </p:nvSpPr>
        <p:spPr>
          <a:xfrm>
            <a:off x="3035808" y="3785616"/>
            <a:ext cx="237744" cy="219456"/>
          </a:xfrm>
          <a:prstGeom prst="downArrow">
            <a:avLst/>
          </a:prstGeom>
          <a:solidFill>
            <a:srgbClr val="E8A33D"/>
          </a:solidFill>
          <a:ln/>
        </p:spPr>
      </p:sp>
      <p:sp>
        <p:nvSpPr>
          <p:cNvPr id="13" name="loop3"/>
          <p:cNvSpPr/>
          <p:nvPr/>
        </p:nvSpPr>
        <p:spPr>
          <a:xfrm>
            <a:off x="1188720" y="4032504"/>
            <a:ext cx="3931920" cy="658368"/>
          </a:xfrm>
          <a:prstGeom prst="roundRect">
            <a:avLst>
              <a:gd name="adj" fmla="val 11111"/>
            </a:avLst>
          </a:prstGeom>
          <a:solidFill>
            <a:srgbClr val="FFF6B6"/>
          </a:solidFill>
          <a:ln/>
        </p:spPr>
      </p:sp>
      <p:sp>
        <p:nvSpPr>
          <p:cNvPr id="14" name="Text 12"/>
          <p:cNvSpPr txBox="1"/>
          <p:nvPr/>
        </p:nvSpPr>
        <p:spPr>
          <a:xfrm>
            <a:off x="1188720" y="4032504"/>
            <a:ext cx="3931920" cy="658368"/>
          </a:xfrm>
          <a:prstGeom prst="rect">
            <a:avLst/>
          </a:prstGeom>
          <a:noFill/>
          <a:ln/>
        </p:spPr>
        <p:txBody>
          <a:bodyPr wrap="square" lIns="635" tIns="635" rIns="635" bIns="635" rtlCol="0" anchor="ctr"/>
          <a:lstStyle/>
          <a:p>
            <a:pPr algn="ctr" indent="0" marL="0">
              <a:buNone/>
            </a:pPr>
            <a:r>
              <a:rPr lang="en-US" sz="1400" dirty="0">
                <a:solidFill>
                  <a:srgbClr val="1A1A1A"/>
                </a:solidFill>
              </a:rPr>
              <a:t>Measured: time in stage, right first time</a:t>
            </a:r>
            <a:endParaRPr lang="en-US" sz="1400" dirty="0"/>
          </a:p>
        </p:txBody>
      </p:sp>
      <p:sp>
        <p:nvSpPr>
          <p:cNvPr id="15" name="Shape 13"/>
          <p:cNvSpPr/>
          <p:nvPr/>
        </p:nvSpPr>
        <p:spPr>
          <a:xfrm>
            <a:off x="3035808" y="4718304"/>
            <a:ext cx="237744" cy="219456"/>
          </a:xfrm>
          <a:prstGeom prst="downArrow">
            <a:avLst/>
          </a:prstGeom>
          <a:solidFill>
            <a:srgbClr val="E8A33D"/>
          </a:solidFill>
          <a:ln/>
        </p:spPr>
      </p:sp>
      <p:sp>
        <p:nvSpPr>
          <p:cNvPr id="16" name="loop4"/>
          <p:cNvSpPr/>
          <p:nvPr/>
        </p:nvSpPr>
        <p:spPr>
          <a:xfrm>
            <a:off x="1188720" y="4965192"/>
            <a:ext cx="3931920" cy="658368"/>
          </a:xfrm>
          <a:prstGeom prst="roundRect">
            <a:avLst>
              <a:gd name="adj" fmla="val 11111"/>
            </a:avLst>
          </a:prstGeom>
          <a:solidFill>
            <a:srgbClr val="FFF6B6"/>
          </a:solidFill>
          <a:ln/>
        </p:spPr>
      </p:sp>
      <p:sp>
        <p:nvSpPr>
          <p:cNvPr id="17" name="Text 15"/>
          <p:cNvSpPr txBox="1"/>
          <p:nvPr/>
        </p:nvSpPr>
        <p:spPr>
          <a:xfrm>
            <a:off x="1188720" y="4965192"/>
            <a:ext cx="3931920" cy="658368"/>
          </a:xfrm>
          <a:prstGeom prst="rect">
            <a:avLst/>
          </a:prstGeom>
          <a:noFill/>
          <a:ln/>
        </p:spPr>
        <p:txBody>
          <a:bodyPr wrap="square" lIns="635" tIns="635" rIns="635" bIns="635" rtlCol="0" anchor="ctr"/>
          <a:lstStyle/>
          <a:p>
            <a:pPr algn="ctr" indent="0" marL="0">
              <a:buNone/>
            </a:pPr>
            <a:r>
              <a:rPr lang="en-US" sz="1400" dirty="0">
                <a:solidFill>
                  <a:srgbClr val="1A1A1A"/>
                </a:solidFill>
              </a:rPr>
              <a:t>Checklist, guidance and workflow improve</a:t>
            </a:r>
            <a:endParaRPr lang="en-US" sz="1400" dirty="0"/>
          </a:p>
        </p:txBody>
      </p:sp>
      <p:sp>
        <p:nvSpPr>
          <p:cNvPr id="18" name="Shape 16"/>
          <p:cNvSpPr/>
          <p:nvPr/>
        </p:nvSpPr>
        <p:spPr>
          <a:xfrm>
            <a:off x="685800" y="5294376"/>
            <a:ext cx="502920" cy="0"/>
          </a:xfrm>
          <a:prstGeom prst="line">
            <a:avLst/>
          </a:prstGeom>
          <a:noFill/>
          <a:ln w="28575">
            <a:solidFill>
              <a:srgbClr val="1B6F6A"/>
            </a:solidFill>
            <a:prstDash val="dash"/>
          </a:ln>
        </p:spPr>
      </p:sp>
      <p:sp>
        <p:nvSpPr>
          <p:cNvPr id="19" name="Shape 17"/>
          <p:cNvSpPr/>
          <p:nvPr/>
        </p:nvSpPr>
        <p:spPr>
          <a:xfrm>
            <a:off x="685800" y="1563624"/>
            <a:ext cx="0" cy="3730752"/>
          </a:xfrm>
          <a:prstGeom prst="line">
            <a:avLst/>
          </a:prstGeom>
          <a:noFill/>
          <a:ln w="28575">
            <a:solidFill>
              <a:srgbClr val="1B6F6A"/>
            </a:solidFill>
            <a:prstDash val="dash"/>
          </a:ln>
        </p:spPr>
      </p:sp>
      <p:sp>
        <p:nvSpPr>
          <p:cNvPr id="20" name="Shape 18"/>
          <p:cNvSpPr/>
          <p:nvPr/>
        </p:nvSpPr>
        <p:spPr>
          <a:xfrm>
            <a:off x="685800" y="1563624"/>
            <a:ext cx="502920" cy="0"/>
          </a:xfrm>
          <a:prstGeom prst="line">
            <a:avLst/>
          </a:prstGeom>
          <a:noFill/>
          <a:ln w="28575">
            <a:solidFill>
              <a:srgbClr val="1B6F6A"/>
            </a:solidFill>
            <a:prstDash val="dash"/>
            <a:tailEnd type="triangle"/>
          </a:ln>
        </p:spPr>
      </p:sp>
      <p:sp>
        <p:nvSpPr>
          <p:cNvPr id="21" name="Text 19"/>
          <p:cNvSpPr txBox="1"/>
          <p:nvPr/>
        </p:nvSpPr>
        <p:spPr>
          <a:xfrm>
            <a:off x="320040" y="5806440"/>
            <a:ext cx="4846320" cy="365760"/>
          </a:xfrm>
          <a:prstGeom prst="rect">
            <a:avLst/>
          </a:prstGeom>
          <a:noFill/>
          <a:ln/>
        </p:spPr>
        <p:txBody>
          <a:bodyPr wrap="square" lIns="0" tIns="0" rIns="0" bIns="0" rtlCol="0" anchor="ctr"/>
          <a:lstStyle/>
          <a:p>
            <a:pPr indent="0" marL="0">
              <a:buNone/>
            </a:pPr>
            <a:r>
              <a:rPr lang="en-US" sz="1300" b="1" i="1" dirty="0">
                <a:solidFill>
                  <a:schemeClr val="accent1"/>
                </a:solidFill>
              </a:rPr>
              <a:t>The data flywheel: measure again</a:t>
            </a:r>
            <a:endParaRPr lang="en-US" sz="1300" dirty="0"/>
          </a:p>
        </p:txBody>
      </p:sp>
      <p:sp>
        <p:nvSpPr>
          <p:cNvPr id="22" name="Back into our pipeline"/>
          <p:cNvSpPr/>
          <p:nvPr/>
        </p:nvSpPr>
        <p:spPr>
          <a:xfrm>
            <a:off x="5577840" y="1234440"/>
            <a:ext cx="6035040" cy="1261872"/>
          </a:xfrm>
          <a:prstGeom prst="roundRect">
            <a:avLst>
              <a:gd name="adj" fmla="val 5797"/>
            </a:avLst>
          </a:prstGeom>
          <a:solidFill>
            <a:srgbClr val="F4F7F7"/>
          </a:solidFill>
          <a:ln/>
        </p:spPr>
      </p:sp>
      <p:sp>
        <p:nvSpPr>
          <p:cNvPr id="23" name="Shape 21"/>
          <p:cNvSpPr/>
          <p:nvPr/>
        </p:nvSpPr>
        <p:spPr>
          <a:xfrm>
            <a:off x="5577840" y="1234440"/>
            <a:ext cx="1828800" cy="1261872"/>
          </a:xfrm>
          <a:prstGeom prst="roundRect">
            <a:avLst>
              <a:gd name="adj" fmla="val 5797"/>
            </a:avLst>
          </a:prstGeom>
          <a:solidFill>
            <a:srgbClr val="1B6F6A"/>
          </a:solidFill>
          <a:ln/>
        </p:spPr>
      </p:sp>
      <p:sp>
        <p:nvSpPr>
          <p:cNvPr id="24" name="Text 22"/>
          <p:cNvSpPr txBox="1"/>
          <p:nvPr/>
        </p:nvSpPr>
        <p:spPr>
          <a:xfrm>
            <a:off x="5577840" y="1234440"/>
            <a:ext cx="1828800" cy="1261872"/>
          </a:xfrm>
          <a:prstGeom prst="rect">
            <a:avLst/>
          </a:prstGeom>
          <a:noFill/>
          <a:ln/>
        </p:spPr>
        <p:txBody>
          <a:bodyPr wrap="square" lIns="1016" tIns="1016" rIns="1016" bIns="1016" rtlCol="0" anchor="ctr"/>
          <a:lstStyle/>
          <a:p>
            <a:pPr algn="ctr" indent="0" marL="0">
              <a:buNone/>
            </a:pPr>
            <a:r>
              <a:rPr lang="en-US" sz="1400" b="1" dirty="0">
                <a:solidFill>
                  <a:srgbClr val="FFFFFF"/>
                </a:solidFill>
              </a:rPr>
              <a:t>Back into our pipeline</a:t>
            </a:r>
            <a:endParaRPr lang="en-US" sz="1400" dirty="0"/>
          </a:p>
        </p:txBody>
      </p:sp>
      <p:sp>
        <p:nvSpPr>
          <p:cNvPr id="25" name="Text 23"/>
          <p:cNvSpPr txBox="1"/>
          <p:nvPr/>
        </p:nvSpPr>
        <p:spPr>
          <a:xfrm>
            <a:off x="7498080" y="1261872"/>
            <a:ext cx="4069080" cy="1207008"/>
          </a:xfrm>
          <a:prstGeom prst="rect">
            <a:avLst/>
          </a:prstGeom>
          <a:noFill/>
          <a:ln/>
        </p:spPr>
        <p:txBody>
          <a:bodyPr wrap="square" lIns="1016" tIns="1016" rIns="1016" bIns="1016" rtlCol="0" anchor="ctr"/>
          <a:lstStyle/>
          <a:p>
            <a:pPr indent="0" marL="0">
              <a:buNone/>
            </a:pPr>
            <a:r>
              <a:rPr lang="en-US" sz="1250" dirty="0">
                <a:solidFill>
                  <a:schemeClr val="tx1"/>
                </a:solidFill>
                <a:latin typeface="Calibri" pitchFamily="34" charset="0"/>
                <a:ea typeface="Calibri" pitchFamily="34" charset="-122"/>
                <a:cs typeface="Calibri" pitchFamily="34" charset="-120"/>
              </a:rPr>
              <a:t>Stage-change timestamps feed the stalled-request alarm. Validation results and repeated clarification questions improve the checklist and guidance. Duplicate resolutions refine the match key. Upload results tune file limits.</a:t>
            </a:r>
            <a:endParaRPr lang="en-US" sz="1250" dirty="0"/>
          </a:p>
        </p:txBody>
      </p:sp>
      <p:sp>
        <p:nvSpPr>
          <p:cNvPr id="26" name="Into other pipelines or products"/>
          <p:cNvSpPr/>
          <p:nvPr/>
        </p:nvSpPr>
        <p:spPr>
          <a:xfrm>
            <a:off x="5577840" y="2606040"/>
            <a:ext cx="6035040" cy="1261872"/>
          </a:xfrm>
          <a:prstGeom prst="roundRect">
            <a:avLst>
              <a:gd name="adj" fmla="val 5797"/>
            </a:avLst>
          </a:prstGeom>
          <a:solidFill>
            <a:srgbClr val="F4F7F7"/>
          </a:solidFill>
          <a:ln/>
        </p:spPr>
      </p:sp>
      <p:sp>
        <p:nvSpPr>
          <p:cNvPr id="27" name="Shape 25"/>
          <p:cNvSpPr/>
          <p:nvPr/>
        </p:nvSpPr>
        <p:spPr>
          <a:xfrm>
            <a:off x="5577840" y="2606040"/>
            <a:ext cx="1828800" cy="1261872"/>
          </a:xfrm>
          <a:prstGeom prst="roundRect">
            <a:avLst>
              <a:gd name="adj" fmla="val 5797"/>
            </a:avLst>
          </a:prstGeom>
          <a:solidFill>
            <a:srgbClr val="C6DCFF"/>
          </a:solidFill>
          <a:ln/>
        </p:spPr>
      </p:sp>
      <p:sp>
        <p:nvSpPr>
          <p:cNvPr id="28" name="Text 26"/>
          <p:cNvSpPr txBox="1"/>
          <p:nvPr/>
        </p:nvSpPr>
        <p:spPr>
          <a:xfrm>
            <a:off x="5577840" y="2606040"/>
            <a:ext cx="1828800" cy="1261872"/>
          </a:xfrm>
          <a:prstGeom prst="rect">
            <a:avLst/>
          </a:prstGeom>
          <a:noFill/>
          <a:ln/>
        </p:spPr>
        <p:txBody>
          <a:bodyPr wrap="square" lIns="1016" tIns="1016" rIns="1016" bIns="1016" rtlCol="0" anchor="ctr"/>
          <a:lstStyle/>
          <a:p>
            <a:pPr algn="ctr" indent="0" marL="0">
              <a:buNone/>
            </a:pPr>
            <a:r>
              <a:rPr lang="en-US" sz="1400" b="1" dirty="0">
                <a:solidFill>
                  <a:srgbClr val="1A1A1A"/>
                </a:solidFill>
              </a:rPr>
              <a:t>Into other pipelines or products</a:t>
            </a:r>
            <a:endParaRPr lang="en-US" sz="1400" dirty="0"/>
          </a:p>
        </p:txBody>
      </p:sp>
      <p:sp>
        <p:nvSpPr>
          <p:cNvPr id="29" name="Text 27"/>
          <p:cNvSpPr txBox="1"/>
          <p:nvPr/>
        </p:nvSpPr>
        <p:spPr>
          <a:xfrm>
            <a:off x="7498080" y="2633472"/>
            <a:ext cx="4069080" cy="1207008"/>
          </a:xfrm>
          <a:prstGeom prst="rect">
            <a:avLst/>
          </a:prstGeom>
          <a:noFill/>
          <a:ln/>
        </p:spPr>
        <p:txBody>
          <a:bodyPr wrap="square" lIns="1016" tIns="1016" rIns="1016" bIns="1016" rtlCol="0" anchor="ctr"/>
          <a:lstStyle/>
          <a:p>
            <a:pPr indent="0" marL="0">
              <a:buNone/>
            </a:pPr>
            <a:r>
              <a:rPr lang="en-US" sz="1250" dirty="0">
                <a:solidFill>
                  <a:schemeClr val="tx1"/>
                </a:solidFill>
                <a:latin typeface="Calibri" pitchFamily="34" charset="0"/>
                <a:ea typeface="Calibri" pitchFamily="34" charset="-122"/>
                <a:cs typeface="Calibri" pitchFamily="34" charset="-120"/>
              </a:rPr>
              <a:t>Closure confirmations and issue reports inform vendor and installer performance. Flows and definitions feed the client's PRISM Facilities build.</a:t>
            </a:r>
            <a:endParaRPr lang="en-US" sz="1250" dirty="0"/>
          </a:p>
        </p:txBody>
      </p:sp>
      <p:sp>
        <p:nvSpPr>
          <p:cNvPr id="30" name="Into decisions elsewhere"/>
          <p:cNvSpPr/>
          <p:nvPr/>
        </p:nvSpPr>
        <p:spPr>
          <a:xfrm>
            <a:off x="5577840" y="3977640"/>
            <a:ext cx="6035040" cy="1261872"/>
          </a:xfrm>
          <a:prstGeom prst="roundRect">
            <a:avLst>
              <a:gd name="adj" fmla="val 5797"/>
            </a:avLst>
          </a:prstGeom>
          <a:solidFill>
            <a:srgbClr val="F4F7F7"/>
          </a:solidFill>
          <a:ln/>
        </p:spPr>
      </p:sp>
      <p:sp>
        <p:nvSpPr>
          <p:cNvPr id="31" name="Shape 29"/>
          <p:cNvSpPr/>
          <p:nvPr/>
        </p:nvSpPr>
        <p:spPr>
          <a:xfrm>
            <a:off x="5577840" y="3977640"/>
            <a:ext cx="1828800" cy="1261872"/>
          </a:xfrm>
          <a:prstGeom prst="roundRect">
            <a:avLst>
              <a:gd name="adj" fmla="val 5797"/>
            </a:avLst>
          </a:prstGeom>
          <a:solidFill>
            <a:srgbClr val="ADF0C7"/>
          </a:solidFill>
          <a:ln/>
        </p:spPr>
      </p:sp>
      <p:sp>
        <p:nvSpPr>
          <p:cNvPr id="32" name="Text 30"/>
          <p:cNvSpPr txBox="1"/>
          <p:nvPr/>
        </p:nvSpPr>
        <p:spPr>
          <a:xfrm>
            <a:off x="5577840" y="3977640"/>
            <a:ext cx="1828800" cy="1261872"/>
          </a:xfrm>
          <a:prstGeom prst="rect">
            <a:avLst/>
          </a:prstGeom>
          <a:noFill/>
          <a:ln/>
        </p:spPr>
        <p:txBody>
          <a:bodyPr wrap="square" lIns="1016" tIns="1016" rIns="1016" bIns="1016" rtlCol="0" anchor="ctr"/>
          <a:lstStyle/>
          <a:p>
            <a:pPr algn="ctr" indent="0" marL="0">
              <a:buNone/>
            </a:pPr>
            <a:r>
              <a:rPr lang="en-US" sz="1400" b="1" dirty="0">
                <a:solidFill>
                  <a:srgbClr val="1A1A1A"/>
                </a:solidFill>
              </a:rPr>
              <a:t>Into decisions elsewhere</a:t>
            </a:r>
            <a:endParaRPr lang="en-US" sz="1400" dirty="0"/>
          </a:p>
        </p:txBody>
      </p:sp>
      <p:sp>
        <p:nvSpPr>
          <p:cNvPr id="33" name="Text 31"/>
          <p:cNvSpPr txBox="1"/>
          <p:nvPr/>
        </p:nvSpPr>
        <p:spPr>
          <a:xfrm>
            <a:off x="7498080" y="4005072"/>
            <a:ext cx="4069080" cy="1207008"/>
          </a:xfrm>
          <a:prstGeom prst="rect">
            <a:avLst/>
          </a:prstGeom>
          <a:noFill/>
          <a:ln/>
        </p:spPr>
        <p:txBody>
          <a:bodyPr wrap="square" lIns="1016" tIns="1016" rIns="1016" bIns="1016" rtlCol="0" anchor="ctr"/>
          <a:lstStyle/>
          <a:p>
            <a:pPr indent="0" marL="0">
              <a:buNone/>
            </a:pPr>
            <a:r>
              <a:rPr lang="en-US" sz="1250" dirty="0">
                <a:solidFill>
                  <a:schemeClr val="tx1"/>
                </a:solidFill>
                <a:latin typeface="Calibri" pitchFamily="34" charset="0"/>
                <a:ea typeface="Calibri" pitchFamily="34" charset="-122"/>
                <a:cs typeface="Calibri" pitchFamily="34" charset="-120"/>
              </a:rPr>
              <a:t>Recycled versus new decisions inform recycle-program planning and cost. Time in stage informs staffing and workload planning.</a:t>
            </a:r>
            <a:endParaRPr lang="en-US" sz="1250" dirty="0"/>
          </a:p>
        </p:txBody>
      </p:sp>
      <p:sp>
        <p:nvSpPr>
          <p:cNvPr id="34" name="balancing"/>
          <p:cNvSpPr/>
          <p:nvPr/>
        </p:nvSpPr>
        <p:spPr>
          <a:xfrm>
            <a:off x="5577840" y="5394960"/>
            <a:ext cx="6035040" cy="868680"/>
          </a:xfrm>
          <a:prstGeom prst="roundRect">
            <a:avLst>
              <a:gd name="adj" fmla="val 8421"/>
            </a:avLst>
          </a:prstGeom>
          <a:solidFill>
            <a:srgbClr val="FFE2B8"/>
          </a:solidFill>
          <a:ln/>
        </p:spPr>
      </p:sp>
      <p:sp>
        <p:nvSpPr>
          <p:cNvPr id="35" name="Text 33"/>
          <p:cNvSpPr txBox="1"/>
          <p:nvPr/>
        </p:nvSpPr>
        <p:spPr>
          <a:xfrm>
            <a:off x="5669280" y="5413248"/>
            <a:ext cx="5852160" cy="822960"/>
          </a:xfrm>
          <a:prstGeom prst="rect">
            <a:avLst/>
          </a:prstGeom>
          <a:noFill/>
          <a:ln/>
        </p:spPr>
        <p:txBody>
          <a:bodyPr wrap="square" lIns="1016" tIns="1016" rIns="1016" bIns="1016" rtlCol="0" anchor="ctr"/>
          <a:lstStyle/>
          <a:p>
            <a:pPr indent="0" marL="0">
              <a:buNone/>
            </a:pPr>
            <a:r>
              <a:rPr lang="en-US" sz="1250" b="1" dirty="0">
                <a:solidFill>
                  <a:schemeClr val="tx1"/>
                </a:solidFill>
                <a:latin typeface="Calibri" pitchFamily="34" charset="0"/>
                <a:ea typeface="Calibri" pitchFamily="34" charset="-122"/>
                <a:cs typeface="Calibri" pitchFamily="34" charset="-120"/>
              </a:rPr>
              <a:t>Who collects it: </a:t>
            </a:r>
            <a:pPr indent="0" marL="0">
              <a:buNone/>
            </a:pPr>
            <a:r>
              <a:rPr lang="en-US" sz="1250" dirty="0">
                <a:solidFill>
                  <a:schemeClr val="tx1"/>
                </a:solidFill>
                <a:latin typeface="Calibri" pitchFamily="34" charset="0"/>
                <a:ea typeface="Calibri" pitchFamily="34" charset="-122"/>
                <a:cs typeface="Calibri" pitchFamily="34" charset="-120"/>
              </a:rPr>
              <a:t>the product records it automatically, but no one is yet named to review it. That is our first leak. </a:t>
            </a:r>
            <a:pPr indent="0" marL="0">
              <a:buNone/>
            </a:pPr>
            <a:r>
              <a:rPr lang="en-US" sz="1250" b="1" dirty="0">
                <a:solidFill>
                  <a:schemeClr val="tx1"/>
                </a:solidFill>
                <a:latin typeface="Calibri" pitchFamily="34" charset="0"/>
                <a:ea typeface="Calibri" pitchFamily="34" charset="-122"/>
                <a:cs typeface="Calibri" pitchFamily="34" charset="-120"/>
              </a:rPr>
              <a:t>What pushes back: </a:t>
            </a:r>
            <a:pPr indent="0" marL="0">
              <a:buNone/>
            </a:pPr>
            <a:r>
              <a:rPr lang="en-US" sz="1250" dirty="0">
                <a:solidFill>
                  <a:schemeClr val="tx1"/>
                </a:solidFill>
                <a:latin typeface="Calibri" pitchFamily="34" charset="0"/>
                <a:ea typeface="Calibri" pitchFamily="34" charset="-122"/>
                <a:cs typeface="Calibri" pitchFamily="34" charset="-120"/>
              </a:rPr>
              <a:t>coordinator update effort; late or brief updates weaken the loop.</a:t>
            </a:r>
            <a:endParaRPr lang="en-US" sz="125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B7B"/>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body" hasCustomPrompt="1"/>
          </p:nvPr>
        </p:nvSpPr>
        <p:spPr>
          <a:xfrm>
            <a:off x="548640" y="91440"/>
            <a:ext cx="11064240" cy="320040"/>
          </a:xfrm>
          <a:prstGeom prst="rect">
            <a:avLst/>
          </a:prstGeom>
          <a:noFill/>
          <a:ln/>
        </p:spPr>
        <p:txBody>
          <a:bodyPr wrap="square" lIns="1016" tIns="1016" rIns="1016" bIns="1016" rtlCol="0" anchor="b"/>
          <a:lstStyle/>
          <a:p>
            <a:pPr indent="0" marL="0">
              <a:buNone/>
            </a:pPr>
            <a:r>
              <a:rPr lang="en-US" sz="1200" b="1" dirty="0">
                <a:solidFill>
                  <a:schemeClr val="accent1"/>
                </a:solidFill>
              </a:rPr>
              <a:t>STEP FIVE  |  GAPS, LEAKS, HEADWINDS AND TAILWINDS</a:t>
            </a:r>
            <a:endParaRPr lang="en-US" sz="1200" dirty="0"/>
          </a:p>
        </p:txBody>
      </p:sp>
      <p:sp>
        <p:nvSpPr>
          <p:cNvPr id="3" name="Text 1"/>
          <p:cNvSpPr/>
          <p:nvPr>
            <p:ph idx="101" type="title" hasCustomPrompt="1"/>
          </p:nvPr>
        </p:nvSpPr>
        <p:spPr>
          <a:xfrm>
            <a:off x="548640" y="365760"/>
            <a:ext cx="11064240" cy="685800"/>
          </a:xfrm>
          <a:prstGeom prst="rect">
            <a:avLst/>
          </a:prstGeom>
          <a:noFill/>
          <a:ln/>
        </p:spPr>
        <p:txBody>
          <a:bodyPr wrap="square" lIns="1016" tIns="1016" rIns="1016" bIns="1016"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Gaps and leaks, each tied to a stage, with what we do about it</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143000"/>
          <a:ext cx="11064240" cy="914400"/>
        </p:xfrm>
        <a:graphic>
          <a:graphicData uri="http://schemas.openxmlformats.org/drawingml/2006/table">
            <a:tbl>
              <a:tblPr/>
              <a:tblGrid>
                <a:gridCol w="411480"/>
                <a:gridCol w="1463040"/>
                <a:gridCol w="3657600"/>
                <a:gridCol w="1234440"/>
                <a:gridCol w="868680"/>
                <a:gridCol w="3429000"/>
              </a:tblGrid>
              <a:tr h="347472">
                <a:tc>
                  <a:txBody>
                    <a:bodyPr/>
                    <a:lstStyle/>
                    <a:p>
                      <a:pPr indent="0" marL="0">
                        <a:buNone/>
                      </a:pP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F3D3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Stage</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F3D3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Finding</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F3D3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Dimension</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F3D3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Wind</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F3D3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Implication</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F3D3E"/>
                    </a:solidFill>
                  </a:tcPr>
                </a:tc>
              </a:tr>
              <a:tr h="347472">
                <a:tc>
                  <a:txBody>
                    <a:bodyPr/>
                    <a:lstStyle/>
                    <a:p>
                      <a:pPr indent="0" marL="0">
                        <a:buNone/>
                      </a:pPr>
                      <a:r>
                        <a:rPr lang="en-US" sz="1050" b="1" dirty="0">
                          <a:solidFill>
                            <a:srgbClr val="1A1A1A"/>
                          </a:solidFill>
                          <a:latin typeface="Calibri" pitchFamily="34" charset="0"/>
                          <a:ea typeface="Calibri" pitchFamily="34" charset="-122"/>
                          <a:cs typeface="Calibri" pitchFamily="34" charset="-120"/>
                        </a:rPr>
                        <a:t>G1</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6C6"/>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Collect</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Email, Teams and phone updates are never added back to the request</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Process</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Headwind</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E2B8"/>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Change the workflow: material communication lives in the request thread (FR-16)</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r>
              <a:tr h="347472">
                <a:tc>
                  <a:txBody>
                    <a:bodyPr/>
                    <a:lstStyle/>
                    <a:p>
                      <a:pPr indent="0" marL="0">
                        <a:buNone/>
                      </a:pPr>
                      <a:r>
                        <a:rPr lang="en-US" sz="1050" b="1" dirty="0">
                          <a:solidFill>
                            <a:srgbClr val="1A1A1A"/>
                          </a:solidFill>
                          <a:latin typeface="Calibri" pitchFamily="34" charset="0"/>
                          <a:ea typeface="Calibri" pitchFamily="34" charset="-122"/>
                          <a:cs typeface="Calibri" pitchFamily="34" charset="-120"/>
                        </a:rPr>
                        <a:t>G2</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6C6"/>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Generate</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The client's decision on the proposal is not captured</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Data</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Headwind</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E2B8"/>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Phase it: add a decision record (FR-12) after testing</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r>
              <a:tr h="347472">
                <a:tc>
                  <a:txBody>
                    <a:bodyPr/>
                    <a:lstStyle/>
                    <a:p>
                      <a:pPr indent="0" marL="0">
                        <a:buNone/>
                      </a:pPr>
                      <a:r>
                        <a:rPr lang="en-US" sz="1050" b="1" dirty="0">
                          <a:solidFill>
                            <a:srgbClr val="1A1A1A"/>
                          </a:solidFill>
                          <a:latin typeface="Calibri" pitchFamily="34" charset="0"/>
                          <a:ea typeface="Calibri" pitchFamily="34" charset="-122"/>
                          <a:cs typeface="Calibri" pitchFamily="34" charset="-120"/>
                        </a:rPr>
                        <a:t>G3</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6C6"/>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Keep and Shape</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No agreed match key for duplicate requests</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Governance</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Headwind</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E2B8"/>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Change the workflow: coordinators define the rule (FR-22)</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r>
              <a:tr h="347472">
                <a:tc>
                  <a:txBody>
                    <a:bodyPr/>
                    <a:lstStyle/>
                    <a:p>
                      <a:pPr indent="0" marL="0">
                        <a:buNone/>
                      </a:pPr>
                      <a:r>
                        <a:rPr lang="en-US" sz="1050" b="1" dirty="0">
                          <a:solidFill>
                            <a:srgbClr val="1A1A1A"/>
                          </a:solidFill>
                          <a:latin typeface="Calibri" pitchFamily="34" charset="0"/>
                          <a:ea typeface="Calibri" pitchFamily="34" charset="-122"/>
                          <a:cs typeface="Calibri" pitchFamily="34" charset="-120"/>
                        </a:rPr>
                        <a:t>G4</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6C6"/>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Keep and Shape, Store</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No named owner for the cleaning rules or the record</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Organization</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Headwind</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E2B8"/>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Assign before Milestone 3; confirm with the client</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r>
              <a:tr h="347472">
                <a:tc>
                  <a:txBody>
                    <a:bodyPr/>
                    <a:lstStyle/>
                    <a:p>
                      <a:pPr indent="0" marL="0">
                        <a:buNone/>
                      </a:pPr>
                      <a:r>
                        <a:rPr lang="en-US" sz="1050" b="1" dirty="0">
                          <a:solidFill>
                            <a:srgbClr val="1A1A1A"/>
                          </a:solidFill>
                          <a:latin typeface="Calibri" pitchFamily="34" charset="0"/>
                          <a:ea typeface="Calibri" pitchFamily="34" charset="-122"/>
                          <a:cs typeface="Calibri" pitchFamily="34" charset="-120"/>
                        </a:rPr>
                        <a:t>G5</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6C6"/>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Collect</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Floor plans sit in another service, some out of date, not open to requesters</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Data, Governance</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Headwind</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E2B8"/>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Phase it: route plans through coordinators (to confirm)</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r>
              <a:tr h="347472">
                <a:tc>
                  <a:txBody>
                    <a:bodyPr/>
                    <a:lstStyle/>
                    <a:p>
                      <a:pPr indent="0" marL="0">
                        <a:buNone/>
                      </a:pPr>
                      <a:r>
                        <a:rPr lang="en-US" sz="1050" b="1" dirty="0">
                          <a:solidFill>
                            <a:srgbClr val="1A1A1A"/>
                          </a:solidFill>
                          <a:latin typeface="Calibri" pitchFamily="34" charset="0"/>
                          <a:ea typeface="Calibri" pitchFamily="34" charset="-122"/>
                          <a:cs typeface="Calibri" pitchFamily="34" charset="-120"/>
                        </a:rPr>
                        <a:t>G6</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6C6"/>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Use</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Vendor, warehouse and delivery progress is not entered by those parties</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Data</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Headwind</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E2B8"/>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Scope out integrations; budget coordinator time to record progress (FR-17)</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r>
              <a:tr h="347472">
                <a:tc>
                  <a:txBody>
                    <a:bodyPr/>
                    <a:lstStyle/>
                    <a:p>
                      <a:pPr indent="0" marL="0">
                        <a:buNone/>
                      </a:pPr>
                      <a:r>
                        <a:rPr lang="en-US" sz="1050" b="1" dirty="0">
                          <a:solidFill>
                            <a:srgbClr val="1A1A1A"/>
                          </a:solidFill>
                          <a:latin typeface="Calibri" pitchFamily="34" charset="0"/>
                          <a:ea typeface="Calibri" pitchFamily="34" charset="-122"/>
                          <a:cs typeface="Calibri" pitchFamily="34" charset="-120"/>
                        </a:rPr>
                        <a:t>G7</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6C6"/>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Store</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Retention period and warranty data availability are unknown</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Governance</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Headwind</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E2B8"/>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Budget for the records-schedule check; phase warranty capture</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r>
              <a:tr h="347472">
                <a:tc>
                  <a:txBody>
                    <a:bodyPr/>
                    <a:lstStyle/>
                    <a:p>
                      <a:pPr indent="0" marL="0">
                        <a:buNone/>
                      </a:pPr>
                      <a:r>
                        <a:rPr lang="en-US" sz="1050" b="1" dirty="0">
                          <a:solidFill>
                            <a:srgbClr val="1A1A1A"/>
                          </a:solidFill>
                          <a:latin typeface="Calibri" pitchFamily="34" charset="0"/>
                          <a:ea typeface="Calibri" pitchFamily="34" charset="-122"/>
                          <a:cs typeface="Calibri" pitchFamily="34" charset="-120"/>
                        </a:rPr>
                        <a:t>G8</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6C6"/>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Generate, Collect</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The handoff point between the two coordinator roles is unknown</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Organization</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Headwind</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E2B8"/>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Confirm with staff; show the owner at every stage</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r>
              <a:tr h="347472">
                <a:tc>
                  <a:txBody>
                    <a:bodyPr/>
                    <a:lstStyle/>
                    <a:p>
                      <a:pPr indent="0" marL="0">
                        <a:buNone/>
                      </a:pPr>
                      <a:r>
                        <a:rPr lang="en-US" sz="1050" b="1" dirty="0">
                          <a:solidFill>
                            <a:srgbClr val="1A1A1A"/>
                          </a:solidFill>
                          <a:latin typeface="Calibri" pitchFamily="34" charset="0"/>
                          <a:ea typeface="Calibri" pitchFamily="34" charset="-122"/>
                          <a:cs typeface="Calibri" pitchFamily="34" charset="-120"/>
                        </a:rPr>
                        <a:t>L1</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6DC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Collect</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The checklist is filled in outside the system and attached as a file; nothing validates it</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Process</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Tailwind</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DF0C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Change the workflow: checklist inside the form</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r>
              <a:tr h="347472">
                <a:tc>
                  <a:txBody>
                    <a:bodyPr/>
                    <a:lstStyle/>
                    <a:p>
                      <a:pPr indent="0" marL="0">
                        <a:buNone/>
                      </a:pPr>
                      <a:r>
                        <a:rPr lang="en-US" sz="1050" b="1" dirty="0">
                          <a:solidFill>
                            <a:srgbClr val="1A1A1A"/>
                          </a:solidFill>
                          <a:latin typeface="Calibri" pitchFamily="34" charset="0"/>
                          <a:ea typeface="Calibri" pitchFamily="34" charset="-122"/>
                          <a:cs typeface="Calibri" pitchFamily="34" charset="-120"/>
                        </a:rPr>
                        <a:t>L2</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6DC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Generate</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Facility data exists in PRISM Core but requesters re-key it</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Data</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Tailwind</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DF0C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Pre-fill from PRISM Core (NFR-09); the client can supply the data</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r>
              <a:tr h="347472">
                <a:tc>
                  <a:txBody>
                    <a:bodyPr/>
                    <a:lstStyle/>
                    <a:p>
                      <a:pPr indent="0" marL="0">
                        <a:buNone/>
                      </a:pPr>
                      <a:r>
                        <a:rPr lang="en-US" sz="1050" b="1" dirty="0">
                          <a:solidFill>
                            <a:srgbClr val="1A1A1A"/>
                          </a:solidFill>
                          <a:latin typeface="Calibri" pitchFamily="34" charset="0"/>
                          <a:ea typeface="Calibri" pitchFamily="34" charset="-122"/>
                          <a:cs typeface="Calibri" pitchFamily="34" charset="-120"/>
                        </a:rPr>
                        <a:t>L3</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6DC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Store</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WORTS records serve tracking and reporting only; the work happens elsewhere</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Organization</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Headwind</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E2B8"/>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One shared request record read by every consumer</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r>
              <a:tr h="347472">
                <a:tc>
                  <a:txBody>
                    <a:bodyPr/>
                    <a:lstStyle/>
                    <a:p>
                      <a:pPr indent="0" marL="0">
                        <a:buNone/>
                      </a:pPr>
                      <a:r>
                        <a:rPr lang="en-US" sz="1050" b="1" dirty="0">
                          <a:solidFill>
                            <a:srgbClr val="1A1A1A"/>
                          </a:solidFill>
                          <a:latin typeface="Calibri" pitchFamily="34" charset="0"/>
                          <a:ea typeface="Calibri" pitchFamily="34" charset="-122"/>
                          <a:cs typeface="Calibri" pitchFamily="34" charset="-120"/>
                        </a:rPr>
                        <a:t>L4</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6DC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Use</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Stage timings exist but nobody measures time in stage</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Process</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Tailwind</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DF0C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Measurement sink from release one</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r>
              <a:tr h="347472">
                <a:tc>
                  <a:txBody>
                    <a:bodyPr/>
                    <a:lstStyle/>
                    <a:p>
                      <a:pPr indent="0" marL="0">
                        <a:buNone/>
                      </a:pPr>
                      <a:r>
                        <a:rPr lang="en-US" sz="1050" b="1" dirty="0">
                          <a:solidFill>
                            <a:srgbClr val="1A1A1A"/>
                          </a:solidFill>
                          <a:latin typeface="Calibri" pitchFamily="34" charset="0"/>
                          <a:ea typeface="Calibri" pitchFamily="34" charset="-122"/>
                          <a:cs typeface="Calibri" pitchFamily="34" charset="-120"/>
                        </a:rPr>
                        <a:t>L5</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6DC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Use</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Recycled versus new decisions are not reported to the recycle program</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Data</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Tailwind</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DF0C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Business-value sink once G2 is closed</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r>
            </a:tbl>
          </a:graphicData>
        </a:graphic>
      </p:graphicFrame>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B7B"/>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74320"/>
            <a:ext cx="7315200" cy="320040"/>
          </a:xfrm>
          <a:prstGeom prst="rect">
            <a:avLst/>
          </a:prstGeom>
          <a:noFill/>
          <a:ln/>
        </p:spPr>
        <p:txBody>
          <a:bodyPr wrap="square" rtlCol="0" anchor="ctr"/>
          <a:lstStyle/>
          <a:p>
            <a:pPr indent="0" marL="0">
              <a:buNone/>
            </a:pPr>
            <a:r>
              <a:rPr lang="en-US" sz="1200" b="1" dirty="0">
                <a:solidFill>
                  <a:schemeClr val="accent2"/>
                </a:solidFill>
              </a:rPr>
              <a:t>IMPLICATIONS</a:t>
            </a:r>
            <a:endParaRPr lang="en-US" sz="1200" dirty="0"/>
          </a:p>
        </p:txBody>
      </p:sp>
      <p:sp>
        <p:nvSpPr>
          <p:cNvPr id="3" name="Text 1"/>
          <p:cNvSpPr txBox="1"/>
          <p:nvPr/>
        </p:nvSpPr>
        <p:spPr>
          <a:xfrm>
            <a:off x="548640" y="548640"/>
            <a:ext cx="10972800" cy="731520"/>
          </a:xfrm>
          <a:prstGeom prst="rect">
            <a:avLst/>
          </a:prstGeom>
          <a:noFill/>
          <a:ln/>
        </p:spPr>
        <p:txBody>
          <a:bodyPr wrap="square" rtlCol="0" anchor="ctr"/>
          <a:lstStyle/>
          <a:p>
            <a:pPr indent="0" marL="0">
              <a:buNone/>
            </a:pPr>
            <a:r>
              <a:rPr lang="en-US" sz="3200" b="1" dirty="0">
                <a:solidFill>
                  <a:schemeClr val="bg1"/>
                </a:solidFill>
                <a:latin typeface="Cambria" pitchFamily="34" charset="0"/>
                <a:ea typeface="Cambria" pitchFamily="34" charset="-122"/>
                <a:cs typeface="Cambria" pitchFamily="34" charset="-120"/>
              </a:rPr>
              <a:t>What this means for the PRD and Milestone 3</a:t>
            </a:r>
            <a:endParaRPr lang="en-US" sz="3200" dirty="0"/>
          </a:p>
        </p:txBody>
      </p:sp>
      <p:sp>
        <p:nvSpPr>
          <p:cNvPr id="4" name="Shape 2"/>
          <p:cNvSpPr/>
          <p:nvPr/>
        </p:nvSpPr>
        <p:spPr>
          <a:xfrm>
            <a:off x="548640" y="1463040"/>
            <a:ext cx="6400800" cy="4023360"/>
          </a:xfrm>
          <a:prstGeom prst="roundRect">
            <a:avLst>
              <a:gd name="adj" fmla="val 1818"/>
            </a:avLst>
          </a:prstGeom>
          <a:solidFill>
            <a:srgbClr val="1B6F6A"/>
          </a:solidFill>
          <a:ln/>
        </p:spPr>
      </p:sp>
      <p:sp>
        <p:nvSpPr>
          <p:cNvPr id="5" name="Text 3"/>
          <p:cNvSpPr txBox="1"/>
          <p:nvPr/>
        </p:nvSpPr>
        <p:spPr>
          <a:xfrm>
            <a:off x="731520" y="1554480"/>
            <a:ext cx="6035040" cy="45720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Requirements to carry into the PRD</a:t>
            </a:r>
            <a:endParaRPr lang="en-US" sz="1800" dirty="0"/>
          </a:p>
        </p:txBody>
      </p:sp>
      <p:sp>
        <p:nvSpPr>
          <p:cNvPr id="6" name="Text 4"/>
          <p:cNvSpPr txBox="1"/>
          <p:nvPr/>
        </p:nvSpPr>
        <p:spPr>
          <a:xfrm>
            <a:off x="731520" y="2057400"/>
            <a:ext cx="6035040" cy="3291840"/>
          </a:xfrm>
          <a:prstGeom prst="rect">
            <a:avLst/>
          </a:prstGeom>
          <a:noFill/>
          <a:ln/>
        </p:spPr>
        <p:txBody>
          <a:bodyPr wrap="square" rtlCol="0" anchor="t"/>
          <a:lstStyle/>
          <a:p>
            <a:pPr marL="342900" indent="-342900">
              <a:spcAft>
                <a:spcPts val="800"/>
              </a:spcAft>
              <a:buSzPct val="100000"/>
              <a:buFont typeface="+mj-lt"/>
              <a:buAutoNum type="arabicPeriod" startAt="1"/>
            </a:pPr>
            <a:r>
              <a:rPr lang="en-US" sz="1500" dirty="0">
                <a:solidFill>
                  <a:srgbClr val="FFFFFF"/>
                </a:solidFill>
              </a:rPr>
              <a:t>One request record keyed by Work Order ID, with an append-only history (keep the original)</a:t>
            </a:r>
            <a:endParaRPr lang="en-US" sz="1500" dirty="0"/>
          </a:p>
          <a:p>
            <a:pPr marL="342900" indent="-342900">
              <a:spcAft>
                <a:spcPts val="800"/>
              </a:spcAft>
              <a:buSzPct val="100000"/>
              <a:buFont typeface="+mj-lt"/>
              <a:buAutoNum type="arabicPeriod" startAt="1"/>
            </a:pPr>
            <a:r>
              <a:rPr lang="en-US" sz="1500" dirty="0">
                <a:solidFill>
                  <a:srgbClr val="FFFFFF"/>
                </a:solidFill>
              </a:rPr>
              <a:t>Reference data inherited from PRISM Core; admin-editable lists for ministries</a:t>
            </a:r>
            <a:endParaRPr lang="en-US" sz="1500" dirty="0"/>
          </a:p>
          <a:p>
            <a:pPr marL="342900" indent="-342900">
              <a:spcAft>
                <a:spcPts val="800"/>
              </a:spcAft>
              <a:buSzPct val="100000"/>
              <a:buFont typeface="+mj-lt"/>
              <a:buAutoNum type="arabicPeriod" startAt="1"/>
            </a:pPr>
            <a:r>
              <a:rPr lang="en-US" sz="1500" dirty="0">
                <a:solidFill>
                  <a:srgbClr val="FFFFFF"/>
                </a:solidFill>
              </a:rPr>
              <a:t>Role-based access on every view and report (FR-25, NFR-14 to NFR-16)</a:t>
            </a:r>
            <a:endParaRPr lang="en-US" sz="1500" dirty="0"/>
          </a:p>
          <a:p>
            <a:pPr marL="342900" indent="-342900">
              <a:spcAft>
                <a:spcPts val="800"/>
              </a:spcAft>
              <a:buSzPct val="100000"/>
              <a:buFont typeface="+mj-lt"/>
              <a:buAutoNum type="arabicPeriod" startAt="1"/>
            </a:pPr>
            <a:r>
              <a:rPr lang="en-US" sz="1500" dirty="0">
                <a:solidFill>
                  <a:srgbClr val="FFFFFF"/>
                </a:solidFill>
              </a:rPr>
              <a:t>Every stage change time-stamped and attributed; email notification on Action Required</a:t>
            </a:r>
            <a:endParaRPr lang="en-US" sz="1500" dirty="0"/>
          </a:p>
          <a:p>
            <a:pPr marL="342900" indent="-342900">
              <a:spcAft>
                <a:spcPts val="800"/>
              </a:spcAft>
              <a:buSzPct val="100000"/>
              <a:buFont typeface="+mj-lt"/>
              <a:buAutoNum type="arabicPeriod" startAt="1"/>
            </a:pPr>
            <a:r>
              <a:rPr lang="en-US" sz="1500" dirty="0">
                <a:solidFill>
                  <a:srgbClr val="FFFFFF"/>
                </a:solidFill>
              </a:rPr>
              <a:t>Aggregated reporting by location, status and period; retention per the records schedule</a:t>
            </a:r>
            <a:endParaRPr lang="en-US" sz="1500" dirty="0"/>
          </a:p>
        </p:txBody>
      </p:sp>
      <p:sp>
        <p:nvSpPr>
          <p:cNvPr id="7" name="Shape 5"/>
          <p:cNvSpPr/>
          <p:nvPr/>
        </p:nvSpPr>
        <p:spPr>
          <a:xfrm>
            <a:off x="7178040" y="1463040"/>
            <a:ext cx="4434840" cy="4023360"/>
          </a:xfrm>
          <a:prstGeom prst="roundRect">
            <a:avLst>
              <a:gd name="adj" fmla="val 1818"/>
            </a:avLst>
          </a:prstGeom>
          <a:solidFill>
            <a:srgbClr val="EEF4F3"/>
          </a:solidFill>
          <a:ln/>
        </p:spPr>
      </p:sp>
      <p:sp>
        <p:nvSpPr>
          <p:cNvPr id="8" name="Text 6"/>
          <p:cNvSpPr txBox="1"/>
          <p:nvPr/>
        </p:nvSpPr>
        <p:spPr>
          <a:xfrm>
            <a:off x="7360920" y="1554480"/>
            <a:ext cx="4069080" cy="457200"/>
          </a:xfrm>
          <a:prstGeom prst="rect">
            <a:avLst/>
          </a:prstGeom>
          <a:noFill/>
          <a:ln/>
        </p:spPr>
        <p:txBody>
          <a:bodyPr wrap="square" rtlCol="0" anchor="ctr"/>
          <a:lstStyle/>
          <a:p>
            <a:pPr indent="0" marL="0">
              <a:buNone/>
            </a:pPr>
            <a:r>
              <a:rPr lang="en-US" sz="1800" b="1" dirty="0">
                <a:solidFill>
                  <a:srgbClr val="1A1A1A"/>
                </a:solidFill>
                <a:latin typeface="Cambria" pitchFamily="34" charset="0"/>
                <a:ea typeface="Cambria" pitchFamily="34" charset="-122"/>
                <a:cs typeface="Cambria" pitchFamily="34" charset="-120"/>
              </a:rPr>
              <a:t>Open decisions before submission</a:t>
            </a:r>
            <a:endParaRPr lang="en-US" sz="1800" dirty="0"/>
          </a:p>
        </p:txBody>
      </p:sp>
      <p:sp>
        <p:nvSpPr>
          <p:cNvPr id="9" name="Text 7"/>
          <p:cNvSpPr txBox="1"/>
          <p:nvPr/>
        </p:nvSpPr>
        <p:spPr>
          <a:xfrm>
            <a:off x="7360920" y="2057400"/>
            <a:ext cx="4069080" cy="3291840"/>
          </a:xfrm>
          <a:prstGeom prst="rect">
            <a:avLst/>
          </a:prstGeom>
          <a:noFill/>
          <a:ln/>
        </p:spPr>
        <p:txBody>
          <a:bodyPr wrap="square" rtlCol="0" anchor="t"/>
          <a:lstStyle/>
          <a:p>
            <a:pPr marL="342900" indent="-342900">
              <a:spcAft>
                <a:spcPts val="800"/>
              </a:spcAft>
              <a:buSzPct val="100000"/>
              <a:buFont typeface="+mj-lt"/>
              <a:buAutoNum type="arabicPeriod" startAt="1"/>
            </a:pPr>
            <a:r>
              <a:rPr lang="en-US" sz="1500" dirty="0">
                <a:solidFill>
                  <a:srgbClr val="1A1A1A"/>
                </a:solidFill>
              </a:rPr>
              <a:t>Owners for Keep and Shape and for Store</a:t>
            </a:r>
            <a:endParaRPr lang="en-US" sz="1500" dirty="0"/>
          </a:p>
          <a:p>
            <a:pPr marL="342900" indent="-342900">
              <a:spcAft>
                <a:spcPts val="800"/>
              </a:spcAft>
              <a:buSzPct val="100000"/>
              <a:buFont typeface="+mj-lt"/>
              <a:buAutoNum type="arabicPeriod" startAt="1"/>
            </a:pPr>
            <a:r>
              <a:rPr lang="en-US" sz="1500" dirty="0">
                <a:solidFill>
                  <a:srgbClr val="1A1A1A"/>
                </a:solidFill>
              </a:rPr>
              <a:t>Duplicate match key</a:t>
            </a:r>
            <a:endParaRPr lang="en-US" sz="1500" dirty="0"/>
          </a:p>
          <a:p>
            <a:pPr marL="342900" indent="-342900">
              <a:spcAft>
                <a:spcPts val="800"/>
              </a:spcAft>
              <a:buSzPct val="100000"/>
              <a:buFont typeface="+mj-lt"/>
              <a:buAutoNum type="arabicPeriod" startAt="1"/>
            </a:pPr>
            <a:r>
              <a:rPr lang="en-US" sz="1500" dirty="0">
                <a:solidFill>
                  <a:srgbClr val="1A1A1A"/>
                </a:solidFill>
              </a:rPr>
              <a:t>Client decision: capture or record as a gap</a:t>
            </a:r>
            <a:endParaRPr lang="en-US" sz="1500" dirty="0"/>
          </a:p>
          <a:p>
            <a:pPr marL="342900" indent="-342900">
              <a:spcAft>
                <a:spcPts val="800"/>
              </a:spcAft>
              <a:buSzPct val="100000"/>
              <a:buFont typeface="+mj-lt"/>
              <a:buAutoNum type="arabicPeriod" startAt="1"/>
            </a:pPr>
            <a:r>
              <a:rPr lang="en-US" sz="1500" dirty="0">
                <a:solidFill>
                  <a:srgbClr val="1A1A1A"/>
                </a:solidFill>
              </a:rPr>
              <a:t>Retention period and floor-plan access</a:t>
            </a:r>
            <a:endParaRPr lang="en-US" sz="1500" dirty="0"/>
          </a:p>
          <a:p>
            <a:pPr marL="342900" indent="-342900">
              <a:spcAft>
                <a:spcPts val="800"/>
              </a:spcAft>
              <a:buSzPct val="100000"/>
              <a:buFont typeface="+mj-lt"/>
              <a:buAutoNum type="arabicPeriod" startAt="1"/>
            </a:pPr>
            <a:r>
              <a:rPr lang="en-US" sz="1500" dirty="0">
                <a:solidFill>
                  <a:srgbClr val="1A1A1A"/>
                </a:solidFill>
              </a:rPr>
              <a:t>Measurement wording checked against our DPO outcomes</a:t>
            </a:r>
            <a:endParaRPr lang="en-US" sz="1500" dirty="0"/>
          </a:p>
        </p:txBody>
      </p:sp>
      <p:sp>
        <p:nvSpPr>
          <p:cNvPr id="10" name="Text 8"/>
          <p:cNvSpPr txBox="1"/>
          <p:nvPr/>
        </p:nvSpPr>
        <p:spPr>
          <a:xfrm>
            <a:off x="548640" y="5669280"/>
            <a:ext cx="11064240" cy="548640"/>
          </a:xfrm>
          <a:prstGeom prst="rect">
            <a:avLst/>
          </a:prstGeom>
          <a:noFill/>
          <a:ln/>
        </p:spPr>
        <p:txBody>
          <a:bodyPr wrap="square" rtlCol="0" anchor="ctr"/>
          <a:lstStyle/>
          <a:p>
            <a:pPr indent="0" marL="0">
              <a:buNone/>
            </a:pPr>
            <a:r>
              <a:rPr lang="en-US" sz="1400" dirty="0">
                <a:solidFill>
                  <a:schemeClr val="bg2"/>
                </a:solidFill>
              </a:rPr>
              <a:t>Next: confirm the open decisions with the client, align the Miro board and this deck, check the link opens without a login, submit by 8 November 2026.</a:t>
            </a:r>
            <a:endParaRPr lang="en-US" sz="1400" dirty="0"/>
          </a:p>
        </p:txBody>
      </p:sp>
    </p:spTree>
  </p:cSld>
  <p:clrMapOvr>
    <a:masterClrMapping/>
  </p:clrMapOvr>
</p:sld>
</file>

<file path=ppt/theme/theme1.xml><?xml version="1.0" encoding="utf-8"?>
<a:theme xmlns:a="http://schemas.openxmlformats.org/drawingml/2006/main" name="Team DART Pipeline">
  <a:themeElements>
    <a:clrScheme name="Team DART Pipeline">
      <a:dk1>
        <a:srgbClr val="1A1A1A"/>
      </a:dk1>
      <a:lt1>
        <a:srgbClr val="FFFFFF"/>
      </a:lt1>
      <a:dk2>
        <a:srgbClr val="0F3D3E"/>
      </a:dk2>
      <a:lt2>
        <a:srgbClr val="EEF4F3"/>
      </a:lt2>
      <a:accent1>
        <a:srgbClr val="1B6F6A"/>
      </a:accent1>
      <a:accent2>
        <a:srgbClr val="E8A33D"/>
      </a:accent2>
      <a:accent3>
        <a:srgbClr val="C6DCFF"/>
      </a:accent3>
      <a:accent4>
        <a:srgbClr val="ADF0C7"/>
      </a:accent4>
      <a:accent5>
        <a:srgbClr val="FFC6C6"/>
      </a:accent5>
      <a:accent6>
        <a:srgbClr val="FFF6B6"/>
      </a:accent6>
      <a:hlink>
        <a:srgbClr val="1B6F6A"/>
      </a:hlink>
      <a:folHlink>
        <a:srgbClr val="0F3D3E"/>
      </a:folHlink>
    </a:clrScheme>
    <a:fontScheme name="Team DART Pipelin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PRISM Furniture Request: Data Pipeline</dc:title>
  <dc:subject>PptxGenJS Presentation</dc:subject>
  <dc:creator>Team DART</dc:creator>
  <cp:lastModifiedBy>Team DART</cp:lastModifiedBy>
  <cp:revision>1</cp:revision>
  <dcterms:created xsi:type="dcterms:W3CDTF">2026-10-25T16:41:35Z</dcterms:created>
  <dcterms:modified xsi:type="dcterms:W3CDTF">2026-10-25T16:41:35Z</dcterms:modified>
</cp:coreProperties>
</file>